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0"/>
  </p:notesMasterIdLst>
  <p:handoutMasterIdLst>
    <p:handoutMasterId r:id="rId31"/>
  </p:handoutMasterIdLst>
  <p:sldIdLst>
    <p:sldId id="405" r:id="rId2"/>
    <p:sldId id="457" r:id="rId3"/>
    <p:sldId id="458" r:id="rId4"/>
    <p:sldId id="459" r:id="rId5"/>
    <p:sldId id="460" r:id="rId6"/>
    <p:sldId id="461" r:id="rId7"/>
    <p:sldId id="462" r:id="rId8"/>
    <p:sldId id="463" r:id="rId9"/>
    <p:sldId id="464" r:id="rId10"/>
    <p:sldId id="465" r:id="rId11"/>
    <p:sldId id="466" r:id="rId12"/>
    <p:sldId id="468" r:id="rId13"/>
    <p:sldId id="467" r:id="rId14"/>
    <p:sldId id="473" r:id="rId15"/>
    <p:sldId id="474" r:id="rId16"/>
    <p:sldId id="475" r:id="rId17"/>
    <p:sldId id="476" r:id="rId18"/>
    <p:sldId id="472" r:id="rId19"/>
    <p:sldId id="478" r:id="rId20"/>
    <p:sldId id="469" r:id="rId21"/>
    <p:sldId id="477" r:id="rId22"/>
    <p:sldId id="470" r:id="rId23"/>
    <p:sldId id="479" r:id="rId24"/>
    <p:sldId id="480" r:id="rId25"/>
    <p:sldId id="481" r:id="rId26"/>
    <p:sldId id="482" r:id="rId27"/>
    <p:sldId id="483" r:id="rId28"/>
    <p:sldId id="484" r:id="rId29"/>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2883"/>
    <a:srgbClr val="FFFFFF"/>
    <a:srgbClr val="FFC000"/>
    <a:srgbClr val="A366A6"/>
    <a:srgbClr val="E0AA14"/>
    <a:srgbClr val="A8AF92"/>
    <a:srgbClr val="0B363C"/>
    <a:srgbClr val="E8D8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6371C-3AB7-4885-B497-F35D6D8CF3C1}" v="44" dt="2026-03-10T03:13:09.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p:restoredTop sz="94255" autoAdjust="0"/>
  </p:normalViewPr>
  <p:slideViewPr>
    <p:cSldViewPr snapToGrid="0" snapToObjects="1" showGuides="1">
      <p:cViewPr varScale="1">
        <p:scale>
          <a:sx n="86" d="100"/>
          <a:sy n="86" d="100"/>
        </p:scale>
        <p:origin x="666" y="90"/>
      </p:cViewPr>
      <p:guideLst>
        <p:guide orient="horz" pos="2160"/>
        <p:guide pos="3840"/>
      </p:guideLst>
    </p:cSldViewPr>
  </p:slideViewPr>
  <p:notesTextViewPr>
    <p:cViewPr>
      <p:scale>
        <a:sx n="75" d="100"/>
        <a:sy n="75" d="100"/>
      </p:scale>
      <p:origin x="0" y="0"/>
    </p:cViewPr>
  </p:notesTextViewPr>
  <p:notesViewPr>
    <p:cSldViewPr snapToGrid="0" snapToObjects="1">
      <p:cViewPr varScale="1">
        <p:scale>
          <a:sx n="70" d="100"/>
          <a:sy n="70" d="100"/>
        </p:scale>
        <p:origin x="2704"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OU, Zhongyuan" userId="00ada45e-1e99-4e11-93c5-409154dbb6d7" providerId="ADAL" clId="{52A8D12A-A155-4954-ADBB-7C4FEB7E7CA2}"/>
    <pc:docChg chg="undo custSel addSld delSld modSld sldOrd">
      <pc:chgData name="ZHOU, Zhongyuan" userId="00ada45e-1e99-4e11-93c5-409154dbb6d7" providerId="ADAL" clId="{52A8D12A-A155-4954-ADBB-7C4FEB7E7CA2}" dt="2026-03-10T03:14:36.461" v="417" actId="1076"/>
      <pc:docMkLst>
        <pc:docMk/>
      </pc:docMkLst>
      <pc:sldChg chg="add del">
        <pc:chgData name="ZHOU, Zhongyuan" userId="00ada45e-1e99-4e11-93c5-409154dbb6d7" providerId="ADAL" clId="{52A8D12A-A155-4954-ADBB-7C4FEB7E7CA2}" dt="2026-03-10T03:13:09.818" v="398"/>
        <pc:sldMkLst>
          <pc:docMk/>
          <pc:sldMk cId="0" sldId="405"/>
        </pc:sldMkLst>
      </pc:sldChg>
      <pc:sldChg chg="add del">
        <pc:chgData name="ZHOU, Zhongyuan" userId="00ada45e-1e99-4e11-93c5-409154dbb6d7" providerId="ADAL" clId="{52A8D12A-A155-4954-ADBB-7C4FEB7E7CA2}" dt="2026-03-10T03:13:09.818" v="398"/>
        <pc:sldMkLst>
          <pc:docMk/>
          <pc:sldMk cId="3697665570" sldId="457"/>
        </pc:sldMkLst>
      </pc:sldChg>
      <pc:sldChg chg="add del">
        <pc:chgData name="ZHOU, Zhongyuan" userId="00ada45e-1e99-4e11-93c5-409154dbb6d7" providerId="ADAL" clId="{52A8D12A-A155-4954-ADBB-7C4FEB7E7CA2}" dt="2026-03-10T03:13:09.818" v="398"/>
        <pc:sldMkLst>
          <pc:docMk/>
          <pc:sldMk cId="2546658280" sldId="458"/>
        </pc:sldMkLst>
      </pc:sldChg>
      <pc:sldChg chg="add del">
        <pc:chgData name="ZHOU, Zhongyuan" userId="00ada45e-1e99-4e11-93c5-409154dbb6d7" providerId="ADAL" clId="{52A8D12A-A155-4954-ADBB-7C4FEB7E7CA2}" dt="2026-03-10T03:13:09.818" v="398"/>
        <pc:sldMkLst>
          <pc:docMk/>
          <pc:sldMk cId="2880047729" sldId="459"/>
        </pc:sldMkLst>
      </pc:sldChg>
      <pc:sldChg chg="add del">
        <pc:chgData name="ZHOU, Zhongyuan" userId="00ada45e-1e99-4e11-93c5-409154dbb6d7" providerId="ADAL" clId="{52A8D12A-A155-4954-ADBB-7C4FEB7E7CA2}" dt="2026-03-10T03:13:09.818" v="398"/>
        <pc:sldMkLst>
          <pc:docMk/>
          <pc:sldMk cId="375974526" sldId="460"/>
        </pc:sldMkLst>
      </pc:sldChg>
      <pc:sldChg chg="add del">
        <pc:chgData name="ZHOU, Zhongyuan" userId="00ada45e-1e99-4e11-93c5-409154dbb6d7" providerId="ADAL" clId="{52A8D12A-A155-4954-ADBB-7C4FEB7E7CA2}" dt="2026-03-10T03:13:09.818" v="398"/>
        <pc:sldMkLst>
          <pc:docMk/>
          <pc:sldMk cId="3911013292" sldId="461"/>
        </pc:sldMkLst>
      </pc:sldChg>
      <pc:sldChg chg="add del">
        <pc:chgData name="ZHOU, Zhongyuan" userId="00ada45e-1e99-4e11-93c5-409154dbb6d7" providerId="ADAL" clId="{52A8D12A-A155-4954-ADBB-7C4FEB7E7CA2}" dt="2026-03-10T03:13:09.818" v="398"/>
        <pc:sldMkLst>
          <pc:docMk/>
          <pc:sldMk cId="816811388" sldId="462"/>
        </pc:sldMkLst>
      </pc:sldChg>
      <pc:sldChg chg="add del">
        <pc:chgData name="ZHOU, Zhongyuan" userId="00ada45e-1e99-4e11-93c5-409154dbb6d7" providerId="ADAL" clId="{52A8D12A-A155-4954-ADBB-7C4FEB7E7CA2}" dt="2026-03-10T03:13:09.818" v="398"/>
        <pc:sldMkLst>
          <pc:docMk/>
          <pc:sldMk cId="3819827780" sldId="463"/>
        </pc:sldMkLst>
      </pc:sldChg>
      <pc:sldChg chg="add del">
        <pc:chgData name="ZHOU, Zhongyuan" userId="00ada45e-1e99-4e11-93c5-409154dbb6d7" providerId="ADAL" clId="{52A8D12A-A155-4954-ADBB-7C4FEB7E7CA2}" dt="2026-03-10T03:13:09.818" v="398"/>
        <pc:sldMkLst>
          <pc:docMk/>
          <pc:sldMk cId="3710579011" sldId="464"/>
        </pc:sldMkLst>
      </pc:sldChg>
      <pc:sldChg chg="add del">
        <pc:chgData name="ZHOU, Zhongyuan" userId="00ada45e-1e99-4e11-93c5-409154dbb6d7" providerId="ADAL" clId="{52A8D12A-A155-4954-ADBB-7C4FEB7E7CA2}" dt="2026-03-10T03:13:09.818" v="398"/>
        <pc:sldMkLst>
          <pc:docMk/>
          <pc:sldMk cId="3522086123" sldId="465"/>
        </pc:sldMkLst>
      </pc:sldChg>
      <pc:sldChg chg="addSp delSp modSp mod">
        <pc:chgData name="ZHOU, Zhongyuan" userId="00ada45e-1e99-4e11-93c5-409154dbb6d7" providerId="ADAL" clId="{52A8D12A-A155-4954-ADBB-7C4FEB7E7CA2}" dt="2026-03-10T02:51:02.608" v="208" actId="1076"/>
        <pc:sldMkLst>
          <pc:docMk/>
          <pc:sldMk cId="2612132295" sldId="470"/>
        </pc:sldMkLst>
        <pc:spChg chg="add del mod">
          <ac:chgData name="ZHOU, Zhongyuan" userId="00ada45e-1e99-4e11-93c5-409154dbb6d7" providerId="ADAL" clId="{52A8D12A-A155-4954-ADBB-7C4FEB7E7CA2}" dt="2026-03-10T02:46:23.534" v="188" actId="478"/>
          <ac:spMkLst>
            <pc:docMk/>
            <pc:sldMk cId="2612132295" sldId="470"/>
            <ac:spMk id="3" creationId="{88BF7789-C171-9583-F48B-9B8101E6263D}"/>
          </ac:spMkLst>
        </pc:spChg>
        <pc:spChg chg="add del mod">
          <ac:chgData name="ZHOU, Zhongyuan" userId="00ada45e-1e99-4e11-93c5-409154dbb6d7" providerId="ADAL" clId="{52A8D12A-A155-4954-ADBB-7C4FEB7E7CA2}" dt="2026-03-10T02:46:21.654" v="187" actId="478"/>
          <ac:spMkLst>
            <pc:docMk/>
            <pc:sldMk cId="2612132295" sldId="470"/>
            <ac:spMk id="4" creationId="{353755AE-4F93-DDAB-681C-4E072A93C075}"/>
          </ac:spMkLst>
        </pc:spChg>
        <pc:spChg chg="mod">
          <ac:chgData name="ZHOU, Zhongyuan" userId="00ada45e-1e99-4e11-93c5-409154dbb6d7" providerId="ADAL" clId="{52A8D12A-A155-4954-ADBB-7C4FEB7E7CA2}" dt="2026-03-10T02:50:58.554" v="206" actId="1076"/>
          <ac:spMkLst>
            <pc:docMk/>
            <pc:sldMk cId="2612132295" sldId="470"/>
            <ac:spMk id="10" creationId="{63BCCAC0-C1CB-DAF1-D8CB-1932AC4FE796}"/>
          </ac:spMkLst>
        </pc:spChg>
        <pc:spChg chg="add mod">
          <ac:chgData name="ZHOU, Zhongyuan" userId="00ada45e-1e99-4e11-93c5-409154dbb6d7" providerId="ADAL" clId="{52A8D12A-A155-4954-ADBB-7C4FEB7E7CA2}" dt="2026-03-10T02:46:46.833" v="193" actId="1076"/>
          <ac:spMkLst>
            <pc:docMk/>
            <pc:sldMk cId="2612132295" sldId="470"/>
            <ac:spMk id="14" creationId="{860BE261-5AEF-EABC-44A0-325629F6734A}"/>
          </ac:spMkLst>
        </pc:spChg>
        <pc:picChg chg="add del mod">
          <ac:chgData name="ZHOU, Zhongyuan" userId="00ada45e-1e99-4e11-93c5-409154dbb6d7" providerId="ADAL" clId="{52A8D12A-A155-4954-ADBB-7C4FEB7E7CA2}" dt="2026-03-10T02:46:20.213" v="185" actId="478"/>
          <ac:picMkLst>
            <pc:docMk/>
            <pc:sldMk cId="2612132295" sldId="470"/>
            <ac:picMk id="2" creationId="{C5A8959F-D5DF-50AA-3C05-2E61DE8831B9}"/>
          </ac:picMkLst>
        </pc:picChg>
        <pc:picChg chg="add del mod">
          <ac:chgData name="ZHOU, Zhongyuan" userId="00ada45e-1e99-4e11-93c5-409154dbb6d7" providerId="ADAL" clId="{52A8D12A-A155-4954-ADBB-7C4FEB7E7CA2}" dt="2026-03-10T02:46:20.937" v="186" actId="478"/>
          <ac:picMkLst>
            <pc:docMk/>
            <pc:sldMk cId="2612132295" sldId="470"/>
            <ac:picMk id="11" creationId="{E73C935D-BBA4-2847-0896-36A88BBD3509}"/>
          </ac:picMkLst>
        </pc:picChg>
        <pc:picChg chg="add mod">
          <ac:chgData name="ZHOU, Zhongyuan" userId="00ada45e-1e99-4e11-93c5-409154dbb6d7" providerId="ADAL" clId="{52A8D12A-A155-4954-ADBB-7C4FEB7E7CA2}" dt="2026-03-10T02:51:02.608" v="208" actId="1076"/>
          <ac:picMkLst>
            <pc:docMk/>
            <pc:sldMk cId="2612132295" sldId="470"/>
            <ac:picMk id="13" creationId="{966E2362-80AB-F724-A84A-60765CF72F25}"/>
          </ac:picMkLst>
        </pc:picChg>
      </pc:sldChg>
      <pc:sldChg chg="addSp delSp modSp del mod">
        <pc:chgData name="ZHOU, Zhongyuan" userId="00ada45e-1e99-4e11-93c5-409154dbb6d7" providerId="ADAL" clId="{52A8D12A-A155-4954-ADBB-7C4FEB7E7CA2}" dt="2026-03-10T02:18:15.717" v="8" actId="47"/>
        <pc:sldMkLst>
          <pc:docMk/>
          <pc:sldMk cId="3820182112" sldId="471"/>
        </pc:sldMkLst>
        <pc:spChg chg="add del mod">
          <ac:chgData name="ZHOU, Zhongyuan" userId="00ada45e-1e99-4e11-93c5-409154dbb6d7" providerId="ADAL" clId="{52A8D12A-A155-4954-ADBB-7C4FEB7E7CA2}" dt="2026-03-10T02:18:09.558" v="7" actId="478"/>
          <ac:spMkLst>
            <pc:docMk/>
            <pc:sldMk cId="3820182112" sldId="471"/>
            <ac:spMk id="17" creationId="{8CF45383-CDB4-EAF4-B6F1-DF6E8A3F2D55}"/>
          </ac:spMkLst>
        </pc:spChg>
      </pc:sldChg>
      <pc:sldChg chg="addSp modSp add mod">
        <pc:chgData name="ZHOU, Zhongyuan" userId="00ada45e-1e99-4e11-93c5-409154dbb6d7" providerId="ADAL" clId="{52A8D12A-A155-4954-ADBB-7C4FEB7E7CA2}" dt="2026-03-10T02:18:56.521" v="23" actId="1076"/>
        <pc:sldMkLst>
          <pc:docMk/>
          <pc:sldMk cId="1853506317" sldId="473"/>
        </pc:sldMkLst>
        <pc:spChg chg="add mod">
          <ac:chgData name="ZHOU, Zhongyuan" userId="00ada45e-1e99-4e11-93c5-409154dbb6d7" providerId="ADAL" clId="{52A8D12A-A155-4954-ADBB-7C4FEB7E7CA2}" dt="2026-03-10T02:18:56.521" v="23" actId="1076"/>
          <ac:spMkLst>
            <pc:docMk/>
            <pc:sldMk cId="1853506317" sldId="473"/>
            <ac:spMk id="3" creationId="{F4AE4EC0-5B85-E788-1A85-03F0015C8B85}"/>
          </ac:spMkLst>
        </pc:spChg>
        <pc:picChg chg="mod">
          <ac:chgData name="ZHOU, Zhongyuan" userId="00ada45e-1e99-4e11-93c5-409154dbb6d7" providerId="ADAL" clId="{52A8D12A-A155-4954-ADBB-7C4FEB7E7CA2}" dt="2026-03-10T02:18:33.304" v="17" actId="1076"/>
          <ac:picMkLst>
            <pc:docMk/>
            <pc:sldMk cId="1853506317" sldId="473"/>
            <ac:picMk id="16" creationId="{CB4C668D-9E4D-3285-E739-10FE8020691C}"/>
          </ac:picMkLst>
        </pc:picChg>
      </pc:sldChg>
      <pc:sldChg chg="addSp delSp modSp new mod">
        <pc:chgData name="ZHOU, Zhongyuan" userId="00ada45e-1e99-4e11-93c5-409154dbb6d7" providerId="ADAL" clId="{52A8D12A-A155-4954-ADBB-7C4FEB7E7CA2}" dt="2026-03-10T03:13:29.222" v="400" actId="1076"/>
        <pc:sldMkLst>
          <pc:docMk/>
          <pc:sldMk cId="2230383004" sldId="474"/>
        </pc:sldMkLst>
        <pc:spChg chg="del">
          <ac:chgData name="ZHOU, Zhongyuan" userId="00ada45e-1e99-4e11-93c5-409154dbb6d7" providerId="ADAL" clId="{52A8D12A-A155-4954-ADBB-7C4FEB7E7CA2}" dt="2026-03-10T02:20:17.108" v="25" actId="478"/>
          <ac:spMkLst>
            <pc:docMk/>
            <pc:sldMk cId="2230383004" sldId="474"/>
            <ac:spMk id="2" creationId="{14D85E47-63E0-F5EA-7225-439025A61BC0}"/>
          </ac:spMkLst>
        </pc:spChg>
        <pc:spChg chg="mod">
          <ac:chgData name="ZHOU, Zhongyuan" userId="00ada45e-1e99-4e11-93c5-409154dbb6d7" providerId="ADAL" clId="{52A8D12A-A155-4954-ADBB-7C4FEB7E7CA2}" dt="2026-03-10T03:13:29.222" v="400" actId="1076"/>
          <ac:spMkLst>
            <pc:docMk/>
            <pc:sldMk cId="2230383004" sldId="474"/>
            <ac:spMk id="3" creationId="{7AE315DF-4552-339A-3E7C-840113D538D6}"/>
          </ac:spMkLst>
        </pc:spChg>
        <pc:spChg chg="del mod">
          <ac:chgData name="ZHOU, Zhongyuan" userId="00ada45e-1e99-4e11-93c5-409154dbb6d7" providerId="ADAL" clId="{52A8D12A-A155-4954-ADBB-7C4FEB7E7CA2}" dt="2026-03-10T02:20:58.139" v="44" actId="478"/>
          <ac:spMkLst>
            <pc:docMk/>
            <pc:sldMk cId="2230383004" sldId="474"/>
            <ac:spMk id="4" creationId="{6D5635A7-615D-538A-B285-CDAC02731FC5}"/>
          </ac:spMkLst>
        </pc:spChg>
        <pc:spChg chg="add mod">
          <ac:chgData name="ZHOU, Zhongyuan" userId="00ada45e-1e99-4e11-93c5-409154dbb6d7" providerId="ADAL" clId="{52A8D12A-A155-4954-ADBB-7C4FEB7E7CA2}" dt="2026-03-10T02:24:05.826" v="74" actId="1076"/>
          <ac:spMkLst>
            <pc:docMk/>
            <pc:sldMk cId="2230383004" sldId="474"/>
            <ac:spMk id="6" creationId="{7E30EADF-00CA-7D6F-09DF-5858EBFCBD7E}"/>
          </ac:spMkLst>
        </pc:spChg>
      </pc:sldChg>
      <pc:sldChg chg="modSp add mod">
        <pc:chgData name="ZHOU, Zhongyuan" userId="00ada45e-1e99-4e11-93c5-409154dbb6d7" providerId="ADAL" clId="{52A8D12A-A155-4954-ADBB-7C4FEB7E7CA2}" dt="2026-03-10T03:13:47.454" v="404" actId="1076"/>
        <pc:sldMkLst>
          <pc:docMk/>
          <pc:sldMk cId="4261736130" sldId="475"/>
        </pc:sldMkLst>
        <pc:spChg chg="mod">
          <ac:chgData name="ZHOU, Zhongyuan" userId="00ada45e-1e99-4e11-93c5-409154dbb6d7" providerId="ADAL" clId="{52A8D12A-A155-4954-ADBB-7C4FEB7E7CA2}" dt="2026-03-10T03:13:47.454" v="404" actId="1076"/>
          <ac:spMkLst>
            <pc:docMk/>
            <pc:sldMk cId="4261736130" sldId="475"/>
            <ac:spMk id="3" creationId="{97C7973F-9407-CE4C-F109-8CA988B3ADA0}"/>
          </ac:spMkLst>
        </pc:spChg>
        <pc:spChg chg="mod">
          <ac:chgData name="ZHOU, Zhongyuan" userId="00ada45e-1e99-4e11-93c5-409154dbb6d7" providerId="ADAL" clId="{52A8D12A-A155-4954-ADBB-7C4FEB7E7CA2}" dt="2026-03-10T02:26:17.519" v="91" actId="20577"/>
          <ac:spMkLst>
            <pc:docMk/>
            <pc:sldMk cId="4261736130" sldId="475"/>
            <ac:spMk id="6" creationId="{EF05DC6A-CA2D-F8FD-6820-8431F5AFBEA0}"/>
          </ac:spMkLst>
        </pc:spChg>
      </pc:sldChg>
      <pc:sldChg chg="modSp add mod">
        <pc:chgData name="ZHOU, Zhongyuan" userId="00ada45e-1e99-4e11-93c5-409154dbb6d7" providerId="ADAL" clId="{52A8D12A-A155-4954-ADBB-7C4FEB7E7CA2}" dt="2026-03-10T03:13:55.111" v="405" actId="255"/>
        <pc:sldMkLst>
          <pc:docMk/>
          <pc:sldMk cId="1428714228" sldId="476"/>
        </pc:sldMkLst>
        <pc:spChg chg="mod">
          <ac:chgData name="ZHOU, Zhongyuan" userId="00ada45e-1e99-4e11-93c5-409154dbb6d7" providerId="ADAL" clId="{52A8D12A-A155-4954-ADBB-7C4FEB7E7CA2}" dt="2026-03-10T03:13:55.111" v="405" actId="255"/>
          <ac:spMkLst>
            <pc:docMk/>
            <pc:sldMk cId="1428714228" sldId="476"/>
            <ac:spMk id="3" creationId="{4A4DCFA8-8D15-CD87-C9D1-607207F7B8B1}"/>
          </ac:spMkLst>
        </pc:spChg>
        <pc:spChg chg="mod">
          <ac:chgData name="ZHOU, Zhongyuan" userId="00ada45e-1e99-4e11-93c5-409154dbb6d7" providerId="ADAL" clId="{52A8D12A-A155-4954-ADBB-7C4FEB7E7CA2}" dt="2026-03-10T02:27:06.422" v="98" actId="20577"/>
          <ac:spMkLst>
            <pc:docMk/>
            <pc:sldMk cId="1428714228" sldId="476"/>
            <ac:spMk id="6" creationId="{DAD96040-6FDB-EE9D-0A05-23AF8601246A}"/>
          </ac:spMkLst>
        </pc:spChg>
      </pc:sldChg>
      <pc:sldChg chg="addSp delSp modSp add mod">
        <pc:chgData name="ZHOU, Zhongyuan" userId="00ada45e-1e99-4e11-93c5-409154dbb6d7" providerId="ADAL" clId="{52A8D12A-A155-4954-ADBB-7C4FEB7E7CA2}" dt="2026-03-10T02:32:23.179" v="139"/>
        <pc:sldMkLst>
          <pc:docMk/>
          <pc:sldMk cId="3736907706" sldId="477"/>
        </pc:sldMkLst>
        <pc:spChg chg="del">
          <ac:chgData name="ZHOU, Zhongyuan" userId="00ada45e-1e99-4e11-93c5-409154dbb6d7" providerId="ADAL" clId="{52A8D12A-A155-4954-ADBB-7C4FEB7E7CA2}" dt="2026-03-10T02:31:06.695" v="101" actId="478"/>
          <ac:spMkLst>
            <pc:docMk/>
            <pc:sldMk cId="3736907706" sldId="477"/>
            <ac:spMk id="10" creationId="{D19592DB-1623-ED8B-891D-6ECE6E910FFD}"/>
          </ac:spMkLst>
        </pc:spChg>
        <pc:spChg chg="add mod">
          <ac:chgData name="ZHOU, Zhongyuan" userId="00ada45e-1e99-4e11-93c5-409154dbb6d7" providerId="ADAL" clId="{52A8D12A-A155-4954-ADBB-7C4FEB7E7CA2}" dt="2026-03-10T02:31:38.497" v="122" actId="1076"/>
          <ac:spMkLst>
            <pc:docMk/>
            <pc:sldMk cId="3736907706" sldId="477"/>
            <ac:spMk id="11" creationId="{BD6F7E69-77FC-BD32-A4FC-59E699CEB268}"/>
          </ac:spMkLst>
        </pc:spChg>
        <pc:spChg chg="del">
          <ac:chgData name="ZHOU, Zhongyuan" userId="00ada45e-1e99-4e11-93c5-409154dbb6d7" providerId="ADAL" clId="{52A8D12A-A155-4954-ADBB-7C4FEB7E7CA2}" dt="2026-03-10T02:31:06.695" v="101" actId="478"/>
          <ac:spMkLst>
            <pc:docMk/>
            <pc:sldMk cId="3736907706" sldId="477"/>
            <ac:spMk id="12" creationId="{A1C9B17B-0FD4-F754-0E24-FAB14BF4ACAC}"/>
          </ac:spMkLst>
        </pc:spChg>
        <pc:spChg chg="add mod">
          <ac:chgData name="ZHOU, Zhongyuan" userId="00ada45e-1e99-4e11-93c5-409154dbb6d7" providerId="ADAL" clId="{52A8D12A-A155-4954-ADBB-7C4FEB7E7CA2}" dt="2026-03-10T02:32:23.179" v="139"/>
          <ac:spMkLst>
            <pc:docMk/>
            <pc:sldMk cId="3736907706" sldId="477"/>
            <ac:spMk id="16" creationId="{019292F9-E82E-0B74-8B6B-B0CF7C1D93CF}"/>
          </ac:spMkLst>
        </pc:spChg>
        <pc:spChg chg="del">
          <ac:chgData name="ZHOU, Zhongyuan" userId="00ada45e-1e99-4e11-93c5-409154dbb6d7" providerId="ADAL" clId="{52A8D12A-A155-4954-ADBB-7C4FEB7E7CA2}" dt="2026-03-10T02:31:06.695" v="101" actId="478"/>
          <ac:spMkLst>
            <pc:docMk/>
            <pc:sldMk cId="3736907706" sldId="477"/>
            <ac:spMk id="19" creationId="{3F2E77A1-E21C-FC12-2CE8-63F434B35251}"/>
          </ac:spMkLst>
        </pc:spChg>
        <pc:picChg chg="del">
          <ac:chgData name="ZHOU, Zhongyuan" userId="00ada45e-1e99-4e11-93c5-409154dbb6d7" providerId="ADAL" clId="{52A8D12A-A155-4954-ADBB-7C4FEB7E7CA2}" dt="2026-03-10T02:31:06.695" v="101" actId="478"/>
          <ac:picMkLst>
            <pc:docMk/>
            <pc:sldMk cId="3736907706" sldId="477"/>
            <ac:picMk id="3" creationId="{98BE3F2B-D564-1F49-A3B8-1A90051C0230}"/>
          </ac:picMkLst>
        </pc:picChg>
        <pc:picChg chg="add mod">
          <ac:chgData name="ZHOU, Zhongyuan" userId="00ada45e-1e99-4e11-93c5-409154dbb6d7" providerId="ADAL" clId="{52A8D12A-A155-4954-ADBB-7C4FEB7E7CA2}" dt="2026-03-10T02:31:17.392" v="108" actId="1076"/>
          <ac:picMkLst>
            <pc:docMk/>
            <pc:sldMk cId="3736907706" sldId="477"/>
            <ac:picMk id="4" creationId="{08775E8F-E951-DD9A-3179-2B52B50D2204}"/>
          </ac:picMkLst>
        </pc:picChg>
        <pc:picChg chg="del">
          <ac:chgData name="ZHOU, Zhongyuan" userId="00ada45e-1e99-4e11-93c5-409154dbb6d7" providerId="ADAL" clId="{52A8D12A-A155-4954-ADBB-7C4FEB7E7CA2}" dt="2026-03-10T02:31:03.514" v="100" actId="478"/>
          <ac:picMkLst>
            <pc:docMk/>
            <pc:sldMk cId="3736907706" sldId="477"/>
            <ac:picMk id="5" creationId="{C9A72390-14FB-26B7-3DCE-31FEF7706684}"/>
          </ac:picMkLst>
        </pc:picChg>
        <pc:picChg chg="add mod">
          <ac:chgData name="ZHOU, Zhongyuan" userId="00ada45e-1e99-4e11-93c5-409154dbb6d7" providerId="ADAL" clId="{52A8D12A-A155-4954-ADBB-7C4FEB7E7CA2}" dt="2026-03-10T02:32:06.732" v="125" actId="1076"/>
          <ac:picMkLst>
            <pc:docMk/>
            <pc:sldMk cId="3736907706" sldId="477"/>
            <ac:picMk id="14" creationId="{01F6C054-7AE1-D760-E1C4-3D56437F9A31}"/>
          </ac:picMkLst>
        </pc:picChg>
        <pc:cxnChg chg="del">
          <ac:chgData name="ZHOU, Zhongyuan" userId="00ada45e-1e99-4e11-93c5-409154dbb6d7" providerId="ADAL" clId="{52A8D12A-A155-4954-ADBB-7C4FEB7E7CA2}" dt="2026-03-10T02:31:06.695" v="101" actId="478"/>
          <ac:cxnSpMkLst>
            <pc:docMk/>
            <pc:sldMk cId="3736907706" sldId="477"/>
            <ac:cxnSpMk id="15" creationId="{420C45B3-3FB3-D06A-E05C-20A285B73400}"/>
          </ac:cxnSpMkLst>
        </pc:cxnChg>
        <pc:cxnChg chg="del mod">
          <ac:chgData name="ZHOU, Zhongyuan" userId="00ada45e-1e99-4e11-93c5-409154dbb6d7" providerId="ADAL" clId="{52A8D12A-A155-4954-ADBB-7C4FEB7E7CA2}" dt="2026-03-10T02:31:06.695" v="101" actId="478"/>
          <ac:cxnSpMkLst>
            <pc:docMk/>
            <pc:sldMk cId="3736907706" sldId="477"/>
            <ac:cxnSpMk id="20" creationId="{87D54361-85FE-800A-56D7-19EFD0F041CC}"/>
          </ac:cxnSpMkLst>
        </pc:cxnChg>
      </pc:sldChg>
      <pc:sldChg chg="addSp delSp modSp add mod ord modNotesTx">
        <pc:chgData name="ZHOU, Zhongyuan" userId="00ada45e-1e99-4e11-93c5-409154dbb6d7" providerId="ADAL" clId="{52A8D12A-A155-4954-ADBB-7C4FEB7E7CA2}" dt="2026-03-10T02:49:52.720" v="204" actId="20577"/>
        <pc:sldMkLst>
          <pc:docMk/>
          <pc:sldMk cId="3573938904" sldId="478"/>
        </pc:sldMkLst>
        <pc:spChg chg="del">
          <ac:chgData name="ZHOU, Zhongyuan" userId="00ada45e-1e99-4e11-93c5-409154dbb6d7" providerId="ADAL" clId="{52A8D12A-A155-4954-ADBB-7C4FEB7E7CA2}" dt="2026-03-10T02:41:49.270" v="152" actId="478"/>
          <ac:spMkLst>
            <pc:docMk/>
            <pc:sldMk cId="3573938904" sldId="478"/>
            <ac:spMk id="3" creationId="{78FDF683-7F38-C4FA-1749-8A63B9584940}"/>
          </ac:spMkLst>
        </pc:spChg>
        <pc:spChg chg="add mod">
          <ac:chgData name="ZHOU, Zhongyuan" userId="00ada45e-1e99-4e11-93c5-409154dbb6d7" providerId="ADAL" clId="{52A8D12A-A155-4954-ADBB-7C4FEB7E7CA2}" dt="2026-03-10T02:42:37.446" v="161" actId="1076"/>
          <ac:spMkLst>
            <pc:docMk/>
            <pc:sldMk cId="3573938904" sldId="478"/>
            <ac:spMk id="5" creationId="{945E41B9-FDCD-F535-D4AD-30120D95C22F}"/>
          </ac:spMkLst>
        </pc:spChg>
        <pc:grpChg chg="del">
          <ac:chgData name="ZHOU, Zhongyuan" userId="00ada45e-1e99-4e11-93c5-409154dbb6d7" providerId="ADAL" clId="{52A8D12A-A155-4954-ADBB-7C4FEB7E7CA2}" dt="2026-03-10T02:41:42.060" v="151" actId="478"/>
          <ac:grpSpMkLst>
            <pc:docMk/>
            <pc:sldMk cId="3573938904" sldId="478"/>
            <ac:grpSpMk id="18" creationId="{6C70987B-2B03-BBB0-B63A-0132FCA48B16}"/>
          </ac:grpSpMkLst>
        </pc:grpChg>
        <pc:grpChg chg="del">
          <ac:chgData name="ZHOU, Zhongyuan" userId="00ada45e-1e99-4e11-93c5-409154dbb6d7" providerId="ADAL" clId="{52A8D12A-A155-4954-ADBB-7C4FEB7E7CA2}" dt="2026-03-10T02:41:42.060" v="151" actId="478"/>
          <ac:grpSpMkLst>
            <pc:docMk/>
            <pc:sldMk cId="3573938904" sldId="478"/>
            <ac:grpSpMk id="19" creationId="{29B8F17B-CBDA-EA58-ABA1-DB93A0A024A2}"/>
          </ac:grpSpMkLst>
        </pc:grpChg>
        <pc:grpChg chg="del">
          <ac:chgData name="ZHOU, Zhongyuan" userId="00ada45e-1e99-4e11-93c5-409154dbb6d7" providerId="ADAL" clId="{52A8D12A-A155-4954-ADBB-7C4FEB7E7CA2}" dt="2026-03-10T02:41:42.060" v="151" actId="478"/>
          <ac:grpSpMkLst>
            <pc:docMk/>
            <pc:sldMk cId="3573938904" sldId="478"/>
            <ac:grpSpMk id="23" creationId="{D146D374-B4D9-E313-3C2D-CBC21D353691}"/>
          </ac:grpSpMkLst>
        </pc:grpChg>
        <pc:grpChg chg="del">
          <ac:chgData name="ZHOU, Zhongyuan" userId="00ada45e-1e99-4e11-93c5-409154dbb6d7" providerId="ADAL" clId="{52A8D12A-A155-4954-ADBB-7C4FEB7E7CA2}" dt="2026-03-10T02:41:42.060" v="151" actId="478"/>
          <ac:grpSpMkLst>
            <pc:docMk/>
            <pc:sldMk cId="3573938904" sldId="478"/>
            <ac:grpSpMk id="26" creationId="{8201C757-C74A-F3EC-5AAB-A2BE076EF559}"/>
          </ac:grpSpMkLst>
        </pc:grpChg>
        <pc:picChg chg="add mod">
          <ac:chgData name="ZHOU, Zhongyuan" userId="00ada45e-1e99-4e11-93c5-409154dbb6d7" providerId="ADAL" clId="{52A8D12A-A155-4954-ADBB-7C4FEB7E7CA2}" dt="2026-03-10T02:42:33.457" v="160" actId="1076"/>
          <ac:picMkLst>
            <pc:docMk/>
            <pc:sldMk cId="3573938904" sldId="478"/>
            <ac:picMk id="4" creationId="{C16B7D6D-D806-6CCA-BA59-3B43DA215EE3}"/>
          </ac:picMkLst>
        </pc:picChg>
        <pc:picChg chg="del">
          <ac:chgData name="ZHOU, Zhongyuan" userId="00ada45e-1e99-4e11-93c5-409154dbb6d7" providerId="ADAL" clId="{52A8D12A-A155-4954-ADBB-7C4FEB7E7CA2}" dt="2026-03-10T02:41:42.060" v="151" actId="478"/>
          <ac:picMkLst>
            <pc:docMk/>
            <pc:sldMk cId="3573938904" sldId="478"/>
            <ac:picMk id="11" creationId="{7BF780EE-2B67-F6D8-2980-D96CB29CCFE8}"/>
          </ac:picMkLst>
        </pc:picChg>
      </pc:sldChg>
      <pc:sldChg chg="delSp modSp add mod">
        <pc:chgData name="ZHOU, Zhongyuan" userId="00ada45e-1e99-4e11-93c5-409154dbb6d7" providerId="ADAL" clId="{52A8D12A-A155-4954-ADBB-7C4FEB7E7CA2}" dt="2026-03-10T02:46:15.402" v="184" actId="1076"/>
        <pc:sldMkLst>
          <pc:docMk/>
          <pc:sldMk cId="3103366295" sldId="479"/>
        </pc:sldMkLst>
        <pc:spChg chg="del">
          <ac:chgData name="ZHOU, Zhongyuan" userId="00ada45e-1e99-4e11-93c5-409154dbb6d7" providerId="ADAL" clId="{52A8D12A-A155-4954-ADBB-7C4FEB7E7CA2}" dt="2026-03-10T02:46:06.190" v="178" actId="478"/>
          <ac:spMkLst>
            <pc:docMk/>
            <pc:sldMk cId="3103366295" sldId="479"/>
            <ac:spMk id="10" creationId="{DBB9DCDD-32C6-EC87-3728-15A8F41D2D9C}"/>
          </ac:spMkLst>
        </pc:spChg>
        <pc:picChg chg="mod">
          <ac:chgData name="ZHOU, Zhongyuan" userId="00ada45e-1e99-4e11-93c5-409154dbb6d7" providerId="ADAL" clId="{52A8D12A-A155-4954-ADBB-7C4FEB7E7CA2}" dt="2026-03-10T02:46:14.150" v="183" actId="1076"/>
          <ac:picMkLst>
            <pc:docMk/>
            <pc:sldMk cId="3103366295" sldId="479"/>
            <ac:picMk id="2" creationId="{2DED802D-EE8C-22D4-4D00-0DF038609D44}"/>
          </ac:picMkLst>
        </pc:picChg>
        <pc:picChg chg="mod">
          <ac:chgData name="ZHOU, Zhongyuan" userId="00ada45e-1e99-4e11-93c5-409154dbb6d7" providerId="ADAL" clId="{52A8D12A-A155-4954-ADBB-7C4FEB7E7CA2}" dt="2026-03-10T02:46:15.402" v="184" actId="1076"/>
          <ac:picMkLst>
            <pc:docMk/>
            <pc:sldMk cId="3103366295" sldId="479"/>
            <ac:picMk id="11" creationId="{4B4D4E82-7A83-D9B5-98FF-2C8D3C50FC5B}"/>
          </ac:picMkLst>
        </pc:picChg>
        <pc:picChg chg="del">
          <ac:chgData name="ZHOU, Zhongyuan" userId="00ada45e-1e99-4e11-93c5-409154dbb6d7" providerId="ADAL" clId="{52A8D12A-A155-4954-ADBB-7C4FEB7E7CA2}" dt="2026-03-10T02:45:55.439" v="175" actId="478"/>
          <ac:picMkLst>
            <pc:docMk/>
            <pc:sldMk cId="3103366295" sldId="479"/>
            <ac:picMk id="13" creationId="{6EA1F6AD-EC45-EBEC-6ECB-5D40BACFABEC}"/>
          </ac:picMkLst>
        </pc:picChg>
      </pc:sldChg>
      <pc:sldChg chg="addSp delSp modSp add mod modNotesTx">
        <pc:chgData name="ZHOU, Zhongyuan" userId="00ada45e-1e99-4e11-93c5-409154dbb6d7" providerId="ADAL" clId="{52A8D12A-A155-4954-ADBB-7C4FEB7E7CA2}" dt="2026-03-10T02:56:26.315" v="256" actId="20577"/>
        <pc:sldMkLst>
          <pc:docMk/>
          <pc:sldMk cId="1741032828" sldId="480"/>
        </pc:sldMkLst>
        <pc:spChg chg="del">
          <ac:chgData name="ZHOU, Zhongyuan" userId="00ada45e-1e99-4e11-93c5-409154dbb6d7" providerId="ADAL" clId="{52A8D12A-A155-4954-ADBB-7C4FEB7E7CA2}" dt="2026-03-10T02:52:07.704" v="211" actId="478"/>
          <ac:spMkLst>
            <pc:docMk/>
            <pc:sldMk cId="1741032828" sldId="480"/>
            <ac:spMk id="3" creationId="{4B44EEC1-DFE7-4923-C88C-F64C16ABF275}"/>
          </ac:spMkLst>
        </pc:spChg>
        <pc:spChg chg="del">
          <ac:chgData name="ZHOU, Zhongyuan" userId="00ada45e-1e99-4e11-93c5-409154dbb6d7" providerId="ADAL" clId="{52A8D12A-A155-4954-ADBB-7C4FEB7E7CA2}" dt="2026-03-10T02:52:09.290" v="212" actId="478"/>
          <ac:spMkLst>
            <pc:docMk/>
            <pc:sldMk cId="1741032828" sldId="480"/>
            <ac:spMk id="4" creationId="{464B0BF3-8680-DB1F-6757-390AC4476D0C}"/>
          </ac:spMkLst>
        </pc:spChg>
        <pc:spChg chg="mod">
          <ac:chgData name="ZHOU, Zhongyuan" userId="00ada45e-1e99-4e11-93c5-409154dbb6d7" providerId="ADAL" clId="{52A8D12A-A155-4954-ADBB-7C4FEB7E7CA2}" dt="2026-03-10T02:47:49.174" v="195"/>
          <ac:spMkLst>
            <pc:docMk/>
            <pc:sldMk cId="1741032828" sldId="480"/>
            <ac:spMk id="9" creationId="{48C15955-7F9E-B7F6-E372-FCAE1C7E8856}"/>
          </ac:spMkLst>
        </pc:spChg>
        <pc:spChg chg="add mod">
          <ac:chgData name="ZHOU, Zhongyuan" userId="00ada45e-1e99-4e11-93c5-409154dbb6d7" providerId="ADAL" clId="{52A8D12A-A155-4954-ADBB-7C4FEB7E7CA2}" dt="2026-03-10T02:56:15.049" v="243" actId="20577"/>
          <ac:spMkLst>
            <pc:docMk/>
            <pc:sldMk cId="1741032828" sldId="480"/>
            <ac:spMk id="10" creationId="{B0CEEAC4-1416-5638-A3F7-6CFB13D22085}"/>
          </ac:spMkLst>
        </pc:spChg>
        <pc:picChg chg="del">
          <ac:chgData name="ZHOU, Zhongyuan" userId="00ada45e-1e99-4e11-93c5-409154dbb6d7" providerId="ADAL" clId="{52A8D12A-A155-4954-ADBB-7C4FEB7E7CA2}" dt="2026-03-10T02:52:06.156" v="209" actId="478"/>
          <ac:picMkLst>
            <pc:docMk/>
            <pc:sldMk cId="1741032828" sldId="480"/>
            <ac:picMk id="2" creationId="{3CBBE748-CB42-EE0D-502E-D995AF332081}"/>
          </ac:picMkLst>
        </pc:picChg>
        <pc:picChg chg="del">
          <ac:chgData name="ZHOU, Zhongyuan" userId="00ada45e-1e99-4e11-93c5-409154dbb6d7" providerId="ADAL" clId="{52A8D12A-A155-4954-ADBB-7C4FEB7E7CA2}" dt="2026-03-10T02:52:06.669" v="210" actId="478"/>
          <ac:picMkLst>
            <pc:docMk/>
            <pc:sldMk cId="1741032828" sldId="480"/>
            <ac:picMk id="11" creationId="{4C017B9D-B1FA-6425-475E-3BBB63A8C563}"/>
          </ac:picMkLst>
        </pc:picChg>
        <pc:picChg chg="add mod">
          <ac:chgData name="ZHOU, Zhongyuan" userId="00ada45e-1e99-4e11-93c5-409154dbb6d7" providerId="ADAL" clId="{52A8D12A-A155-4954-ADBB-7C4FEB7E7CA2}" dt="2026-03-10T02:54:39.894" v="219" actId="1076"/>
          <ac:picMkLst>
            <pc:docMk/>
            <pc:sldMk cId="1741032828" sldId="480"/>
            <ac:picMk id="13" creationId="{31264FF7-EB32-0819-C7F4-FA1F2CD32A71}"/>
          </ac:picMkLst>
        </pc:picChg>
      </pc:sldChg>
      <pc:sldChg chg="addSp delSp modSp add mod modNotesTx">
        <pc:chgData name="ZHOU, Zhongyuan" userId="00ada45e-1e99-4e11-93c5-409154dbb6d7" providerId="ADAL" clId="{52A8D12A-A155-4954-ADBB-7C4FEB7E7CA2}" dt="2026-03-10T02:59:22.513" v="280" actId="20577"/>
        <pc:sldMkLst>
          <pc:docMk/>
          <pc:sldMk cId="2337944650" sldId="481"/>
        </pc:sldMkLst>
        <pc:spChg chg="mod">
          <ac:chgData name="ZHOU, Zhongyuan" userId="00ada45e-1e99-4e11-93c5-409154dbb6d7" providerId="ADAL" clId="{52A8D12A-A155-4954-ADBB-7C4FEB7E7CA2}" dt="2026-03-10T02:58:15.197" v="276" actId="20577"/>
          <ac:spMkLst>
            <pc:docMk/>
            <pc:sldMk cId="2337944650" sldId="481"/>
            <ac:spMk id="10" creationId="{2451FE62-E445-7443-1632-009E9256AF8C}"/>
          </ac:spMkLst>
        </pc:spChg>
        <pc:picChg chg="add mod">
          <ac:chgData name="ZHOU, Zhongyuan" userId="00ada45e-1e99-4e11-93c5-409154dbb6d7" providerId="ADAL" clId="{52A8D12A-A155-4954-ADBB-7C4FEB7E7CA2}" dt="2026-03-10T02:58:10.151" v="274" actId="1076"/>
          <ac:picMkLst>
            <pc:docMk/>
            <pc:sldMk cId="2337944650" sldId="481"/>
            <ac:picMk id="3" creationId="{EFEB4E0F-1800-06E5-2B0D-FED639E19787}"/>
          </ac:picMkLst>
        </pc:picChg>
        <pc:picChg chg="del">
          <ac:chgData name="ZHOU, Zhongyuan" userId="00ada45e-1e99-4e11-93c5-409154dbb6d7" providerId="ADAL" clId="{52A8D12A-A155-4954-ADBB-7C4FEB7E7CA2}" dt="2026-03-10T02:57:34.435" v="268" actId="478"/>
          <ac:picMkLst>
            <pc:docMk/>
            <pc:sldMk cId="2337944650" sldId="481"/>
            <ac:picMk id="13" creationId="{2F7868C0-7E8F-F657-1D4F-D7EA9068D57B}"/>
          </ac:picMkLst>
        </pc:picChg>
      </pc:sldChg>
      <pc:sldChg chg="addSp delSp modSp add mod">
        <pc:chgData name="ZHOU, Zhongyuan" userId="00ada45e-1e99-4e11-93c5-409154dbb6d7" providerId="ADAL" clId="{52A8D12A-A155-4954-ADBB-7C4FEB7E7CA2}" dt="2026-03-10T03:01:48.495" v="298" actId="1076"/>
        <pc:sldMkLst>
          <pc:docMk/>
          <pc:sldMk cId="3012147268" sldId="482"/>
        </pc:sldMkLst>
        <pc:spChg chg="mod">
          <ac:chgData name="ZHOU, Zhongyuan" userId="00ada45e-1e99-4e11-93c5-409154dbb6d7" providerId="ADAL" clId="{52A8D12A-A155-4954-ADBB-7C4FEB7E7CA2}" dt="2026-03-10T03:00:23.065" v="295" actId="20577"/>
          <ac:spMkLst>
            <pc:docMk/>
            <pc:sldMk cId="3012147268" sldId="482"/>
            <ac:spMk id="10" creationId="{F294CE80-8C5C-EEFD-0D54-A9FD8388EF21}"/>
          </ac:spMkLst>
        </pc:spChg>
        <pc:picChg chg="del">
          <ac:chgData name="ZHOU, Zhongyuan" userId="00ada45e-1e99-4e11-93c5-409154dbb6d7" providerId="ADAL" clId="{52A8D12A-A155-4954-ADBB-7C4FEB7E7CA2}" dt="2026-03-10T03:01:45.428" v="296" actId="478"/>
          <ac:picMkLst>
            <pc:docMk/>
            <pc:sldMk cId="3012147268" sldId="482"/>
            <ac:picMk id="3" creationId="{FC43D1D6-7C1E-61F2-80BD-06AC1539D945}"/>
          </ac:picMkLst>
        </pc:picChg>
        <pc:picChg chg="add mod">
          <ac:chgData name="ZHOU, Zhongyuan" userId="00ada45e-1e99-4e11-93c5-409154dbb6d7" providerId="ADAL" clId="{52A8D12A-A155-4954-ADBB-7C4FEB7E7CA2}" dt="2026-03-10T03:01:48.495" v="298" actId="1076"/>
          <ac:picMkLst>
            <pc:docMk/>
            <pc:sldMk cId="3012147268" sldId="482"/>
            <ac:picMk id="4" creationId="{9FEE6CE0-7048-493E-8F0A-231526FDD3CC}"/>
          </ac:picMkLst>
        </pc:picChg>
      </pc:sldChg>
      <pc:sldChg chg="delSp modSp add mod">
        <pc:chgData name="ZHOU, Zhongyuan" userId="00ada45e-1e99-4e11-93c5-409154dbb6d7" providerId="ADAL" clId="{52A8D12A-A155-4954-ADBB-7C4FEB7E7CA2}" dt="2026-03-10T03:12:26.535" v="396" actId="20577"/>
        <pc:sldMkLst>
          <pc:docMk/>
          <pc:sldMk cId="3617505959" sldId="483"/>
        </pc:sldMkLst>
        <pc:spChg chg="mod">
          <ac:chgData name="ZHOU, Zhongyuan" userId="00ada45e-1e99-4e11-93c5-409154dbb6d7" providerId="ADAL" clId="{52A8D12A-A155-4954-ADBB-7C4FEB7E7CA2}" dt="2026-03-10T03:05:05.736" v="300"/>
          <ac:spMkLst>
            <pc:docMk/>
            <pc:sldMk cId="3617505959" sldId="483"/>
            <ac:spMk id="9" creationId="{23765D6C-5AE1-9AA8-E576-05BDF186E2F5}"/>
          </ac:spMkLst>
        </pc:spChg>
        <pc:spChg chg="mod">
          <ac:chgData name="ZHOU, Zhongyuan" userId="00ada45e-1e99-4e11-93c5-409154dbb6d7" providerId="ADAL" clId="{52A8D12A-A155-4954-ADBB-7C4FEB7E7CA2}" dt="2026-03-10T03:12:26.535" v="396" actId="20577"/>
          <ac:spMkLst>
            <pc:docMk/>
            <pc:sldMk cId="3617505959" sldId="483"/>
            <ac:spMk id="10" creationId="{82B1909A-DB7A-16FF-1453-09DB753B1ABE}"/>
          </ac:spMkLst>
        </pc:spChg>
        <pc:picChg chg="del">
          <ac:chgData name="ZHOU, Zhongyuan" userId="00ada45e-1e99-4e11-93c5-409154dbb6d7" providerId="ADAL" clId="{52A8D12A-A155-4954-ADBB-7C4FEB7E7CA2}" dt="2026-03-10T03:05:41.502" v="304" actId="478"/>
          <ac:picMkLst>
            <pc:docMk/>
            <pc:sldMk cId="3617505959" sldId="483"/>
            <ac:picMk id="4" creationId="{E4652E71-FF66-E2C5-AE58-FFDBA03B7DE8}"/>
          </ac:picMkLst>
        </pc:picChg>
      </pc:sldChg>
      <pc:sldChg chg="delSp modSp new mod">
        <pc:chgData name="ZHOU, Zhongyuan" userId="00ada45e-1e99-4e11-93c5-409154dbb6d7" providerId="ADAL" clId="{52A8D12A-A155-4954-ADBB-7C4FEB7E7CA2}" dt="2026-03-10T03:14:36.461" v="417" actId="1076"/>
        <pc:sldMkLst>
          <pc:docMk/>
          <pc:sldMk cId="1455267878" sldId="484"/>
        </pc:sldMkLst>
        <pc:spChg chg="del">
          <ac:chgData name="ZHOU, Zhongyuan" userId="00ada45e-1e99-4e11-93c5-409154dbb6d7" providerId="ADAL" clId="{52A8D12A-A155-4954-ADBB-7C4FEB7E7CA2}" dt="2026-03-10T03:14:24.867" v="407" actId="478"/>
          <ac:spMkLst>
            <pc:docMk/>
            <pc:sldMk cId="1455267878" sldId="484"/>
            <ac:spMk id="2" creationId="{221C8B66-1B85-6183-9B58-CAE1F333F9DD}"/>
          </ac:spMkLst>
        </pc:spChg>
        <pc:spChg chg="mod">
          <ac:chgData name="ZHOU, Zhongyuan" userId="00ada45e-1e99-4e11-93c5-409154dbb6d7" providerId="ADAL" clId="{52A8D12A-A155-4954-ADBB-7C4FEB7E7CA2}" dt="2026-03-10T03:14:36.461" v="417" actId="1076"/>
          <ac:spMkLst>
            <pc:docMk/>
            <pc:sldMk cId="1455267878" sldId="484"/>
            <ac:spMk id="3" creationId="{0A3FDB20-9CED-5DFE-2135-16E7C095CDF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a:latin typeface="Arial" panose="020B0604020202020204" pitchFamily="34" charset="0"/>
              </a:rPr>
              <a:t>Section Title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A956E6-DBA4-2D4D-82F3-A54A057A4EF1}" type="datetimeFigureOut">
              <a:rPr lang="en-US" smtClean="0">
                <a:latin typeface="Arial" panose="020B0604020202020204" pitchFamily="34" charset="0"/>
              </a:rPr>
              <a:t>3/10/2026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8952BF-BC6D-304D-ACAC-567210DA5175}"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r>
              <a:rPr lang="en-US" dirty="0"/>
              <a:t>Section Title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D8EAEAB9-7A83-364D-94AA-52AC3068E616}" type="datetimeFigureOut">
              <a:rPr lang="en-US" smtClean="0"/>
              <a:t>3/10/2026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2491FB97-2301-DE4F-BA70-D7EFFA7946DF}" type="slidenum">
              <a:rPr lang="en-US" smtClean="0"/>
              <a:t>‹#›</a:t>
            </a:fld>
            <a:endParaRPr lang="en-US" dirty="0"/>
          </a:p>
        </p:txBody>
      </p:sp>
    </p:spTree>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A1D2E-E095-DB71-E102-C8B673F347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5C39F8-263E-6577-E663-183FA39ED0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E4D579-A6AC-4519-AB26-0A4E02A7A29A}"/>
              </a:ext>
            </a:extLst>
          </p:cNvPr>
          <p:cNvSpPr>
            <a:spLocks noGrp="1"/>
          </p:cNvSpPr>
          <p:nvPr>
            <p:ph type="body" idx="1"/>
          </p:nvPr>
        </p:nvSpPr>
        <p:spPr/>
        <p:txBody>
          <a:bodyPr/>
          <a:lstStyle/>
          <a:p>
            <a:r>
              <a:rPr lang="en-US" altLang="zh-CN" sz="1050" dirty="0"/>
              <a:t>First, let me briefly introduce the background of this study.</a:t>
            </a:r>
          </a:p>
          <a:p>
            <a:r>
              <a:rPr lang="en-US" altLang="zh-CN" sz="1050" dirty="0"/>
              <a:t>With the rapid growth of </a:t>
            </a:r>
            <a:r>
              <a:rPr lang="en-US" altLang="zh-CN" sz="1050" b="1" dirty="0"/>
              <a:t>livestream shopping</a:t>
            </a:r>
            <a:r>
              <a:rPr lang="en-US" altLang="zh-CN" sz="1050" dirty="0"/>
              <a:t>, firms increasingly rely on </a:t>
            </a:r>
            <a:r>
              <a:rPr lang="en-US" altLang="zh-CN" sz="1050" b="1" dirty="0"/>
              <a:t>dynamic and personalized pricing strategies</a:t>
            </a:r>
            <a:r>
              <a:rPr lang="en-US" altLang="zh-CN" sz="1050" dirty="0"/>
              <a:t> to influence consumer purchases</a:t>
            </a:r>
          </a:p>
          <a:p>
            <a:endParaRPr lang="en-US" altLang="zh-CN" sz="1050" dirty="0"/>
          </a:p>
          <a:p>
            <a:r>
              <a:rPr lang="en-US" altLang="zh-CN" sz="1050" dirty="0"/>
              <a:t>For companies, </a:t>
            </a:r>
            <a:r>
              <a:rPr lang="en-US" altLang="zh-CN" sz="1050" b="1" dirty="0"/>
              <a:t>dynamic and personalized pricing</a:t>
            </a:r>
            <a:r>
              <a:rPr lang="en-US" altLang="zh-CN" sz="1050" dirty="0"/>
              <a:t> can improve market efficiency, because firms can better match promotional offers with consumers who are more likely to respond.</a:t>
            </a:r>
          </a:p>
          <a:p>
            <a:endParaRPr lang="en-US" altLang="zh-CN" sz="1050" dirty="0"/>
          </a:p>
          <a:p>
            <a:r>
              <a:rPr lang="en-US" altLang="zh-CN" sz="1050" dirty="0"/>
              <a:t>However, directly charging different prices to different consumers may raise concerns about </a:t>
            </a:r>
            <a:r>
              <a:rPr lang="en-US" altLang="zh-CN" sz="1050" b="1" dirty="0"/>
              <a:t>fairness and trust</a:t>
            </a:r>
            <a:r>
              <a:rPr lang="en-US" altLang="zh-CN" sz="1050" dirty="0"/>
              <a:t>. To avoid this issue, many platforms adopt </a:t>
            </a:r>
            <a:r>
              <a:rPr lang="en-US" altLang="zh-CN" sz="1050" b="1" dirty="0"/>
              <a:t>personalized coupons</a:t>
            </a:r>
            <a:r>
              <a:rPr lang="en-US" altLang="zh-CN" sz="1050" dirty="0"/>
              <a:t> instead of price discrimination. In other words, consumers may receive different coupons, but the listed product price remains the same.</a:t>
            </a:r>
          </a:p>
          <a:p>
            <a:endParaRPr lang="en-US" altLang="zh-CN" sz="1050" dirty="0"/>
          </a:p>
          <a:p>
            <a:r>
              <a:rPr lang="en-US" altLang="zh-CN" sz="1050" dirty="0"/>
              <a:t>The use of digital coupons has been growing very rapidly. For example, the total value of digital coupons increased from about </a:t>
            </a:r>
            <a:r>
              <a:rPr lang="en-US" altLang="zh-CN" sz="1050" b="1" dirty="0"/>
              <a:t>47 billion dollars in 2017 to 91 billion dollars in 2022</a:t>
            </a:r>
            <a:r>
              <a:rPr lang="en-US" altLang="zh-CN" sz="1050" dirty="0"/>
              <a:t>.</a:t>
            </a:r>
          </a:p>
          <a:p>
            <a:endParaRPr lang="en-US" altLang="zh-CN" sz="1050" dirty="0"/>
          </a:p>
          <a:p>
            <a:r>
              <a:rPr lang="en-US" altLang="zh-CN" sz="1050" dirty="0"/>
              <a:t>So this paper studies how an e-platform can </a:t>
            </a:r>
            <a:r>
              <a:rPr lang="en-US" altLang="zh-CN" sz="1050" b="1" dirty="0"/>
              <a:t>dynamically target coupons to consumers</a:t>
            </a:r>
            <a:r>
              <a:rPr lang="en-US" altLang="zh-CN" sz="1050" dirty="0"/>
              <a:t> in the context of livestream shopping, using a </a:t>
            </a:r>
            <a:r>
              <a:rPr lang="en-US" altLang="zh-CN" sz="1050" b="1" dirty="0"/>
              <a:t>batch deep reinforcement learning approach</a:t>
            </a:r>
            <a:r>
              <a:rPr lang="en-US" altLang="zh-CN" sz="1050" dirty="0"/>
              <a:t>.</a:t>
            </a:r>
          </a:p>
          <a:p>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A93F844F-1A44-CD13-A435-367AB62F94FF}"/>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7338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148D-1919-A4B9-A241-75329559E6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F60890-C7EC-5234-77EE-33D3C204A8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ABBF4A-7EEC-574D-A3EC-B15BB16A2288}"/>
              </a:ext>
            </a:extLst>
          </p:cNvPr>
          <p:cNvSpPr>
            <a:spLocks noGrp="1"/>
          </p:cNvSpPr>
          <p:nvPr>
            <p:ph type="body" idx="1"/>
          </p:nvPr>
        </p:nvSpPr>
        <p:spPr/>
        <p:txBody>
          <a:bodyPr/>
          <a:lstStyle/>
          <a:p>
            <a:r>
              <a:rPr lang="en-US" altLang="zh-CN" sz="1050" dirty="0"/>
              <a:t>Basically, how can we design a model that decides which coupon to send while considering both current and future revenue.</a:t>
            </a:r>
            <a:br>
              <a:rPr lang="en-US" altLang="zh-CN" sz="1050" dirty="0"/>
            </a:br>
            <a:r>
              <a:rPr lang="en-US" altLang="zh-CN" sz="1050" dirty="0"/>
              <a:t>The second question is how to evaluate whether a dynamic coupon targeting policy actually performs well.</a:t>
            </a:r>
          </a:p>
          <a:p>
            <a:r>
              <a:rPr lang="en-US" altLang="zh-CN" sz="1050" dirty="0"/>
              <a:t>The third question is whether dynamic targeting actually generates better outcomes compared with a simple static strategy</a:t>
            </a:r>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390840A1-0272-6702-B05B-0B25049E6C6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29749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DD75-E18A-B35C-EE6F-0241883DD7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0C0BF4-9E28-7A3C-FD7E-F849F6742F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BAB9F2-ECF9-19EF-873C-5DFB5CEFA19A}"/>
              </a:ext>
            </a:extLst>
          </p:cNvPr>
          <p:cNvSpPr>
            <a:spLocks noGrp="1"/>
          </p:cNvSpPr>
          <p:nvPr>
            <p:ph type="body" idx="1"/>
          </p:nvPr>
        </p:nvSpPr>
        <p:spPr/>
        <p:txBody>
          <a:bodyPr/>
          <a:lstStyle/>
          <a:p>
            <a:r>
              <a:rPr lang="en-US" altLang="zh-CN" sz="1050" dirty="0"/>
              <a:t>To design effective </a:t>
            </a:r>
            <a:r>
              <a:rPr lang="en-US" altLang="zh-CN" sz="1050" b="1" dirty="0"/>
              <a:t>dynamic coupon strategies</a:t>
            </a:r>
            <a:r>
              <a:rPr lang="en-US" altLang="zh-CN" sz="1050" dirty="0"/>
              <a:t>, the paper draws on insights from the </a:t>
            </a:r>
            <a:r>
              <a:rPr lang="en-US" altLang="zh-CN" sz="1050" b="1" dirty="0"/>
              <a:t>dynamic pricing literature</a:t>
            </a:r>
            <a:r>
              <a:rPr lang="en-US" altLang="zh-CN" sz="1050" dirty="0"/>
              <a:t>, which highlights three key behavioral effects.</a:t>
            </a:r>
          </a:p>
          <a:p>
            <a:r>
              <a:rPr lang="en-US" altLang="zh-CN" sz="1050" dirty="0"/>
              <a:t>The first is the </a:t>
            </a:r>
            <a:r>
              <a:rPr lang="en-US" altLang="zh-CN" sz="1050" b="1" dirty="0"/>
              <a:t>reference price effect</a:t>
            </a:r>
            <a:r>
              <a:rPr lang="en-US" altLang="zh-CN" sz="1050" dirty="0"/>
              <a:t>. Consumers form price expectations based on past promotions. So if discounts increase over time, consumers may perceive later discounts as more attractive.</a:t>
            </a:r>
          </a:p>
          <a:p>
            <a:r>
              <a:rPr lang="en-US" altLang="zh-CN" sz="1050" dirty="0"/>
              <a:t>The second is </a:t>
            </a:r>
            <a:r>
              <a:rPr lang="en-US" altLang="zh-CN" sz="1050" b="1" dirty="0"/>
              <a:t>loyalty or inertia</a:t>
            </a:r>
            <a:r>
              <a:rPr lang="en-US" altLang="zh-CN" sz="1050" dirty="0"/>
              <a:t>. After making a purchase, consumers may be more likely to buy again from the same platform. In this case, firms might use </a:t>
            </a:r>
            <a:r>
              <a:rPr lang="en-US" altLang="zh-CN" sz="1050" b="1" dirty="0"/>
              <a:t>high discounts initially</a:t>
            </a:r>
            <a:r>
              <a:rPr lang="en-US" altLang="zh-CN" sz="1050" dirty="0"/>
              <a:t> to attract customers and then </a:t>
            </a:r>
            <a:r>
              <a:rPr lang="en-US" altLang="zh-CN" sz="1050" b="1" dirty="0"/>
              <a:t>reduce the discounts later</a:t>
            </a:r>
            <a:r>
              <a:rPr lang="en-US" altLang="zh-CN" sz="1050" dirty="0"/>
              <a:t>.</a:t>
            </a:r>
          </a:p>
          <a:p>
            <a:r>
              <a:rPr lang="en-US" altLang="zh-CN" sz="1050" dirty="0"/>
              <a:t>The third is </a:t>
            </a:r>
            <a:r>
              <a:rPr lang="en-US" altLang="zh-CN" sz="1050" b="1" dirty="0"/>
              <a:t>variety-seeking</a:t>
            </a:r>
            <a:r>
              <a:rPr lang="en-US" altLang="zh-CN" sz="1050" dirty="0"/>
              <a:t>. After purchasing, consumers may want to try different products, so changing discounts may not be necessary. A </a:t>
            </a:r>
            <a:r>
              <a:rPr lang="en-US" altLang="zh-CN" sz="1050" b="1" dirty="0"/>
              <a:t>stable and relatively low discount strategy</a:t>
            </a:r>
            <a:r>
              <a:rPr lang="en-US" altLang="zh-CN" sz="1050" dirty="0"/>
              <a:t> could be sufficient.</a:t>
            </a:r>
          </a:p>
          <a:p>
            <a:br>
              <a:rPr lang="en-US" altLang="zh-CN" sz="1050" b="0" i="0" dirty="0">
                <a:solidFill>
                  <a:srgbClr val="000000"/>
                </a:solidFill>
                <a:effectLst/>
                <a:latin typeface="Segoe"/>
              </a:rPr>
            </a:br>
            <a:r>
              <a:rPr lang="en-US" altLang="zh-CN" sz="1050" dirty="0"/>
              <a:t>Traditional </a:t>
            </a:r>
            <a:r>
              <a:rPr lang="en-US" altLang="zh-CN" sz="1050" b="1" dirty="0"/>
              <a:t>structural models</a:t>
            </a:r>
            <a:r>
              <a:rPr lang="en-US" altLang="zh-CN" sz="1050" dirty="0"/>
              <a:t> try to predict consumer behavior using parametric assumptions about preferences. These models can be flexible and interpretable, but they may suffer from </a:t>
            </a:r>
            <a:r>
              <a:rPr lang="en-US" altLang="zh-CN" sz="1050" b="1" dirty="0"/>
              <a:t>model misspecification</a:t>
            </a:r>
            <a:r>
              <a:rPr lang="en-US" altLang="zh-CN" sz="1050" dirty="0"/>
              <a:t> if the assumptions are wrong.</a:t>
            </a:r>
          </a:p>
          <a:p>
            <a:r>
              <a:rPr lang="en-US" altLang="zh-CN" sz="1050" dirty="0"/>
              <a:t>In contrast, </a:t>
            </a:r>
            <a:r>
              <a:rPr lang="en-US" altLang="zh-CN" sz="1050" b="1" dirty="0"/>
              <a:t>reinforcement learning</a:t>
            </a:r>
            <a:r>
              <a:rPr lang="en-US" altLang="zh-CN" sz="1050" dirty="0"/>
              <a:t> takes a more data-driven approach. Instead of specifying the behavioral model directly, it </a:t>
            </a:r>
            <a:r>
              <a:rPr lang="en-US" altLang="zh-CN" sz="1050" b="1" dirty="0"/>
              <a:t>learns the optimal coupon policy from data</a:t>
            </a:r>
            <a:r>
              <a:rPr lang="en-US" altLang="zh-CN" sz="1050" dirty="0"/>
              <a:t>, which helps avoid model bias and works well in </a:t>
            </a:r>
            <a:r>
              <a:rPr lang="en-US" altLang="zh-CN" sz="1050" b="1" dirty="0"/>
              <a:t>high-dimensional environments</a:t>
            </a:r>
            <a:r>
              <a:rPr lang="en-US" altLang="zh-CN" sz="1050" dirty="0"/>
              <a:t>, such as large e-commerce platforms.</a:t>
            </a:r>
          </a:p>
          <a:p>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ED169525-D317-029D-9E69-B89DF7092F8F}"/>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27061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02B47-AD66-1AC7-9B73-A255D315C9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D3EC43-5D24-31CE-7542-94C48A617A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CBA10D-386D-7031-C5FA-3903483B4892}"/>
              </a:ext>
            </a:extLst>
          </p:cNvPr>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mn-ea"/>
                <a:cs typeface="+mn-cs"/>
              </a:rPr>
              <a:t>The typical consumer performs the following sequence of actions</a:t>
            </a:r>
            <a:r>
              <a:rPr lang="en-US" altLang="zh-CN" sz="1050" dirty="0"/>
              <a:t> </a:t>
            </a:r>
            <a:br>
              <a:rPr lang="en-US" altLang="zh-CN" sz="1050" dirty="0"/>
            </a:br>
            <a:r>
              <a:rPr lang="en-US" altLang="zh-CN" sz="1050" b="1" dirty="0"/>
              <a:t>Browse channels</a:t>
            </a:r>
            <a:br>
              <a:rPr lang="en-US" altLang="zh-CN" sz="1050" dirty="0"/>
            </a:br>
            <a:r>
              <a:rPr lang="en-US" altLang="zh-CN" sz="1050" dirty="0"/>
              <a:t>Consumer lands on the search page and browses livestream thumbnails ranked by an algorithm.</a:t>
            </a:r>
          </a:p>
          <a:p>
            <a:r>
              <a:rPr lang="en-US" altLang="zh-CN" sz="1050" b="1" dirty="0"/>
              <a:t>Enter a channel</a:t>
            </a:r>
            <a:br>
              <a:rPr lang="en-US" altLang="zh-CN" sz="1050" dirty="0"/>
            </a:br>
            <a:r>
              <a:rPr lang="en-US" altLang="zh-CN" sz="1050" dirty="0"/>
              <a:t>Consumer clicks a channel to watch the livestream and interact with the host (e.g., chat, add to cart, purchase).</a:t>
            </a:r>
          </a:p>
          <a:p>
            <a:r>
              <a:rPr lang="en-US" altLang="zh-CN" sz="1050" b="1" dirty="0"/>
              <a:t>Receive a coupon</a:t>
            </a:r>
            <a:br>
              <a:rPr lang="en-US" altLang="zh-CN" sz="1050" dirty="0"/>
            </a:br>
            <a:r>
              <a:rPr lang="en-US" altLang="zh-CN" sz="1050" dirty="0"/>
              <a:t>A discount coupon pops up during the session; the consumer can claim and use it before leaving.</a:t>
            </a:r>
          </a:p>
          <a:p>
            <a:r>
              <a:rPr lang="en-US" altLang="zh-CN" sz="1050" b="1" dirty="0"/>
              <a:t>Exit the channel</a:t>
            </a:r>
            <a:br>
              <a:rPr lang="en-US" altLang="zh-CN" sz="1050" dirty="0"/>
            </a:br>
            <a:r>
              <a:rPr lang="en-US" altLang="zh-CN" sz="1050" dirty="0"/>
              <a:t>Consumer leaves the livestream and returns to the search page; the coupon becomes invalid after exit.</a:t>
            </a:r>
          </a:p>
          <a:p>
            <a:br>
              <a:rPr lang="en-US" altLang="zh-CN" sz="1050" dirty="0"/>
            </a:br>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5EC115F1-5804-DC15-A8EC-0A4FCDA74D81}"/>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5398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9D738-0A50-BE7B-B723-8AF3CFA150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03A81A-62EE-46C9-C6DD-3038132C9D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7E8616-209C-C5EA-E053-DD6719A64E42}"/>
              </a:ext>
            </a:extLst>
          </p:cNvPr>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mn-ea"/>
                <a:cs typeface="+mn-cs"/>
              </a:rPr>
              <a:t>discretize both variables to five levels: LL (extra low), L (low), M (middle), H (high), and HH (extra high), based on the quintiles in their distributions</a:t>
            </a:r>
            <a:r>
              <a:rPr lang="en-US" altLang="zh-CN" sz="1050" dirty="0"/>
              <a:t> </a:t>
            </a:r>
            <a:br>
              <a:rPr lang="en-US" altLang="zh-CN" sz="1050" dirty="0"/>
            </a:br>
            <a:br>
              <a:rPr lang="en-US" altLang="zh-CN" sz="1050" dirty="0"/>
            </a:br>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269B35FA-27F1-9426-1829-4FA1DE40098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17809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6738-D730-6526-E9EF-9F0DE18FAD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B2A3EE-21C1-A045-43B5-025BBDBF3B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6CB291-3AD0-F438-2553-B84B8AB1E28A}"/>
              </a:ext>
            </a:extLst>
          </p:cNvPr>
          <p:cNvSpPr>
            <a:spLocks noGrp="1"/>
          </p:cNvSpPr>
          <p:nvPr>
            <p:ph type="body" idx="1"/>
          </p:nvPr>
        </p:nvSpPr>
        <p:spPr/>
        <p:txBody>
          <a:bodyPr/>
          <a:lstStyle/>
          <a:p>
            <a:r>
              <a:rPr lang="en-US" altLang="zh-CN" dirty="0"/>
              <a:t>For </a:t>
            </a:r>
            <a:r>
              <a:rPr lang="en-US" altLang="zh-CN" b="1" dirty="0"/>
              <a:t>high spenders</a:t>
            </a:r>
            <a:r>
              <a:rPr lang="en-US" altLang="zh-CN" dirty="0"/>
              <a:t> (top 10% in spending), </a:t>
            </a:r>
            <a:r>
              <a:rPr lang="en-US" altLang="zh-CN" b="1" dirty="0"/>
              <a:t>low-discount coupons generate higher revenue</a:t>
            </a:r>
            <a:r>
              <a:rPr lang="en-US" altLang="zh-CN" dirty="0"/>
              <a:t> than high-discount coupons, suggesting they are less price-sensitive.</a:t>
            </a:r>
          </a:p>
          <a:p>
            <a:r>
              <a:rPr lang="en-US" altLang="zh-CN" dirty="0"/>
              <a:t>For </a:t>
            </a:r>
            <a:r>
              <a:rPr lang="en-US" altLang="zh-CN" b="1" dirty="0"/>
              <a:t>low spenders</a:t>
            </a:r>
            <a:r>
              <a:rPr lang="en-US" altLang="zh-CN" dirty="0"/>
              <a:t> (bottom 10%), </a:t>
            </a:r>
            <a:r>
              <a:rPr lang="en-US" altLang="zh-CN" b="1" dirty="0"/>
              <a:t>high-discount coupons generate more revenue</a:t>
            </a:r>
            <a:r>
              <a:rPr lang="en-US" altLang="zh-CN" dirty="0"/>
              <a:t>, indicating stronger price sensitivity and a greater need for deeper discounts to motivate purchases.</a:t>
            </a:r>
          </a:p>
          <a:p>
            <a:endParaRPr lang="en-US" altLang="zh-CN" dirty="0"/>
          </a:p>
          <a:p>
            <a:r>
              <a:rPr lang="en-US" altLang="zh-CN" b="1" dirty="0">
                <a:solidFill>
                  <a:schemeClr val="accent1"/>
                </a:solidFill>
              </a:rPr>
              <a:t>Three types of demand dynamics </a:t>
            </a:r>
            <a:r>
              <a:rPr lang="zh-CN" altLang="en-US" b="1" dirty="0">
                <a:solidFill>
                  <a:schemeClr val="accent1"/>
                </a:solidFill>
              </a:rPr>
              <a:t>：</a:t>
            </a:r>
            <a:endParaRPr lang="en-US" altLang="zh-CN" dirty="0"/>
          </a:p>
          <a:p>
            <a:r>
              <a:rPr lang="en-US" altLang="zh-CN" b="1" dirty="0"/>
              <a:t>Reference Price Effect</a:t>
            </a:r>
            <a:endParaRPr lang="en-US" altLang="zh-CN" dirty="0"/>
          </a:p>
          <a:p>
            <a:r>
              <a:rPr lang="en-US" altLang="zh-CN" dirty="0"/>
              <a:t>Consumers use </a:t>
            </a:r>
            <a:r>
              <a:rPr lang="en-US" altLang="zh-CN" b="1" dirty="0"/>
              <a:t>past discounts as reference prices</a:t>
            </a:r>
            <a:r>
              <a:rPr lang="en-US" altLang="zh-CN" dirty="0"/>
              <a:t>, which shapes their response to future promotions.</a:t>
            </a:r>
          </a:p>
          <a:p>
            <a:r>
              <a:rPr lang="en-US" altLang="zh-CN" b="1" dirty="0"/>
              <a:t>Higher discounts today</a:t>
            </a:r>
            <a:r>
              <a:rPr lang="en-US" altLang="zh-CN" dirty="0"/>
              <a:t> increase current redemption but </a:t>
            </a:r>
            <a:r>
              <a:rPr lang="en-US" altLang="zh-CN" b="1" dirty="0"/>
              <a:t>lower future responsiveness</a:t>
            </a:r>
            <a:r>
              <a:rPr lang="en-US" altLang="zh-CN" dirty="0"/>
              <a:t>, while </a:t>
            </a:r>
            <a:r>
              <a:rPr lang="en-US" altLang="zh-CN" b="1" dirty="0"/>
              <a:t>lower discounts today</a:t>
            </a:r>
            <a:r>
              <a:rPr lang="en-US" altLang="zh-CN" dirty="0"/>
              <a:t> can increase future redemption.</a:t>
            </a:r>
          </a:p>
          <a:p>
            <a:endParaRPr lang="en-US" altLang="zh-CN" dirty="0"/>
          </a:p>
          <a:p>
            <a:r>
              <a:rPr lang="en-US" altLang="zh-CN" b="1" dirty="0"/>
              <a:t>State Dependence (Loyalty / Variety-Seeking)</a:t>
            </a:r>
            <a:endParaRPr lang="en-US" altLang="zh-CN" dirty="0"/>
          </a:p>
          <a:p>
            <a:r>
              <a:rPr lang="en-US" altLang="zh-CN" dirty="0"/>
              <a:t>State dependence suggests that </a:t>
            </a:r>
            <a:r>
              <a:rPr lang="en-US" altLang="zh-CN" b="1" dirty="0"/>
              <a:t>past purchases may influence future purchase behavior</a:t>
            </a:r>
            <a:r>
              <a:rPr lang="en-US" altLang="zh-CN" dirty="0"/>
              <a:t> (loyalty or variety-seeking).</a:t>
            </a:r>
          </a:p>
          <a:p>
            <a:r>
              <a:rPr lang="en-US" altLang="zh-CN" dirty="0"/>
              <a:t>However, the data show </a:t>
            </a:r>
            <a:r>
              <a:rPr lang="en-US" altLang="zh-CN" b="1" dirty="0"/>
              <a:t>no significant state dependence</a:t>
            </a:r>
            <a:r>
              <a:rPr lang="en-US" altLang="zh-CN" dirty="0"/>
              <a:t>: purchasing in the previous period does </a:t>
            </a:r>
            <a:r>
              <a:rPr lang="en-US" altLang="zh-CN" b="1" dirty="0"/>
              <a:t>not affect</a:t>
            </a:r>
            <a:r>
              <a:rPr lang="en-US" altLang="zh-CN" dirty="0"/>
              <a:t> the likelihood of purchasing in the next period.</a:t>
            </a:r>
          </a:p>
          <a:p>
            <a:r>
              <a:rPr lang="en-US" altLang="zh-CN" dirty="0"/>
              <a:t>A possible reason is </a:t>
            </a:r>
            <a:r>
              <a:rPr lang="en-US" altLang="zh-CN" b="1" dirty="0"/>
              <a:t>low product loyalty</a:t>
            </a:r>
            <a:r>
              <a:rPr lang="en-US" altLang="zh-CN" dirty="0"/>
              <a:t> in livestream shopping categories (e.g., apparel and cosmetics).</a:t>
            </a:r>
          </a:p>
          <a:p>
            <a:endParaRPr lang="en-US" altLang="zh-CN" dirty="0"/>
          </a:p>
          <a:p>
            <a:br>
              <a:rPr lang="en-US" altLang="zh-CN" sz="1050" dirty="0"/>
            </a:br>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432DA188-B343-ABE1-75FD-C9E68504186B}"/>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60339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7C88D-1932-363E-F376-3942807F61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97789F-EFF4-97E7-826D-9375A1D921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9171E8-BF0B-4CD5-6ABD-A69EA7098C23}"/>
              </a:ext>
            </a:extLst>
          </p:cNvPr>
          <p:cNvSpPr>
            <a:spLocks noGrp="1"/>
          </p:cNvSpPr>
          <p:nvPr>
            <p:ph type="body" idx="1"/>
          </p:nvPr>
        </p:nvSpPr>
        <p:spPr/>
        <p:txBody>
          <a:bodyPr/>
          <a:lstStyle/>
          <a:p>
            <a:r>
              <a:rPr lang="en-US" altLang="zh-CN" sz="1050" dirty="0"/>
              <a:t>Next, the paper highlights the issue of </a:t>
            </a:r>
            <a:r>
              <a:rPr lang="en-US" altLang="zh-CN" sz="1050" b="1" dirty="0"/>
              <a:t>model bias</a:t>
            </a:r>
            <a:r>
              <a:rPr lang="en-US" altLang="zh-CN" sz="1050" dirty="0"/>
              <a:t> when modeling consumer behavior in complex shopping environments.</a:t>
            </a:r>
          </a:p>
          <a:p>
            <a:r>
              <a:rPr lang="en-US" altLang="zh-CN" sz="1050" dirty="0"/>
              <a:t>For example, the paper examines the relationship between </a:t>
            </a:r>
            <a:r>
              <a:rPr lang="en-US" altLang="zh-CN" sz="1050" b="1" dirty="0"/>
              <a:t>consumer activity level (TQZ)</a:t>
            </a:r>
            <a:r>
              <a:rPr lang="en-US" altLang="zh-CN" sz="1050" dirty="0"/>
              <a:t> and </a:t>
            </a:r>
            <a:r>
              <a:rPr lang="en-US" altLang="zh-CN" sz="1200" b="0" i="0" kern="1200" dirty="0">
                <a:solidFill>
                  <a:schemeClr val="tx1"/>
                </a:solidFill>
                <a:effectLst/>
                <a:latin typeface="Arial" panose="020B0604020202020204" pitchFamily="34" charset="0"/>
                <a:ea typeface="+mn-ea"/>
                <a:cs typeface="+mn-cs"/>
              </a:rPr>
              <a:t>gross merchandise value</a:t>
            </a:r>
            <a:r>
              <a:rPr lang="en-US" altLang="zh-CN" sz="1050" dirty="0"/>
              <a:t> </a:t>
            </a:r>
            <a:br>
              <a:rPr lang="en-US" altLang="zh-CN" sz="1050" dirty="0"/>
            </a:br>
            <a:r>
              <a:rPr lang="en-US" altLang="zh-CN" sz="1050" dirty="0"/>
              <a:t> (</a:t>
            </a:r>
            <a:r>
              <a:rPr lang="en-US" altLang="zh-CN" sz="1050" b="1" dirty="0"/>
              <a:t>GMV)</a:t>
            </a:r>
            <a:r>
              <a:rPr lang="en-US" altLang="zh-CN" sz="1050" dirty="0"/>
              <a:t>. In the observed data, this relationship is </a:t>
            </a:r>
            <a:r>
              <a:rPr lang="en-US" altLang="zh-CN" sz="1050" b="1" dirty="0"/>
              <a:t>non-monotonic</a:t>
            </a:r>
            <a:r>
              <a:rPr lang="en-US" altLang="zh-CN" sz="1050" dirty="0"/>
              <a:t>, meaning it fluctuates across activity levels.</a:t>
            </a:r>
          </a:p>
          <a:p>
            <a:r>
              <a:rPr lang="en-US" altLang="zh-CN" sz="1050" dirty="0"/>
              <a:t>However, a common machine learning model, </a:t>
            </a:r>
            <a:r>
              <a:rPr lang="en-US" altLang="zh-CN" sz="1050" b="1" dirty="0"/>
              <a:t>GBDT</a:t>
            </a:r>
            <a:r>
              <a:rPr lang="en-US" altLang="zh-CN" sz="1050" dirty="0"/>
              <a:t>, predicts a </a:t>
            </a:r>
            <a:r>
              <a:rPr lang="en-US" altLang="zh-CN" sz="1050" b="1" dirty="0"/>
              <a:t>monotonic pattern</a:t>
            </a:r>
            <a:r>
              <a:rPr lang="en-US" altLang="zh-CN" sz="1050" dirty="0"/>
              <a:t>, which does not match the actual data. This suggests that traditional models may be </a:t>
            </a:r>
            <a:r>
              <a:rPr lang="en-US" altLang="zh-CN" sz="1050" b="1" dirty="0"/>
              <a:t>mis-specified</a:t>
            </a:r>
            <a:r>
              <a:rPr lang="en-US" altLang="zh-CN" sz="1050" dirty="0"/>
              <a:t>, which could lead to </a:t>
            </a:r>
            <a:r>
              <a:rPr lang="en-US" altLang="zh-CN" sz="1050" b="1" dirty="0"/>
              <a:t>suboptimal policy decisions</a:t>
            </a:r>
            <a:r>
              <a:rPr lang="en-US" altLang="zh-CN" sz="1050" dirty="0"/>
              <a:t>.</a:t>
            </a:r>
          </a:p>
          <a:p>
            <a:endParaRPr lang="en-US" altLang="zh-CN" sz="1050" dirty="0"/>
          </a:p>
          <a:p>
            <a:r>
              <a:rPr lang="en-US" altLang="zh-CN" sz="1050" dirty="0"/>
              <a:t>Therefore, the paper argues that we need a model that can capture </a:t>
            </a:r>
            <a:r>
              <a:rPr lang="en-US" altLang="zh-CN" sz="1050" b="1" dirty="0"/>
              <a:t>consumer heterogeneity and intertemporal trade-offs</a:t>
            </a:r>
            <a:r>
              <a:rPr lang="en-US" altLang="zh-CN" sz="1050" dirty="0"/>
              <a:t> while avoiding strong assumptions. To address this, the study adopts a </a:t>
            </a:r>
            <a:r>
              <a:rPr lang="en-US" altLang="zh-CN" sz="1050" b="1" dirty="0"/>
              <a:t>model-free Batch Deep Reinforcement Learning approach</a:t>
            </a:r>
            <a:r>
              <a:rPr lang="en-US" altLang="zh-CN" sz="1050" dirty="0"/>
              <a:t>.</a:t>
            </a:r>
          </a:p>
          <a:p>
            <a:endParaRPr lang="en-US" altLang="zh-CN" sz="1050" b="0" i="0" dirty="0">
              <a:solidFill>
                <a:srgbClr val="000000"/>
              </a:solidFill>
              <a:effectLst/>
              <a:latin typeface="Segoe"/>
            </a:endParaRPr>
          </a:p>
        </p:txBody>
      </p:sp>
      <p:sp>
        <p:nvSpPr>
          <p:cNvPr id="4" name="页眉占位符 3">
            <a:extLst>
              <a:ext uri="{FF2B5EF4-FFF2-40B4-BE49-F238E27FC236}">
                <a16:creationId xmlns:a16="http://schemas.microsoft.com/office/drawing/2014/main" id="{E44BA4C2-7D61-E9DD-845B-DE83AB57B3B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09805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11C5-5655-0C5A-4862-470F2EA312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147773-4F91-AC6D-701F-22B09862CE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D5745D-59E0-DFC4-0579-CD30661B71B1}"/>
              </a:ext>
            </a:extLst>
          </p:cNvPr>
          <p:cNvSpPr>
            <a:spLocks noGrp="1"/>
          </p:cNvSpPr>
          <p:nvPr>
            <p:ph type="body" idx="1"/>
          </p:nvPr>
        </p:nvSpPr>
        <p:spPr/>
        <p:txBody>
          <a:bodyPr/>
          <a:lstStyle/>
          <a:p>
            <a:r>
              <a:rPr lang="en-US" b="1" dirty="0"/>
              <a:t>Stage 1 </a:t>
            </a:r>
            <a:r>
              <a:rPr lang="en-US" dirty="0"/>
              <a:t>– Consumer Decisions</a:t>
            </a:r>
          </a:p>
          <a:p>
            <a:r>
              <a:rPr lang="en-US" dirty="0"/>
              <a:t>Consumers decide whether to churn or stay, and then search for products.</a:t>
            </a:r>
          </a:p>
          <a:p>
            <a:r>
              <a:rPr lang="en-US" dirty="0"/>
              <a:t>These decisions determine the shopping context (state S).</a:t>
            </a:r>
          </a:p>
          <a:p>
            <a:r>
              <a:rPr lang="en-US" dirty="0"/>
              <a:t>Stage 2 – Platform Action  The platform chooses an action (coupon) based on the current state.</a:t>
            </a:r>
          </a:p>
          <a:p>
            <a:r>
              <a:rPr lang="en-US" dirty="0"/>
              <a:t>Stage 3 – Purchase Decision  Consumers decide whether to purchase, generating the reward (GMV).</a:t>
            </a:r>
          </a:p>
          <a:p>
            <a:r>
              <a:rPr lang="en-US" dirty="0"/>
              <a:t>Dynamic Process  The process repeats across periods (t → t+1), updating the consumer state.</a:t>
            </a:r>
            <a:endParaRPr lang="en-HK" dirty="0"/>
          </a:p>
          <a:p>
            <a:endParaRPr lang="en-US" altLang="zh-CN" dirty="0"/>
          </a:p>
          <a:p>
            <a:r>
              <a:rPr lang="en-US" dirty="0"/>
              <a:t>Next they show the core idea of our model: every time a consumer visits a product page, the platform decides which coupon to send. Each coupon can increase the chance of purchase but may reduce the payment amount, which we capture in the revenue-per-visit formula. The goal of the model is to find the optimal policy that maximizes the total expected revenue across all consumers and over time, taking into account a discount factor for future rewards.</a:t>
            </a:r>
            <a:endParaRPr lang="en-US" altLang="zh-CN" dirty="0"/>
          </a:p>
        </p:txBody>
      </p:sp>
      <p:sp>
        <p:nvSpPr>
          <p:cNvPr id="4" name="页眉占位符 3">
            <a:extLst>
              <a:ext uri="{FF2B5EF4-FFF2-40B4-BE49-F238E27FC236}">
                <a16:creationId xmlns:a16="http://schemas.microsoft.com/office/drawing/2014/main" id="{C0D30B1D-F93E-49F9-0B46-3C0D9A45D2F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98966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BBA51-A188-2B6F-0AE5-4C314DAFBA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D950CB-2F4B-4630-08AF-2EAEED94FD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205072-05D0-15FE-A4A2-650CEB40D756}"/>
              </a:ext>
            </a:extLst>
          </p:cNvPr>
          <p:cNvSpPr>
            <a:spLocks noGrp="1"/>
          </p:cNvSpPr>
          <p:nvPr>
            <p:ph type="body" idx="1"/>
          </p:nvPr>
        </p:nvSpPr>
        <p:spPr/>
        <p:txBody>
          <a:bodyPr/>
          <a:lstStyle/>
          <a:p>
            <a:r>
              <a:rPr lang="en-US" dirty="0"/>
              <a:t>Based on this, they build the reinforcement learning framework.</a:t>
            </a:r>
            <a:br>
              <a:rPr lang="en-US" dirty="0"/>
            </a:br>
            <a:br>
              <a:rPr lang="en-US" dirty="0"/>
            </a:br>
            <a:r>
              <a:rPr lang="en-US" dirty="0"/>
              <a:t>Next, </a:t>
            </a:r>
            <a:r>
              <a:rPr lang="en-US" altLang="zh-CN" dirty="0"/>
              <a:t>my teammate will share the details of how this framework works and the empirical results.</a:t>
            </a:r>
          </a:p>
        </p:txBody>
      </p:sp>
      <p:sp>
        <p:nvSpPr>
          <p:cNvPr id="4" name="页眉占位符 3">
            <a:extLst>
              <a:ext uri="{FF2B5EF4-FFF2-40B4-BE49-F238E27FC236}">
                <a16:creationId xmlns:a16="http://schemas.microsoft.com/office/drawing/2014/main" id="{4A46FA05-248A-8636-11AA-03B17B62C015}"/>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t>Section Title</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3619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3B59-C000-2C3F-4493-D3D4FF3E30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F47388-1B08-B8CB-33D2-4CF30CC1A8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60178B-DA08-F5B7-3D62-4B90831CF3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a:t>
            </a:r>
            <a:r>
              <a:rPr lang="zh-CN" altLang="en-US" dirty="0"/>
              <a:t> </a:t>
            </a:r>
            <a:r>
              <a:rPr lang="en-US" altLang="zh-CN" dirty="0"/>
              <a:t>states include </a:t>
            </a:r>
            <a:r>
              <a:rPr lang="en-US" b="1" dirty="0"/>
              <a:t>Static States and Dynamic States</a:t>
            </a:r>
            <a:endParaRPr lang="en-HK"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sz="1200" b="0" i="0" kern="1200" dirty="0">
                <a:solidFill>
                  <a:schemeClr val="tx1"/>
                </a:solidFill>
                <a:effectLst/>
                <a:latin typeface="Arial" panose="020B0604020202020204" pitchFamily="34" charset="0"/>
                <a:ea typeface="+mn-ea"/>
                <a:cs typeface="+mn-cs"/>
              </a:rPr>
              <a:t>Static states such as demographics of consumers, basic characteristics of the sellers, and product categories</a:t>
            </a:r>
          </a:p>
          <a:p>
            <a:endParaRPr lang="en-US" altLang="zh-CN"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The dynamic state is constructed according to the classic RFM framework: R is Recency, which is how long since the last behavior.</a:t>
            </a:r>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F is Frequency, indicating the cumulative number of occurrences.</a:t>
            </a:r>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M stands for Monetary, which includes cumulative amounts, average prices, historical coupon magnitudes, etc.</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This is because consumers will remember past discounts. Therefore, the author has placed the average, maximum and minimum discount rates of past coupons into a dynamic state, which is equivalent to encoding the "psychological reference price" into the state</a:t>
            </a:r>
          </a:p>
        </p:txBody>
      </p:sp>
      <p:sp>
        <p:nvSpPr>
          <p:cNvPr id="4" name="页眉占位符 3">
            <a:extLst>
              <a:ext uri="{FF2B5EF4-FFF2-40B4-BE49-F238E27FC236}">
                <a16:creationId xmlns:a16="http://schemas.microsoft.com/office/drawing/2014/main" id="{2BC7DBFB-3820-D3C6-D68A-023548588B41}"/>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2895299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3865-1E1B-514C-4522-EC7B33C71A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48FFCB-EE39-36FC-D029-2DCEF035F6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9CBDE2-F375-BF48-9B8F-24ED63EEF532}"/>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mn-cs"/>
              </a:rPr>
              <a:t>To solve the MDP problem, we use the batch-constrained Q-learning algorithm. “Q-learning” involves a function that calculates the total discounted rewards used to provide the reinforcement feedback in the learning process. Q-learning is model-free because it does not rely on  any functional form assumptions about the reward function  or the state transition function. It  uses samples collected in the historical  data  to directly observe the reward  and the next state. </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0" i="0" u="none" strike="noStrike" kern="1200" baseline="0" dirty="0">
                <a:solidFill>
                  <a:schemeClr val="tx1"/>
                </a:solidFill>
                <a:latin typeface="Arial" panose="020B0604020202020204" pitchFamily="34" charset="0"/>
                <a:ea typeface="+mn-ea"/>
                <a:cs typeface="+mn-cs"/>
              </a:rPr>
              <a:t>The original Q-learning algorithm is appropriate when the state and action spaces are small. But, with continuous state values,  we cannot expect to find an optimal value function within the limit of infinite time and data. Instead, the value function needs to be a parameterized function, they choose DNNs as the functional approximator.</a:t>
            </a: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939FEAD2-CDDC-AC9F-03D7-0EF24E60C2AC}"/>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3709376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8F95B-0241-1B62-149F-52DB5A2BDC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D34CD5-3B18-BBE8-D1C8-13766BB1E4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E6B0A1-2457-E233-1BC3-3A0D0E5F85FE}"/>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mn-cs"/>
              </a:rPr>
              <a:t>Another important feature of our solution is that we use batch reinforcement learning. </a:t>
            </a:r>
            <a:r>
              <a:rPr lang="en-US" sz="1200" b="0" i="0" kern="1200" dirty="0">
                <a:solidFill>
                  <a:schemeClr val="tx1"/>
                </a:solidFill>
                <a:effectLst/>
                <a:latin typeface="Arial" panose="020B0604020202020204" pitchFamily="34" charset="0"/>
                <a:ea typeface="+mn-ea"/>
                <a:cs typeface="+mn-cs"/>
              </a:rPr>
              <a:t>But  batch reinforcement learning algorithms have  been shown to be susceptible to extrapolation error. This is because When  selecting action A, such that the pair (S,A) is distant  from the data contained in the batch, the estimate Q(S,A) may be arbitrarily poor. We address this problem  by using a BCQ algorithm</a:t>
            </a:r>
          </a:p>
        </p:txBody>
      </p:sp>
      <p:sp>
        <p:nvSpPr>
          <p:cNvPr id="4" name="页眉占位符 3">
            <a:extLst>
              <a:ext uri="{FF2B5EF4-FFF2-40B4-BE49-F238E27FC236}">
                <a16:creationId xmlns:a16="http://schemas.microsoft.com/office/drawing/2014/main" id="{4424FEA0-C350-EF96-AD0C-341334F23EB5}"/>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3575783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4FED-7A8F-C174-6ADA-63B033B17E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948CD0-D27E-83F8-CB48-E002DDD2A2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D90508-4666-527E-9171-FFC044AED34D}"/>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To generate the static  homogeneous treatment policy benchmark, we use a linear  regression without the interaction between states and  actions (Section 5.1). We generate the static heterogeneous  treatment policy benchmarks using three alternative  models: GBDT, DNN, and ORF. We generate the dynamic heterogeneous treatment  policy using a structural approach (Section 5.3). Finally, BDRL is the model-free dynamic heterogeneous  treatment approach (Section 4.2).</a:t>
            </a:r>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baseline="0" dirty="0">
                <a:latin typeface="AdvOT3258b86f"/>
              </a:rPr>
              <a:t>Regression without interaction: </a:t>
            </a:r>
          </a:p>
          <a:p>
            <a:r>
              <a:rPr lang="en-US" sz="1200" b="0" i="0" kern="1200" dirty="0">
                <a:solidFill>
                  <a:schemeClr val="tx1"/>
                </a:solidFill>
                <a:effectLst/>
                <a:latin typeface="Arial" panose="020B0604020202020204" pitchFamily="34" charset="0"/>
                <a:ea typeface="+mn-ea"/>
                <a:cs typeface="+mn-cs"/>
              </a:rPr>
              <a:t>Without distinguishing between people or considering the future, I just want to find a coupon that is "the most profitable on average".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panose="020B0604020202020204" pitchFamily="34" charset="0"/>
                <a:ea typeface="+mn-ea"/>
                <a:cs typeface="+mn-cs"/>
              </a:rPr>
              <a:t>That is to say, the system will </a:t>
            </a:r>
            <a:r>
              <a:rPr lang="en-US" sz="1200" b="0" i="0" kern="1200" dirty="0" err="1">
                <a:solidFill>
                  <a:schemeClr val="tx1"/>
                </a:solidFill>
                <a:effectLst/>
                <a:latin typeface="Arial" panose="020B0604020202020204" pitchFamily="34" charset="0"/>
                <a:ea typeface="+mn-ea"/>
                <a:cs typeface="+mn-cs"/>
              </a:rPr>
              <a:t>ask:"In</a:t>
            </a:r>
            <a:r>
              <a:rPr lang="en-US" sz="1200" b="0" i="0" kern="1200" dirty="0">
                <a:solidFill>
                  <a:schemeClr val="tx1"/>
                </a:solidFill>
                <a:effectLst/>
                <a:latin typeface="Arial" panose="020B0604020202020204" pitchFamily="34" charset="0"/>
                <a:ea typeface="+mn-ea"/>
                <a:cs typeface="+mn-cs"/>
              </a:rPr>
              <a:t> this current exposure, which coupon is the most suitable for this </a:t>
            </a:r>
            <a:r>
              <a:rPr lang="en-US" sz="1200" b="0" i="0" kern="1200" dirty="0" err="1">
                <a:solidFill>
                  <a:schemeClr val="tx1"/>
                </a:solidFill>
                <a:effectLst/>
                <a:latin typeface="Arial" panose="020B0604020202020204" pitchFamily="34" charset="0"/>
                <a:ea typeface="+mn-ea"/>
                <a:cs typeface="+mn-cs"/>
              </a:rPr>
              <a:t>user?"But</a:t>
            </a:r>
            <a:r>
              <a:rPr lang="en-US" sz="1200" b="0" i="0" kern="1200" dirty="0">
                <a:solidFill>
                  <a:schemeClr val="tx1"/>
                </a:solidFill>
                <a:effectLst/>
                <a:latin typeface="Arial" panose="020B0604020202020204" pitchFamily="34" charset="0"/>
                <a:ea typeface="+mn-ea"/>
                <a:cs typeface="+mn-cs"/>
              </a:rPr>
              <a:t> it will not </a:t>
            </a:r>
            <a:r>
              <a:rPr lang="en-US" sz="1200" b="0" i="0" kern="1200" dirty="0" err="1">
                <a:solidFill>
                  <a:schemeClr val="tx1"/>
                </a:solidFill>
                <a:effectLst/>
                <a:latin typeface="Arial" panose="020B0604020202020204" pitchFamily="34" charset="0"/>
                <a:ea typeface="+mn-ea"/>
                <a:cs typeface="+mn-cs"/>
              </a:rPr>
              <a:t>ask:"If</a:t>
            </a:r>
            <a:r>
              <a:rPr lang="en-US" sz="1200" b="0" i="0" kern="1200" dirty="0">
                <a:solidFill>
                  <a:schemeClr val="tx1"/>
                </a:solidFill>
                <a:effectLst/>
                <a:latin typeface="Arial" panose="020B0604020202020204" pitchFamily="34" charset="0"/>
                <a:ea typeface="+mn-ea"/>
                <a:cs typeface="+mn-cs"/>
              </a:rPr>
              <a:t> I give this coupon today, will it increase the user's reference price tomorrow and thereby harm the subsequent conversion?“</a:t>
            </a:r>
          </a:p>
          <a:p>
            <a:r>
              <a:rPr lang="en-US" sz="1200" b="0" i="0" kern="1200" dirty="0">
                <a:solidFill>
                  <a:schemeClr val="tx1"/>
                </a:solidFill>
                <a:effectLst/>
                <a:latin typeface="Arial" panose="020B0604020202020204" pitchFamily="34" charset="0"/>
                <a:ea typeface="+mn-ea"/>
                <a:cs typeface="+mn-cs"/>
              </a:rPr>
              <a:t>The role of this benchmark is to provide an optimized control group with the lowest threshold</a:t>
            </a:r>
          </a:p>
          <a:p>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Static Policy with Heterogeneous Treatments: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panose="020B0604020202020204" pitchFamily="34" charset="0"/>
                <a:ea typeface="+mn-ea"/>
                <a:cs typeface="+mn-cs"/>
              </a:rPr>
              <a:t>Direct: For the current state of a certain user, you ask the model to predict:• The revenue generated when issuing a low/medium/high discount coupon.</a:t>
            </a:r>
          </a:p>
          <a:p>
            <a:r>
              <a:rPr lang="en-US" sz="1200" b="0" i="0" kern="1200" dirty="0">
                <a:solidFill>
                  <a:schemeClr val="tx1"/>
                </a:solidFill>
                <a:effectLst/>
                <a:latin typeface="Arial" panose="020B0604020202020204" pitchFamily="34" charset="0"/>
                <a:ea typeface="+mn-ea"/>
                <a:cs typeface="+mn-cs"/>
              </a:rPr>
              <a:t>Indirect: They do not first fit a predictor of "state + action → benefit", but directly estimate the heterogeneous processing effect of each action, and then take the action with the highest processing effect as the optimal action</a:t>
            </a:r>
          </a:p>
        </p:txBody>
      </p:sp>
      <p:sp>
        <p:nvSpPr>
          <p:cNvPr id="4" name="页眉占位符 3">
            <a:extLst>
              <a:ext uri="{FF2B5EF4-FFF2-40B4-BE49-F238E27FC236}">
                <a16:creationId xmlns:a16="http://schemas.microsoft.com/office/drawing/2014/main" id="{929BF10B-9D5C-FBBC-85B5-6CB6404CB86F}"/>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869369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0547C-0D1C-A587-F9C5-FFB261F0D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2C5D6E-F592-28CF-0BE9-53E89915FA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1BFC5E-6EE5-F286-4AE6-BE770734FA85}"/>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 address the issue that :Current actions will affect future states and future reward.</a:t>
            </a:r>
          </a:p>
          <a:p>
            <a:r>
              <a:rPr lang="en-US" sz="1200" b="0" i="0" kern="1200" dirty="0">
                <a:solidFill>
                  <a:schemeClr val="tx1"/>
                </a:solidFill>
                <a:effectLst/>
                <a:latin typeface="Arial" panose="020B0604020202020204" pitchFamily="34" charset="0"/>
                <a:ea typeface="+mn-ea"/>
                <a:cs typeface="+mn-cs"/>
              </a:rPr>
              <a:t>5.3 is the key benchmark for answering the question of whether to adopt model-free or not. If BDRL only won 5.1 and 5.2, you still cannot prove that "model freedom" is valuable. It can only demonstrate that "even if you have done dynamic structural optimization, you may still lose to Model-free RL due to model bias" after going beyond 5.3.</a:t>
            </a:r>
          </a:p>
          <a:p>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F732DF3B-A311-70F7-4453-C36DC2386CDB}"/>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2027833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8A02B-0001-0F50-71EE-9C284E413D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0069B6-0DE2-F203-4B1A-8FEF037540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4093D4-2784-1BE7-080D-7F10ACAF1620}"/>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At the first level, the static homogeneous strategy is better than random, indicating that "optimization" is valuable in its own right. The linear regression policy is 12% higher than the original random issuance.</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At the second level, the static heterogeneity strategy is again stronger than the static homogeneity strategy, indicating that personalization has value. GBDT, DNN and ORF are all higher than homogeneous regression, which reflects that "issuing different coupons for different people" is better than "one size fits all.“</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At the third level, the dynamic structural model further increases the gain to 43%, indicating the value of intertemporal dynamics. That is, couponing cannot look only at current conversions, but also at its impact on future responses.</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At the fourth layer, BDRL pushes the gain to 62-63%, indicating that in this high-dimensional and strong dynamic scene, the combination of dynamic + personalized + model freedom is better than the dynamic structural model.</a:t>
            </a:r>
          </a:p>
        </p:txBody>
      </p:sp>
      <p:sp>
        <p:nvSpPr>
          <p:cNvPr id="4" name="页眉占位符 3">
            <a:extLst>
              <a:ext uri="{FF2B5EF4-FFF2-40B4-BE49-F238E27FC236}">
                <a16:creationId xmlns:a16="http://schemas.microsoft.com/office/drawing/2014/main" id="{865E09BD-12BC-107E-F3CC-8F53BDC7D43D}"/>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18380092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4ADC6-F1B6-6FE3-5435-9A0EDD6D64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CDA4BB-D917-0F97-D4F3-4E202264F1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6493A6-5837-8669-EC67-871F2E708CBC}"/>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The value function is the long-term discounted total return brought about by the entire strategy, It can also be regarded as the net present value of customers or </a:t>
            </a:r>
            <a:r>
              <a:rPr lang="en-US" dirty="0"/>
              <a:t>customer lifetime value,</a:t>
            </a:r>
          </a:p>
          <a:p>
            <a:endParaRPr lang="en-US" sz="1200" b="0" i="0" kern="1200" dirty="0">
              <a:solidFill>
                <a:schemeClr val="tx1"/>
              </a:solidFill>
              <a:effectLst/>
              <a:latin typeface="Arial" panose="020B0604020202020204" pitchFamily="34" charset="0"/>
              <a:ea typeface="+mn-ea"/>
              <a:cs typeface="+mn-cs"/>
            </a:endParaRPr>
          </a:p>
          <a:p>
            <a:r>
              <a:rPr lang="en-US" dirty="0"/>
              <a:t>Combines IPS </a:t>
            </a:r>
            <a:r>
              <a:rPr lang="en-US" altLang="zh-CN" dirty="0"/>
              <a:t>and</a:t>
            </a:r>
            <a:r>
              <a:rPr lang="zh-CN" altLang="en-US" dirty="0"/>
              <a:t> </a:t>
            </a:r>
            <a:r>
              <a:rPr lang="en-US" dirty="0"/>
              <a:t>direct method</a:t>
            </a:r>
            <a:endParaRPr lang="en-US" sz="1200" b="0" i="0" kern="1200" dirty="0">
              <a:solidFill>
                <a:schemeClr val="tx1"/>
              </a:solidFill>
              <a:effectLst/>
              <a:latin typeface="Arial" panose="020B0604020202020204" pitchFamily="34" charset="0"/>
              <a:ea typeface="+mn-ea"/>
              <a:cs typeface="+mn-cs"/>
            </a:endParaRPr>
          </a:p>
          <a:p>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12F33F2D-8F98-1AB9-F7DA-0CA7F2E7D85A}"/>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284812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1AEF-E523-56B9-B65D-15743A1A4A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D4E41E-06F6-1C36-F56E-BDA4C11134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2E5E8D-F131-7533-1974-5B41421EE71A}"/>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The value function is the long-term discounted total return brought about by the entire strategy, It can also be regarded as the net present value of customers or </a:t>
            </a:r>
            <a:r>
              <a:rPr lang="en-US" dirty="0"/>
              <a:t>customer lifetime value,</a:t>
            </a:r>
          </a:p>
          <a:p>
            <a:endParaRPr lang="en-US" sz="1200" b="0" i="0" kern="1200" dirty="0">
              <a:solidFill>
                <a:schemeClr val="tx1"/>
              </a:solidFill>
              <a:effectLst/>
              <a:latin typeface="Arial" panose="020B0604020202020204" pitchFamily="34" charset="0"/>
              <a:ea typeface="+mn-ea"/>
              <a:cs typeface="+mn-cs"/>
            </a:endParaRPr>
          </a:p>
          <a:p>
            <a:r>
              <a:rPr lang="en-US" dirty="0"/>
              <a:t>Combines IPS </a:t>
            </a:r>
            <a:r>
              <a:rPr lang="en-US" altLang="zh-CN" dirty="0"/>
              <a:t>and</a:t>
            </a:r>
            <a:r>
              <a:rPr lang="zh-CN" altLang="en-US" dirty="0"/>
              <a:t> </a:t>
            </a:r>
            <a:r>
              <a:rPr lang="en-US" dirty="0"/>
              <a:t>direct method</a:t>
            </a:r>
            <a:endParaRPr lang="en-US" sz="1200" b="0" i="0" kern="1200" dirty="0">
              <a:solidFill>
                <a:schemeClr val="tx1"/>
              </a:solidFill>
              <a:effectLst/>
              <a:latin typeface="Arial" panose="020B0604020202020204" pitchFamily="34" charset="0"/>
              <a:ea typeface="+mn-ea"/>
              <a:cs typeface="+mn-cs"/>
            </a:endParaRPr>
          </a:p>
          <a:p>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64C0E32E-A796-3546-EDB2-9ACEB3F658B5}"/>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2950508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D600-F47B-1173-EE99-D587A88523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E671AD-079B-9FBC-148C-5CC6C81711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6C0064-5456-2569-D77D-BE5DD5E7E9B4}"/>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The value function is the long-term discounted total return brought about by the entire strategy, It can also be regarded as the net present value of customers or </a:t>
            </a:r>
            <a:r>
              <a:rPr lang="en-US" dirty="0"/>
              <a:t>customer lifetime value,</a:t>
            </a:r>
          </a:p>
          <a:p>
            <a:endParaRPr lang="en-US" sz="1200" b="0" i="0" kern="1200" dirty="0">
              <a:solidFill>
                <a:schemeClr val="tx1"/>
              </a:solidFill>
              <a:effectLst/>
              <a:latin typeface="Arial" panose="020B0604020202020204" pitchFamily="34" charset="0"/>
              <a:ea typeface="+mn-ea"/>
              <a:cs typeface="+mn-cs"/>
            </a:endParaRPr>
          </a:p>
          <a:p>
            <a:r>
              <a:rPr lang="en-US" dirty="0"/>
              <a:t>Combines IPS </a:t>
            </a:r>
            <a:r>
              <a:rPr lang="en-US" altLang="zh-CN" dirty="0"/>
              <a:t>and</a:t>
            </a:r>
            <a:r>
              <a:rPr lang="zh-CN" altLang="en-US" dirty="0"/>
              <a:t> </a:t>
            </a:r>
            <a:r>
              <a:rPr lang="en-US" dirty="0"/>
              <a:t>direct method</a:t>
            </a:r>
            <a:endParaRPr lang="en-US" sz="1200" b="0" i="0" kern="1200" dirty="0">
              <a:solidFill>
                <a:schemeClr val="tx1"/>
              </a:solidFill>
              <a:effectLst/>
              <a:latin typeface="Arial" panose="020B0604020202020204" pitchFamily="34" charset="0"/>
              <a:ea typeface="+mn-ea"/>
              <a:cs typeface="+mn-cs"/>
            </a:endParaRPr>
          </a:p>
          <a:p>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E4C9FDE0-818A-4685-657D-CED009C40545}"/>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4187183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3A0AB-458F-0302-2C49-A00C632AE0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3F3FDE-7DE2-C2CB-8750-FF8260FB51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E77732-F232-0077-E335-070CC868A5E2}"/>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The value function is the long-term discounted total return brought about by the entire strategy, It can also be regarded as the net present value of customers or </a:t>
            </a:r>
            <a:r>
              <a:rPr lang="en-US" dirty="0"/>
              <a:t>customer lifetime value,</a:t>
            </a:r>
          </a:p>
          <a:p>
            <a:endParaRPr lang="en-US" sz="1200" b="0" i="0" kern="1200" dirty="0">
              <a:solidFill>
                <a:schemeClr val="tx1"/>
              </a:solidFill>
              <a:effectLst/>
              <a:latin typeface="Arial" panose="020B0604020202020204" pitchFamily="34" charset="0"/>
              <a:ea typeface="+mn-ea"/>
              <a:cs typeface="+mn-cs"/>
            </a:endParaRPr>
          </a:p>
          <a:p>
            <a:r>
              <a:rPr lang="en-US" dirty="0"/>
              <a:t>Combines IPS </a:t>
            </a:r>
            <a:r>
              <a:rPr lang="en-US" altLang="zh-CN" dirty="0"/>
              <a:t>and</a:t>
            </a:r>
            <a:r>
              <a:rPr lang="zh-CN" altLang="en-US" dirty="0"/>
              <a:t> </a:t>
            </a:r>
            <a:r>
              <a:rPr lang="en-US" dirty="0"/>
              <a:t>direct method</a:t>
            </a:r>
            <a:endParaRPr lang="en-US" sz="1200" b="0" i="0" kern="1200" dirty="0">
              <a:solidFill>
                <a:schemeClr val="tx1"/>
              </a:solidFill>
              <a:effectLst/>
              <a:latin typeface="Arial" panose="020B0604020202020204" pitchFamily="34" charset="0"/>
              <a:ea typeface="+mn-ea"/>
              <a:cs typeface="+mn-cs"/>
            </a:endParaRPr>
          </a:p>
          <a:p>
            <a:br>
              <a:rPr lang="en-US" sz="1200" b="0" i="0" kern="1200" dirty="0">
                <a:solidFill>
                  <a:schemeClr val="tx1"/>
                </a:solidFill>
                <a:effectLst/>
                <a:latin typeface="Arial" panose="020B0604020202020204" pitchFamily="34" charset="0"/>
                <a:ea typeface="+mn-ea"/>
                <a:cs typeface="+mn-cs"/>
              </a:rPr>
            </a:b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160C937F-5922-0859-DE3A-6E1E84F590D5}"/>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3987125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FC1C0-422E-1BA6-DA78-984C6EE6E8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0898B4-ECDA-8B8C-6310-0CAF967A5F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AD14F8-0838-EFB1-EE89-FA9B029C0415}"/>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The previous proof is "BDRL is more effective", but the explanation here is "what does it learn“</a:t>
            </a:r>
          </a:p>
          <a:p>
            <a:endParaRPr lang="en-US" sz="1200" b="0" i="0" kern="1200" dirty="0">
              <a:solidFill>
                <a:schemeClr val="tx1"/>
              </a:solidFill>
              <a:effectLst/>
              <a:latin typeface="Arial" panose="020B0604020202020204" pitchFamily="34" charset="0"/>
              <a:ea typeface="+mn-ea"/>
              <a:cs typeface="+mn-cs"/>
            </a:endParaRPr>
          </a:p>
          <a:p>
            <a:r>
              <a:rPr lang="en-US" dirty="0"/>
              <a:t>consumers get more utility per se from more attractive </a:t>
            </a:r>
            <a:r>
              <a:rPr lang="en-US" altLang="zh-CN" dirty="0"/>
              <a:t>sellers</a:t>
            </a:r>
            <a:r>
              <a:rPr lang="en-US" dirty="0"/>
              <a:t>, so they need less monetary compensation; When the  attraction is low, it is necessary to make up for it with a higher discount</a:t>
            </a:r>
            <a:endParaRPr lang="en-US" sz="1200" b="0" i="0" kern="1200" dirty="0">
              <a:solidFill>
                <a:schemeClr val="tx1"/>
              </a:solidFill>
              <a:effectLst/>
              <a:latin typeface="Arial" panose="020B0604020202020204" pitchFamily="34" charset="0"/>
              <a:ea typeface="+mn-ea"/>
              <a:cs typeface="+mn-cs"/>
            </a:endParaRPr>
          </a:p>
        </p:txBody>
      </p:sp>
      <p:sp>
        <p:nvSpPr>
          <p:cNvPr id="4" name="页眉占位符 3">
            <a:extLst>
              <a:ext uri="{FF2B5EF4-FFF2-40B4-BE49-F238E27FC236}">
                <a16:creationId xmlns:a16="http://schemas.microsoft.com/office/drawing/2014/main" id="{3F02B6FD-73D1-B90E-BA19-589FAA039FD4}"/>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2338764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DAEBE-B50F-1CE6-B25F-76A7E857B8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CB4C50-46CA-6C07-EFE8-E45C5B7276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9A3835-CBCA-F2EB-55A3-ED811BC02FB9}"/>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If you give new users a big discount at the beginning, they will use that low price as a reference point and will not respond to the general discount in the future. Therefore, the dynamic policy is more conservative, choosing a "small first and then large" price skimming path.</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This is precisely one of the most important dynamic insights of the </a:t>
            </a:r>
            <a:r>
              <a:rPr lang="en-US" sz="1200" b="0" i="0" kern="1200" dirty="0" err="1">
                <a:solidFill>
                  <a:schemeClr val="tx1"/>
                </a:solidFill>
                <a:effectLst/>
                <a:latin typeface="Arial" panose="020B0604020202020204" pitchFamily="34" charset="0"/>
                <a:ea typeface="+mn-ea"/>
                <a:cs typeface="+mn-cs"/>
              </a:rPr>
              <a:t>paper.The</a:t>
            </a:r>
            <a:r>
              <a:rPr lang="en-US" sz="1200" b="0" i="0" kern="1200" dirty="0">
                <a:solidFill>
                  <a:schemeClr val="tx1"/>
                </a:solidFill>
                <a:effectLst/>
                <a:latin typeface="Arial" panose="020B0604020202020204" pitchFamily="34" charset="0"/>
                <a:ea typeface="+mn-ea"/>
                <a:cs typeface="+mn-cs"/>
              </a:rPr>
              <a:t> reason why the static model  only looks at whether the high discount in the current period leads to higher conversion; BDRL is stronger because it knows that "being too generous today makes it harder tomorrow."</a:t>
            </a:r>
          </a:p>
        </p:txBody>
      </p:sp>
      <p:sp>
        <p:nvSpPr>
          <p:cNvPr id="4" name="页眉占位符 3">
            <a:extLst>
              <a:ext uri="{FF2B5EF4-FFF2-40B4-BE49-F238E27FC236}">
                <a16:creationId xmlns:a16="http://schemas.microsoft.com/office/drawing/2014/main" id="{F43FD63C-0246-77A5-F32B-32AEBE9A5646}"/>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3810385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8CF1B-D3BC-1F44-679B-F0054159E4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995584-5F50-ABC2-639A-8B1894DC1A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4AB794-D16C-BC72-C940-972F92A7673A}"/>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Low-spending users are more price sensitive and therefore require larger discounts, which increase more quickly over time in order to maintain </a:t>
            </a:r>
            <a:r>
              <a:rPr lang="en-US" sz="1200" b="0" i="0" kern="1200" dirty="0" err="1">
                <a:solidFill>
                  <a:schemeClr val="tx1"/>
                </a:solidFill>
                <a:effectLst/>
                <a:latin typeface="Arial" panose="020B0604020202020204" pitchFamily="34" charset="0"/>
                <a:ea typeface="+mn-ea"/>
                <a:cs typeface="+mn-cs"/>
              </a:rPr>
              <a:t>engagement.This</a:t>
            </a:r>
            <a:r>
              <a:rPr lang="en-US" sz="1200" b="0" i="0" kern="1200" dirty="0">
                <a:solidFill>
                  <a:schemeClr val="tx1"/>
                </a:solidFill>
                <a:effectLst/>
                <a:latin typeface="Arial" panose="020B0604020202020204" pitchFamily="34" charset="0"/>
                <a:ea typeface="+mn-ea"/>
                <a:cs typeface="+mn-cs"/>
              </a:rPr>
              <a:t> rule is important because it shows that BDRL is not simply stacking two rules: "Whoever is sensitive gives more" and "the longer the discount is greater", but learning a finer </a:t>
            </a:r>
            <a:r>
              <a:rPr lang="en-US" sz="1200" b="0" i="0" kern="1200" dirty="0" err="1">
                <a:solidFill>
                  <a:schemeClr val="tx1"/>
                </a:solidFill>
                <a:effectLst/>
                <a:latin typeface="Arial" panose="020B0604020202020204" pitchFamily="34" charset="0"/>
                <a:ea typeface="+mn-ea"/>
                <a:cs typeface="+mn-cs"/>
              </a:rPr>
              <a:t>function:Different</a:t>
            </a:r>
            <a:r>
              <a:rPr lang="en-US" sz="1200" b="0" i="0" kern="1200" dirty="0">
                <a:solidFill>
                  <a:schemeClr val="tx1"/>
                </a:solidFill>
                <a:effectLst/>
                <a:latin typeface="Arial" panose="020B0604020202020204" pitchFamily="34" charset="0"/>
                <a:ea typeface="+mn-ea"/>
                <a:cs typeface="+mn-cs"/>
              </a:rPr>
              <a:t> types of consumers have different optimal discount ascending paths.</a:t>
            </a:r>
          </a:p>
        </p:txBody>
      </p:sp>
      <p:sp>
        <p:nvSpPr>
          <p:cNvPr id="4" name="页眉占位符 3">
            <a:extLst>
              <a:ext uri="{FF2B5EF4-FFF2-40B4-BE49-F238E27FC236}">
                <a16:creationId xmlns:a16="http://schemas.microsoft.com/office/drawing/2014/main" id="{FDB2A9F0-C34A-9DE5-B08A-758CAD3F76E6}"/>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33908026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FD49E-58B4-208E-F249-082CD6073D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D55AA0-DCF1-BC4A-D847-BB8E93338A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E2C122-B663-96F9-7766-974945A77752}"/>
              </a:ext>
            </a:extLst>
          </p:cNvPr>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mn-cs"/>
              </a:rPr>
              <a:t>Low-spending users are more price sensitive and therefore require larger discounts, which increase more quickly over time in order to maintain </a:t>
            </a:r>
            <a:r>
              <a:rPr lang="en-US" sz="1200" b="0" i="0" kern="1200" dirty="0" err="1">
                <a:solidFill>
                  <a:schemeClr val="tx1"/>
                </a:solidFill>
                <a:effectLst/>
                <a:latin typeface="Arial" panose="020B0604020202020204" pitchFamily="34" charset="0"/>
                <a:ea typeface="+mn-ea"/>
                <a:cs typeface="+mn-cs"/>
              </a:rPr>
              <a:t>engagement.This</a:t>
            </a:r>
            <a:r>
              <a:rPr lang="en-US" sz="1200" b="0" i="0" kern="1200" dirty="0">
                <a:solidFill>
                  <a:schemeClr val="tx1"/>
                </a:solidFill>
                <a:effectLst/>
                <a:latin typeface="Arial" panose="020B0604020202020204" pitchFamily="34" charset="0"/>
                <a:ea typeface="+mn-ea"/>
                <a:cs typeface="+mn-cs"/>
              </a:rPr>
              <a:t> rule is important because it shows that BDRL is not simply stacking two rules: "Whoever is sensitive gives more" and "the longer the discount is greater", but learning a finer </a:t>
            </a:r>
            <a:r>
              <a:rPr lang="en-US" sz="1200" b="0" i="0" kern="1200" dirty="0" err="1">
                <a:solidFill>
                  <a:schemeClr val="tx1"/>
                </a:solidFill>
                <a:effectLst/>
                <a:latin typeface="Arial" panose="020B0604020202020204" pitchFamily="34" charset="0"/>
                <a:ea typeface="+mn-ea"/>
                <a:cs typeface="+mn-cs"/>
              </a:rPr>
              <a:t>function:Different</a:t>
            </a:r>
            <a:r>
              <a:rPr lang="en-US" sz="1200" b="0" i="0" kern="1200" dirty="0">
                <a:solidFill>
                  <a:schemeClr val="tx1"/>
                </a:solidFill>
                <a:effectLst/>
                <a:latin typeface="Arial" panose="020B0604020202020204" pitchFamily="34" charset="0"/>
                <a:ea typeface="+mn-ea"/>
                <a:cs typeface="+mn-cs"/>
              </a:rPr>
              <a:t> types of consumers have different optimal discount ascending paths.</a:t>
            </a:r>
          </a:p>
        </p:txBody>
      </p:sp>
      <p:sp>
        <p:nvSpPr>
          <p:cNvPr id="4" name="页眉占位符 3">
            <a:extLst>
              <a:ext uri="{FF2B5EF4-FFF2-40B4-BE49-F238E27FC236}">
                <a16:creationId xmlns:a16="http://schemas.microsoft.com/office/drawing/2014/main" id="{86201F38-0104-3BBA-03AF-A8AB0ECD809D}"/>
              </a:ext>
            </a:extLst>
          </p:cNvPr>
          <p:cNvSpPr>
            <a:spLocks noGrp="1"/>
          </p:cNvSpPr>
          <p:nvPr>
            <p:ph type="hdr" sz="quarter"/>
          </p:nvPr>
        </p:nvSpPr>
        <p:spPr/>
        <p:txBody>
          <a:bodyPr/>
          <a:lstStyle/>
          <a:p>
            <a:r>
              <a:rPr lang="en-US"/>
              <a:t>Section Title</a:t>
            </a:r>
            <a:endParaRPr lang="en-US" dirty="0"/>
          </a:p>
        </p:txBody>
      </p:sp>
    </p:spTree>
    <p:extLst>
      <p:ext uri="{BB962C8B-B14F-4D97-AF65-F5344CB8AC3E}">
        <p14:creationId xmlns:p14="http://schemas.microsoft.com/office/powerpoint/2010/main" val="15997729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descr="Diagram, text&#10;&#10;Description automatically generated"/>
          <p:cNvPicPr>
            <a:picLocks noChangeAspect="1"/>
          </p:cNvPicPr>
          <p:nvPr userDrawn="1"/>
        </p:nvPicPr>
        <p:blipFill>
          <a:blip r:embed="rId3" cstate="print"/>
          <a:stretch>
            <a:fillRect/>
          </a:stretch>
        </p:blipFill>
        <p:spPr>
          <a:xfrm>
            <a:off x="466629" y="234950"/>
            <a:ext cx="4465949" cy="781050"/>
          </a:xfrm>
          <a:prstGeom prst="rect">
            <a:avLst/>
          </a:prstGeom>
        </p:spPr>
      </p:pic>
      <p:sp>
        <p:nvSpPr>
          <p:cNvPr id="2" name="Rectangle 1"/>
          <p:cNvSpPr/>
          <p:nvPr userDrawn="1"/>
        </p:nvSpPr>
        <p:spPr>
          <a:xfrm>
            <a:off x="5950857" y="1"/>
            <a:ext cx="6241143" cy="6858000"/>
          </a:xfrm>
          <a:prstGeom prst="rect">
            <a:avLst/>
          </a:prstGeom>
          <a:solidFill>
            <a:srgbClr val="7D28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hasCustomPrompt="1"/>
          </p:nvPr>
        </p:nvSpPr>
        <p:spPr>
          <a:xfrm>
            <a:off x="441707" y="2930101"/>
            <a:ext cx="5813949" cy="2232511"/>
          </a:xfrm>
        </p:spPr>
        <p:txBody>
          <a:bodyPr anchor="t">
            <a:noAutofit/>
          </a:bodyPr>
          <a:lstStyle>
            <a:lvl1pPr algn="l">
              <a:defRPr sz="4800">
                <a:solidFill>
                  <a:schemeClr val="accent4"/>
                </a:solidFill>
                <a:latin typeface="Arial" panose="020B0604020202020204" pitchFamily="34" charset="0"/>
                <a:cs typeface="Arial" panose="020B0604020202020204" pitchFamily="34" charset="0"/>
              </a:defRPr>
            </a:lvl1pPr>
          </a:lstStyle>
          <a:p>
            <a:r>
              <a:rPr lang="en-GB" dirty="0"/>
              <a:t>Click to edit Master title</a:t>
            </a:r>
            <a:endParaRPr lang="en-US" dirty="0"/>
          </a:p>
        </p:txBody>
      </p:sp>
      <p:sp>
        <p:nvSpPr>
          <p:cNvPr id="13" name="Subtitle 2"/>
          <p:cNvSpPr>
            <a:spLocks noGrp="1"/>
          </p:cNvSpPr>
          <p:nvPr>
            <p:ph type="subTitle" idx="1" hasCustomPrompt="1"/>
          </p:nvPr>
        </p:nvSpPr>
        <p:spPr>
          <a:xfrm>
            <a:off x="441707" y="2484196"/>
            <a:ext cx="5813950" cy="275423"/>
          </a:xfrm>
        </p:spPr>
        <p:txBody>
          <a:bodyPr>
            <a:noAutofit/>
          </a:bodyPr>
          <a:lstStyle>
            <a:lvl1pPr marL="0" indent="0" algn="l">
              <a:buNone/>
              <a:defRPr sz="1800">
                <a:solidFill>
                  <a:schemeClr val="bg1"/>
                </a:solidFill>
                <a:latin typeface="+mj-lt"/>
                <a:ea typeface="Microsoft JhengHei" panose="020B0604030504040204" pitchFamily="34" charset="-12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a:t>
            </a:r>
            <a:endParaRPr lang="en-US" dirty="0"/>
          </a:p>
        </p:txBody>
      </p:sp>
      <p:sp>
        <p:nvSpPr>
          <p:cNvPr id="32" name="Date Placeholder 31"/>
          <p:cNvSpPr>
            <a:spLocks noGrp="1"/>
          </p:cNvSpPr>
          <p:nvPr>
            <p:ph type="dt" sz="half" idx="10"/>
          </p:nvPr>
        </p:nvSpPr>
        <p:spPr>
          <a:xfrm>
            <a:off x="429586" y="6356350"/>
            <a:ext cx="2743200" cy="365125"/>
          </a:xfrm>
        </p:spPr>
        <p:txBody>
          <a:bodyPr/>
          <a:lstStyle>
            <a:lvl1pPr>
              <a:defRPr>
                <a:solidFill>
                  <a:schemeClr val="accent4"/>
                </a:solidFill>
                <a:latin typeface="Arial" panose="020B0604020202020204" pitchFamily="34" charset="0"/>
                <a:cs typeface="Arial" panose="020B0604020202020204" pitchFamily="34" charset="0"/>
              </a:defRPr>
            </a:lvl1pPr>
          </a:lstStyle>
          <a:p>
            <a:fld id="{413D1F58-D3D3-4849-B7BE-D4798A976CD7}" type="datetime3">
              <a:rPr lang="en-US" smtClean="0"/>
              <a:t>10 March 2026</a:t>
            </a:fld>
            <a:endParaRPr lang="en-US" dirty="0"/>
          </a:p>
        </p:txBody>
      </p:sp>
      <p:pic>
        <p:nvPicPr>
          <p:cNvPr id="7" name="Picture 6" descr="Icon&#10;&#10;Description automatically generated with medium confidence"/>
          <p:cNvPicPr>
            <a:picLocks noChangeAspect="1"/>
          </p:cNvPicPr>
          <p:nvPr userDrawn="1"/>
        </p:nvPicPr>
        <p:blipFill rotWithShape="1">
          <a:blip r:embed="rId4" cstate="hqprint">
            <a:alphaModFix amt="10000"/>
          </a:blip>
          <a:srcRect/>
          <a:stretch>
            <a:fillRect/>
          </a:stretch>
        </p:blipFill>
        <p:spPr>
          <a:xfrm>
            <a:off x="6629636" y="685801"/>
            <a:ext cx="5562364" cy="617219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Image - Gold">
    <p:bg>
      <p:bgPr>
        <a:solidFill>
          <a:schemeClr val="accent4"/>
        </a:solidFill>
        <a:effectLst/>
      </p:bgPr>
    </p:bg>
    <p:spTree>
      <p:nvGrpSpPr>
        <p:cNvPr id="1" name=""/>
        <p:cNvGrpSpPr/>
        <p:nvPr/>
      </p:nvGrpSpPr>
      <p:grpSpPr>
        <a:xfrm>
          <a:off x="0" y="0"/>
          <a:ext cx="0" cy="0"/>
          <a:chOff x="0" y="0"/>
          <a:chExt cx="0" cy="0"/>
        </a:xfrm>
      </p:grpSpPr>
      <p:pic>
        <p:nvPicPr>
          <p:cNvPr id="7" name="Picture 6" descr="Diagram, text&#10;&#10;Description automatically generated"/>
          <p:cNvPicPr>
            <a:picLocks noChangeAspect="1"/>
          </p:cNvPicPr>
          <p:nvPr userDrawn="1"/>
        </p:nvPicPr>
        <p:blipFill>
          <a:blip r:embed="rId2" cstate="print"/>
          <a:stretch>
            <a:fillRect/>
          </a:stretch>
        </p:blipFill>
        <p:spPr>
          <a:xfrm>
            <a:off x="6517916" y="234950"/>
            <a:ext cx="4465949" cy="781050"/>
          </a:xfrm>
          <a:prstGeom prst="rect">
            <a:avLst/>
          </a:prstGeom>
        </p:spPr>
      </p:pic>
      <p:sp>
        <p:nvSpPr>
          <p:cNvPr id="17" name="Picture Placeholder 16"/>
          <p:cNvSpPr>
            <a:spLocks noGrp="1"/>
          </p:cNvSpPr>
          <p:nvPr>
            <p:ph type="pic" sz="quarter" idx="11" hasCustomPrompt="1"/>
          </p:nvPr>
        </p:nvSpPr>
        <p:spPr>
          <a:xfrm>
            <a:off x="0" y="0"/>
            <a:ext cx="6096000" cy="6858000"/>
          </a:xfrm>
          <a:solidFill>
            <a:schemeClr val="accent1"/>
          </a:solidFill>
        </p:spPr>
        <p:txBody>
          <a:bodyPr/>
          <a:lstStyle>
            <a:lvl1pPr marL="0" indent="0" algn="r">
              <a:buNone/>
              <a:defRPr>
                <a:solidFill>
                  <a:schemeClr val="bg1"/>
                </a:solidFill>
              </a:defRPr>
            </a:lvl1pPr>
          </a:lstStyle>
          <a:p>
            <a:r>
              <a:rPr lang="en-US" dirty="0"/>
              <a:t>Picture</a:t>
            </a:r>
          </a:p>
        </p:txBody>
      </p:sp>
      <p:sp>
        <p:nvSpPr>
          <p:cNvPr id="10" name="Title 1"/>
          <p:cNvSpPr>
            <a:spLocks noGrp="1"/>
          </p:cNvSpPr>
          <p:nvPr>
            <p:ph type="ctrTitle" hasCustomPrompt="1"/>
          </p:nvPr>
        </p:nvSpPr>
        <p:spPr>
          <a:xfrm>
            <a:off x="6486908" y="2930101"/>
            <a:ext cx="4612128" cy="2232511"/>
          </a:xfrm>
        </p:spPr>
        <p:txBody>
          <a:bodyPr anchor="t">
            <a:noAutofit/>
          </a:bodyPr>
          <a:lstStyle>
            <a:lvl1pPr algn="l">
              <a:defRPr sz="4800">
                <a:solidFill>
                  <a:schemeClr val="accent1"/>
                </a:solidFill>
                <a:latin typeface="Arial" panose="020B0604020202020204" pitchFamily="34" charset="0"/>
              </a:defRPr>
            </a:lvl1pPr>
          </a:lstStyle>
          <a:p>
            <a:r>
              <a:rPr lang="en-GB" dirty="0"/>
              <a:t>Click to edit Master title</a:t>
            </a:r>
            <a:endParaRPr lang="en-US" dirty="0"/>
          </a:p>
        </p:txBody>
      </p:sp>
      <p:sp>
        <p:nvSpPr>
          <p:cNvPr id="11" name="Subtitle 2"/>
          <p:cNvSpPr>
            <a:spLocks noGrp="1"/>
          </p:cNvSpPr>
          <p:nvPr>
            <p:ph type="subTitle" idx="1" hasCustomPrompt="1"/>
          </p:nvPr>
        </p:nvSpPr>
        <p:spPr>
          <a:xfrm>
            <a:off x="6486907" y="2484196"/>
            <a:ext cx="4612129" cy="275423"/>
          </a:xfrm>
        </p:spPr>
        <p:txBody>
          <a:bodyPr>
            <a:noAutofit/>
          </a:bodyPr>
          <a:lstStyle>
            <a:lvl1pPr marL="0" indent="0" algn="l">
              <a:buNone/>
              <a:defRPr sz="1800">
                <a:solidFill>
                  <a:schemeClr val="bg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a:t>
            </a:r>
            <a:endParaRPr lang="en-US" dirty="0"/>
          </a:p>
        </p:txBody>
      </p:sp>
      <p:sp>
        <p:nvSpPr>
          <p:cNvPr id="12" name="Date Placeholder 31"/>
          <p:cNvSpPr>
            <a:spLocks noGrp="1"/>
          </p:cNvSpPr>
          <p:nvPr>
            <p:ph type="dt" sz="half" idx="10"/>
          </p:nvPr>
        </p:nvSpPr>
        <p:spPr>
          <a:xfrm>
            <a:off x="6474786" y="6356350"/>
            <a:ext cx="2743200" cy="365125"/>
          </a:xfrm>
        </p:spPr>
        <p:txBody>
          <a:bodyPr/>
          <a:lstStyle>
            <a:lvl1pPr>
              <a:defRPr>
                <a:solidFill>
                  <a:schemeClr val="accent1"/>
                </a:solidFill>
                <a:latin typeface="Arial" panose="020B0604020202020204" pitchFamily="34" charset="0"/>
              </a:defRPr>
            </a:lvl1pPr>
          </a:lstStyle>
          <a:p>
            <a:fld id="{413D1F58-D3D3-4849-B7BE-D4798A976CD7}" type="datetime3">
              <a:rPr lang="en-US" smtClean="0"/>
              <a:t>10 March 2026</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 Image - Purple">
    <p:bg>
      <p:bgPr>
        <a:solidFill>
          <a:schemeClr val="accent1"/>
        </a:solidFill>
        <a:effectLst/>
      </p:bgPr>
    </p:bg>
    <p:spTree>
      <p:nvGrpSpPr>
        <p:cNvPr id="1" name=""/>
        <p:cNvGrpSpPr/>
        <p:nvPr/>
      </p:nvGrpSpPr>
      <p:grpSpPr>
        <a:xfrm>
          <a:off x="0" y="0"/>
          <a:ext cx="0" cy="0"/>
          <a:chOff x="0" y="0"/>
          <a:chExt cx="0" cy="0"/>
        </a:xfrm>
      </p:grpSpPr>
      <p:sp>
        <p:nvSpPr>
          <p:cNvPr id="17" name="Picture Placeholder 16"/>
          <p:cNvSpPr>
            <a:spLocks noGrp="1"/>
          </p:cNvSpPr>
          <p:nvPr>
            <p:ph type="pic" sz="quarter" idx="11" hasCustomPrompt="1"/>
          </p:nvPr>
        </p:nvSpPr>
        <p:spPr>
          <a:xfrm>
            <a:off x="0" y="0"/>
            <a:ext cx="6096000" cy="6858000"/>
          </a:xfrm>
          <a:solidFill>
            <a:schemeClr val="accent4"/>
          </a:solidFill>
        </p:spPr>
        <p:txBody>
          <a:bodyPr/>
          <a:lstStyle>
            <a:lvl1pPr marL="0" indent="0" algn="r">
              <a:buNone/>
              <a:defRPr>
                <a:solidFill>
                  <a:schemeClr val="bg1"/>
                </a:solidFill>
              </a:defRPr>
            </a:lvl1pPr>
          </a:lstStyle>
          <a:p>
            <a:r>
              <a:rPr lang="en-US" dirty="0"/>
              <a:t>Picture</a:t>
            </a:r>
          </a:p>
        </p:txBody>
      </p:sp>
      <p:sp>
        <p:nvSpPr>
          <p:cNvPr id="10" name="Title 1"/>
          <p:cNvSpPr>
            <a:spLocks noGrp="1"/>
          </p:cNvSpPr>
          <p:nvPr>
            <p:ph type="ctrTitle" hasCustomPrompt="1"/>
          </p:nvPr>
        </p:nvSpPr>
        <p:spPr>
          <a:xfrm>
            <a:off x="6486908" y="2930101"/>
            <a:ext cx="4612128" cy="2232511"/>
          </a:xfrm>
        </p:spPr>
        <p:txBody>
          <a:bodyPr anchor="t">
            <a:noAutofit/>
          </a:bodyPr>
          <a:lstStyle>
            <a:lvl1pPr algn="l">
              <a:defRPr sz="4800">
                <a:solidFill>
                  <a:schemeClr val="accent4"/>
                </a:solidFill>
                <a:latin typeface="+mj-lt"/>
              </a:defRPr>
            </a:lvl1pPr>
          </a:lstStyle>
          <a:p>
            <a:r>
              <a:rPr lang="en-GB" dirty="0"/>
              <a:t>Click to edit Master title</a:t>
            </a:r>
            <a:endParaRPr lang="en-US" dirty="0"/>
          </a:p>
        </p:txBody>
      </p:sp>
      <p:sp>
        <p:nvSpPr>
          <p:cNvPr id="11" name="Subtitle 2"/>
          <p:cNvSpPr>
            <a:spLocks noGrp="1"/>
          </p:cNvSpPr>
          <p:nvPr>
            <p:ph type="subTitle" idx="1" hasCustomPrompt="1"/>
          </p:nvPr>
        </p:nvSpPr>
        <p:spPr>
          <a:xfrm>
            <a:off x="6486907" y="2484196"/>
            <a:ext cx="4612129" cy="275423"/>
          </a:xfrm>
        </p:spPr>
        <p:txBody>
          <a:bodyPr>
            <a:no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a:t>
            </a:r>
            <a:endParaRPr lang="en-US" dirty="0"/>
          </a:p>
        </p:txBody>
      </p:sp>
      <p:sp>
        <p:nvSpPr>
          <p:cNvPr id="12" name="Date Placeholder 31"/>
          <p:cNvSpPr>
            <a:spLocks noGrp="1"/>
          </p:cNvSpPr>
          <p:nvPr>
            <p:ph type="dt" sz="half" idx="10"/>
          </p:nvPr>
        </p:nvSpPr>
        <p:spPr>
          <a:xfrm>
            <a:off x="6474786" y="6356350"/>
            <a:ext cx="2743200" cy="365125"/>
          </a:xfrm>
        </p:spPr>
        <p:txBody>
          <a:bodyPr/>
          <a:lstStyle>
            <a:lvl1pPr>
              <a:defRPr>
                <a:solidFill>
                  <a:schemeClr val="accent4"/>
                </a:solidFill>
                <a:latin typeface="+mj-lt"/>
              </a:defRPr>
            </a:lvl1pPr>
          </a:lstStyle>
          <a:p>
            <a:fld id="{413D1F58-D3D3-4849-B7BE-D4798A976CD7}" type="datetime3">
              <a:rPr lang="en-US" smtClean="0"/>
              <a:t>10 March 2026</a:t>
            </a:fld>
            <a:endParaRPr lang="en-US" dirty="0"/>
          </a:p>
        </p:txBody>
      </p:sp>
      <p:pic>
        <p:nvPicPr>
          <p:cNvPr id="7" name="Picture 6" descr="Diagram, text&#10;&#10;Description automatically generated"/>
          <p:cNvPicPr>
            <a:picLocks noChangeAspect="1"/>
          </p:cNvPicPr>
          <p:nvPr userDrawn="1"/>
        </p:nvPicPr>
        <p:blipFill>
          <a:blip r:embed="rId2" cstate="print"/>
          <a:stretch>
            <a:fillRect/>
          </a:stretch>
        </p:blipFill>
        <p:spPr>
          <a:xfrm>
            <a:off x="6517916" y="234950"/>
            <a:ext cx="4465949" cy="781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with Imagery - Purple">
    <p:bg>
      <p:bgPr>
        <a:solidFill>
          <a:schemeClr val="accent1"/>
        </a:solidFill>
        <a:effectLst/>
      </p:bgPr>
    </p:bg>
    <p:spTree>
      <p:nvGrpSpPr>
        <p:cNvPr id="1" name=""/>
        <p:cNvGrpSpPr/>
        <p:nvPr/>
      </p:nvGrpSpPr>
      <p:grpSpPr>
        <a:xfrm>
          <a:off x="0" y="0"/>
          <a:ext cx="0" cy="0"/>
          <a:chOff x="0" y="0"/>
          <a:chExt cx="0" cy="0"/>
        </a:xfrm>
      </p:grpSpPr>
      <p:cxnSp>
        <p:nvCxnSpPr>
          <p:cNvPr id="6" name="Straight Connector 5"/>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8" name="Title 1"/>
          <p:cNvSpPr>
            <a:spLocks noGrp="1"/>
          </p:cNvSpPr>
          <p:nvPr>
            <p:ph type="ctrTitle"/>
          </p:nvPr>
        </p:nvSpPr>
        <p:spPr>
          <a:xfrm>
            <a:off x="6459965" y="1354764"/>
            <a:ext cx="4955544" cy="1506491"/>
          </a:xfrm>
        </p:spPr>
        <p:txBody>
          <a:bodyPr anchor="t">
            <a:noAutofit/>
          </a:bodyPr>
          <a:lstStyle>
            <a:lvl1pPr algn="l">
              <a:defRPr sz="4800">
                <a:solidFill>
                  <a:schemeClr val="accent4"/>
                </a:solidFill>
                <a:latin typeface="+mj-lt"/>
              </a:defRPr>
            </a:lvl1pPr>
          </a:lstStyle>
          <a:p>
            <a:r>
              <a:rPr lang="en-GB" dirty="0"/>
              <a:t>Click to edit Master title style</a:t>
            </a:r>
            <a:endParaRPr lang="en-US" dirty="0"/>
          </a:p>
        </p:txBody>
      </p:sp>
      <p:sp>
        <p:nvSpPr>
          <p:cNvPr id="9" name="Subtitle 2"/>
          <p:cNvSpPr>
            <a:spLocks noGrp="1"/>
          </p:cNvSpPr>
          <p:nvPr>
            <p:ph type="subTitle" idx="1"/>
          </p:nvPr>
        </p:nvSpPr>
        <p:spPr>
          <a:xfrm>
            <a:off x="6455015" y="2888341"/>
            <a:ext cx="4955544" cy="1655762"/>
          </a:xfrm>
        </p:spPr>
        <p:txBody>
          <a:bodyPr anchor="t">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1" name="Date Placeholder 3"/>
          <p:cNvSpPr>
            <a:spLocks noGrp="1"/>
          </p:cNvSpPr>
          <p:nvPr>
            <p:ph type="dt" sz="half" idx="10"/>
          </p:nvPr>
        </p:nvSpPr>
        <p:spPr>
          <a:xfrm>
            <a:off x="6455015" y="6356350"/>
            <a:ext cx="2743200" cy="365125"/>
          </a:xfrm>
        </p:spPr>
        <p:txBody>
          <a:bodyPr/>
          <a:lstStyle>
            <a:lvl1pPr>
              <a:defRPr>
                <a:solidFill>
                  <a:schemeClr val="accent4"/>
                </a:solidFill>
                <a:latin typeface="+mj-lt"/>
              </a:defRPr>
            </a:lvl1pPr>
          </a:lstStyle>
          <a:p>
            <a:fld id="{42F52892-D1D9-9E41-97AE-185544678A11}" type="datetime3">
              <a:rPr lang="en-US" smtClean="0"/>
              <a:t>10 March 2026</a:t>
            </a:fld>
            <a:endParaRPr lang="en-US" dirty="0"/>
          </a:p>
        </p:txBody>
      </p:sp>
      <p:sp>
        <p:nvSpPr>
          <p:cNvPr id="2" name="Picture Placeholder 16"/>
          <p:cNvSpPr>
            <a:spLocks noGrp="1"/>
          </p:cNvSpPr>
          <p:nvPr>
            <p:ph type="pic" sz="quarter" idx="11" hasCustomPrompt="1"/>
          </p:nvPr>
        </p:nvSpPr>
        <p:spPr>
          <a:xfrm>
            <a:off x="0" y="0"/>
            <a:ext cx="6096000" cy="6858000"/>
          </a:xfrm>
          <a:noFill/>
        </p:spPr>
        <p:txBody>
          <a:bodyPr/>
          <a:lstStyle>
            <a:lvl1pPr marL="0" indent="0" algn="r">
              <a:buNone/>
              <a:defRPr>
                <a:solidFill>
                  <a:schemeClr val="bg1"/>
                </a:solidFill>
              </a:defRPr>
            </a:lvl1pPr>
          </a:lstStyle>
          <a:p>
            <a:r>
              <a:rPr lang="en-US" dirty="0"/>
              <a:t>Picture</a:t>
            </a:r>
          </a:p>
        </p:txBody>
      </p:sp>
      <p:pic>
        <p:nvPicPr>
          <p:cNvPr id="10" name="Picture 9" descr="A picture containing text, clipart&#10;&#10;Description automatically generated"/>
          <p:cNvPicPr>
            <a:picLocks noChangeAspect="1"/>
          </p:cNvPicPr>
          <p:nvPr userDrawn="1"/>
        </p:nvPicPr>
        <p:blipFill>
          <a:blip r:embed="rId2" cstate="print"/>
          <a:stretch>
            <a:fillRect/>
          </a:stretch>
        </p:blipFill>
        <p:spPr>
          <a:xfrm>
            <a:off x="10909464" y="163196"/>
            <a:ext cx="1098356" cy="51206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with Imagery - Gold">
    <p:bg>
      <p:bgPr>
        <a:solidFill>
          <a:schemeClr val="accent4"/>
        </a:solidFill>
        <a:effectLst/>
      </p:bgPr>
    </p:bg>
    <p:spTree>
      <p:nvGrpSpPr>
        <p:cNvPr id="1" name=""/>
        <p:cNvGrpSpPr/>
        <p:nvPr/>
      </p:nvGrpSpPr>
      <p:grpSpPr>
        <a:xfrm>
          <a:off x="0" y="0"/>
          <a:ext cx="0" cy="0"/>
          <a:chOff x="0" y="0"/>
          <a:chExt cx="0" cy="0"/>
        </a:xfrm>
      </p:grpSpPr>
      <p:cxnSp>
        <p:nvCxnSpPr>
          <p:cNvPr id="4" name="Straight Connector 3"/>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itle 1"/>
          <p:cNvSpPr>
            <a:spLocks noGrp="1"/>
          </p:cNvSpPr>
          <p:nvPr>
            <p:ph type="ctrTitle"/>
          </p:nvPr>
        </p:nvSpPr>
        <p:spPr>
          <a:xfrm>
            <a:off x="6459965" y="1354764"/>
            <a:ext cx="4955544" cy="1506491"/>
          </a:xfrm>
        </p:spPr>
        <p:txBody>
          <a:bodyPr anchor="t">
            <a:noAutofit/>
          </a:bodyPr>
          <a:lstStyle>
            <a:lvl1pPr algn="l">
              <a:defRPr sz="4800">
                <a:solidFill>
                  <a:schemeClr val="accent1"/>
                </a:solidFill>
                <a:latin typeface="+mj-lt"/>
              </a:defRPr>
            </a:lvl1pPr>
          </a:lstStyle>
          <a:p>
            <a:r>
              <a:rPr lang="en-GB" dirty="0"/>
              <a:t>Click to edit Master title style</a:t>
            </a:r>
            <a:endParaRPr lang="en-US" dirty="0"/>
          </a:p>
        </p:txBody>
      </p:sp>
      <p:sp>
        <p:nvSpPr>
          <p:cNvPr id="8" name="Subtitle 2"/>
          <p:cNvSpPr>
            <a:spLocks noGrp="1"/>
          </p:cNvSpPr>
          <p:nvPr>
            <p:ph type="subTitle" idx="1"/>
          </p:nvPr>
        </p:nvSpPr>
        <p:spPr>
          <a:xfrm>
            <a:off x="6455015" y="2888341"/>
            <a:ext cx="4955544" cy="1655762"/>
          </a:xfrm>
        </p:spPr>
        <p:txBody>
          <a:bodyPr anchor="t">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0" name="Date Placeholder 3"/>
          <p:cNvSpPr>
            <a:spLocks noGrp="1"/>
          </p:cNvSpPr>
          <p:nvPr>
            <p:ph type="dt" sz="half" idx="10"/>
          </p:nvPr>
        </p:nvSpPr>
        <p:spPr>
          <a:xfrm>
            <a:off x="6455015" y="6356350"/>
            <a:ext cx="2743200" cy="365125"/>
          </a:xfrm>
        </p:spPr>
        <p:txBody>
          <a:bodyPr/>
          <a:lstStyle>
            <a:lvl1pPr>
              <a:defRPr>
                <a:solidFill>
                  <a:schemeClr val="accent1"/>
                </a:solidFill>
                <a:latin typeface="+mj-lt"/>
              </a:defRPr>
            </a:lvl1pPr>
          </a:lstStyle>
          <a:p>
            <a:fld id="{42F52892-D1D9-9E41-97AE-185544678A11}" type="datetime3">
              <a:rPr lang="en-US" smtClean="0"/>
              <a:t>10 March 2026</a:t>
            </a:fld>
            <a:endParaRPr lang="en-US" dirty="0"/>
          </a:p>
        </p:txBody>
      </p:sp>
      <p:sp>
        <p:nvSpPr>
          <p:cNvPr id="2" name="Picture Placeholder 16"/>
          <p:cNvSpPr>
            <a:spLocks noGrp="1"/>
          </p:cNvSpPr>
          <p:nvPr>
            <p:ph type="pic" sz="quarter" idx="11" hasCustomPrompt="1"/>
          </p:nvPr>
        </p:nvSpPr>
        <p:spPr>
          <a:xfrm>
            <a:off x="0" y="0"/>
            <a:ext cx="6096000" cy="6858000"/>
          </a:xfrm>
          <a:noFill/>
        </p:spPr>
        <p:txBody>
          <a:bodyPr/>
          <a:lstStyle>
            <a:lvl1pPr marL="0" indent="0" algn="r">
              <a:buNone/>
              <a:defRPr>
                <a:solidFill>
                  <a:schemeClr val="bg1"/>
                </a:solidFill>
              </a:defRPr>
            </a:lvl1pPr>
          </a:lstStyle>
          <a:p>
            <a:r>
              <a:rPr lang="en-US" dirty="0"/>
              <a:t>Picture</a:t>
            </a:r>
          </a:p>
        </p:txBody>
      </p:sp>
      <p:pic>
        <p:nvPicPr>
          <p:cNvPr id="12" name="Picture 11" descr="A picture containing text, clipart&#10;&#10;Description automatically generated"/>
          <p:cNvPicPr>
            <a:picLocks noChangeAspect="1"/>
          </p:cNvPicPr>
          <p:nvPr userDrawn="1"/>
        </p:nvPicPr>
        <p:blipFill>
          <a:blip r:embed="rId2" cstate="print"/>
          <a:stretch>
            <a:fillRect/>
          </a:stretch>
        </p:blipFill>
        <p:spPr>
          <a:xfrm>
            <a:off x="10943968" y="163196"/>
            <a:ext cx="1098356" cy="51206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with Imagery - Grey">
    <p:bg>
      <p:bgPr>
        <a:solidFill>
          <a:schemeClr val="bg1">
            <a:lumMod val="75000"/>
          </a:schemeClr>
        </a:solidFill>
        <a:effectLst/>
      </p:bgPr>
    </p:bg>
    <p:spTree>
      <p:nvGrpSpPr>
        <p:cNvPr id="1" name=""/>
        <p:cNvGrpSpPr/>
        <p:nvPr/>
      </p:nvGrpSpPr>
      <p:grpSpPr>
        <a:xfrm>
          <a:off x="0" y="0"/>
          <a:ext cx="0" cy="0"/>
          <a:chOff x="0" y="0"/>
          <a:chExt cx="0" cy="0"/>
        </a:xfrm>
      </p:grpSpPr>
      <p:cxnSp>
        <p:nvCxnSpPr>
          <p:cNvPr id="5" name="Straight Connector 4"/>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6" name="Title 1"/>
          <p:cNvSpPr>
            <a:spLocks noGrp="1"/>
          </p:cNvSpPr>
          <p:nvPr>
            <p:ph type="ctrTitle"/>
          </p:nvPr>
        </p:nvSpPr>
        <p:spPr>
          <a:xfrm>
            <a:off x="6459965" y="1354764"/>
            <a:ext cx="4955544" cy="1506491"/>
          </a:xfrm>
        </p:spPr>
        <p:txBody>
          <a:bodyPr anchor="t">
            <a:noAutofit/>
          </a:bodyPr>
          <a:lstStyle>
            <a:lvl1pPr algn="l">
              <a:defRPr sz="4800">
                <a:solidFill>
                  <a:schemeClr val="accent1"/>
                </a:solidFill>
                <a:latin typeface="+mj-lt"/>
              </a:defRPr>
            </a:lvl1pPr>
          </a:lstStyle>
          <a:p>
            <a:r>
              <a:rPr lang="en-GB" dirty="0"/>
              <a:t>Click to edit Master title style</a:t>
            </a:r>
            <a:endParaRPr lang="en-US" dirty="0"/>
          </a:p>
        </p:txBody>
      </p:sp>
      <p:sp>
        <p:nvSpPr>
          <p:cNvPr id="7" name="Subtitle 2"/>
          <p:cNvSpPr>
            <a:spLocks noGrp="1"/>
          </p:cNvSpPr>
          <p:nvPr>
            <p:ph type="subTitle" idx="1"/>
          </p:nvPr>
        </p:nvSpPr>
        <p:spPr>
          <a:xfrm>
            <a:off x="6455015" y="2888341"/>
            <a:ext cx="4955544" cy="1655762"/>
          </a:xfrm>
        </p:spPr>
        <p:txBody>
          <a:bodyPr anchor="t">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8" name="Date Placeholder 3"/>
          <p:cNvSpPr>
            <a:spLocks noGrp="1"/>
          </p:cNvSpPr>
          <p:nvPr>
            <p:ph type="dt" sz="half" idx="10"/>
          </p:nvPr>
        </p:nvSpPr>
        <p:spPr>
          <a:xfrm>
            <a:off x="6455015" y="6356350"/>
            <a:ext cx="2743200" cy="365125"/>
          </a:xfrm>
        </p:spPr>
        <p:txBody>
          <a:bodyPr/>
          <a:lstStyle>
            <a:lvl1pPr>
              <a:defRPr>
                <a:solidFill>
                  <a:schemeClr val="accent1"/>
                </a:solidFill>
                <a:latin typeface="+mj-lt"/>
              </a:defRPr>
            </a:lvl1pPr>
          </a:lstStyle>
          <a:p>
            <a:fld id="{42F52892-D1D9-9E41-97AE-185544678A11}" type="datetime3">
              <a:rPr lang="en-US" smtClean="0"/>
              <a:t>10 March 2026</a:t>
            </a:fld>
            <a:endParaRPr lang="en-US" dirty="0"/>
          </a:p>
        </p:txBody>
      </p:sp>
      <p:sp>
        <p:nvSpPr>
          <p:cNvPr id="3" name="Picture Placeholder 16"/>
          <p:cNvSpPr>
            <a:spLocks noGrp="1"/>
          </p:cNvSpPr>
          <p:nvPr>
            <p:ph type="pic" sz="quarter" idx="11" hasCustomPrompt="1"/>
          </p:nvPr>
        </p:nvSpPr>
        <p:spPr>
          <a:xfrm>
            <a:off x="0" y="0"/>
            <a:ext cx="6096000" cy="6858000"/>
          </a:xfrm>
          <a:noFill/>
        </p:spPr>
        <p:txBody>
          <a:bodyPr/>
          <a:lstStyle>
            <a:lvl1pPr marL="0" indent="0" algn="r">
              <a:buNone/>
              <a:defRPr>
                <a:solidFill>
                  <a:schemeClr val="bg1"/>
                </a:solidFill>
              </a:defRPr>
            </a:lvl1pPr>
          </a:lstStyle>
          <a:p>
            <a:r>
              <a:rPr lang="en-US" dirty="0"/>
              <a:t>Picture</a:t>
            </a:r>
          </a:p>
        </p:txBody>
      </p:sp>
      <p:pic>
        <p:nvPicPr>
          <p:cNvPr id="10" name="Picture 9"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 Purple">
    <p:bg>
      <p:bgPr>
        <a:solidFill>
          <a:schemeClr val="accent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lIns="0"/>
          <a:lstStyle>
            <a:lvl1pPr>
              <a:defRPr>
                <a:solidFill>
                  <a:schemeClr val="accent4"/>
                </a:solidFill>
                <a:latin typeface="+mj-lt"/>
              </a:defRPr>
            </a:lvl1pPr>
          </a:lstStyle>
          <a:p>
            <a:fld id="{3E83767F-755E-6748-AD6F-27B3538221CE}" type="datetime3">
              <a:rPr lang="en-US" smtClean="0"/>
              <a:t>10 March 2026</a:t>
            </a:fld>
            <a:endParaRPr lang="en-US" dirty="0"/>
          </a:p>
        </p:txBody>
      </p:sp>
      <p:sp>
        <p:nvSpPr>
          <p:cNvPr id="11" name="Slide Number Placeholder 5"/>
          <p:cNvSpPr>
            <a:spLocks noGrp="1"/>
          </p:cNvSpPr>
          <p:nvPr>
            <p:ph type="sldNum" sz="quarter" idx="12"/>
          </p:nvPr>
        </p:nvSpPr>
        <p:spPr>
          <a:xfrm>
            <a:off x="9303195" y="6356350"/>
            <a:ext cx="2743200" cy="365125"/>
          </a:xfrm>
        </p:spPr>
        <p:txBody>
          <a:bodyPr/>
          <a:lstStyle>
            <a:lvl1pPr>
              <a:defRPr>
                <a:solidFill>
                  <a:schemeClr val="bg1"/>
                </a:solidFill>
                <a:latin typeface="+mj-lt"/>
              </a:defRPr>
            </a:lvl1pPr>
          </a:lstStyle>
          <a:p>
            <a:fld id="{7EB81B2B-FE88-CD45-B1AD-F9ACA635D2C8}" type="slidenum">
              <a:rPr lang="en-US" smtClean="0"/>
              <a:t>‹#›</a:t>
            </a:fld>
            <a:endParaRPr lang="en-US"/>
          </a:p>
        </p:txBody>
      </p:sp>
      <p:sp>
        <p:nvSpPr>
          <p:cNvPr id="16" name="Title 1"/>
          <p:cNvSpPr>
            <a:spLocks noGrp="1"/>
          </p:cNvSpPr>
          <p:nvPr>
            <p:ph type="ctrTitle"/>
          </p:nvPr>
        </p:nvSpPr>
        <p:spPr>
          <a:xfrm>
            <a:off x="397981" y="1339784"/>
            <a:ext cx="8405360" cy="813331"/>
          </a:xfrm>
        </p:spPr>
        <p:txBody>
          <a:bodyPr lIns="0" anchor="t">
            <a:normAutofit/>
          </a:bodyPr>
          <a:lstStyle>
            <a:lvl1pPr algn="l">
              <a:defRPr sz="4800">
                <a:solidFill>
                  <a:schemeClr val="accent4"/>
                </a:solidFill>
                <a:latin typeface="+mj-lt"/>
              </a:defRPr>
            </a:lvl1pPr>
          </a:lstStyle>
          <a:p>
            <a:r>
              <a:rPr lang="en-GB" dirty="0"/>
              <a:t>Click to edit Master title style</a:t>
            </a:r>
            <a:endParaRPr lang="en-US" dirty="0"/>
          </a:p>
        </p:txBody>
      </p:sp>
      <p:sp>
        <p:nvSpPr>
          <p:cNvPr id="17" name="Subtitle 2"/>
          <p:cNvSpPr>
            <a:spLocks noGrp="1"/>
          </p:cNvSpPr>
          <p:nvPr>
            <p:ph type="subTitle" idx="1"/>
          </p:nvPr>
        </p:nvSpPr>
        <p:spPr>
          <a:xfrm>
            <a:off x="397980" y="2236546"/>
            <a:ext cx="4855337" cy="813331"/>
          </a:xfrm>
        </p:spPr>
        <p:txBody>
          <a:bodyPr lIns="0">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cxnSp>
        <p:nvCxnSpPr>
          <p:cNvPr id="7" name="Straight Connector 6"/>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8" name="Picture 7" descr="A picture containing text, clipart&#10;&#10;Description automatically generated"/>
          <p:cNvPicPr>
            <a:picLocks noChangeAspect="1"/>
          </p:cNvPicPr>
          <p:nvPr userDrawn="1"/>
        </p:nvPicPr>
        <p:blipFill>
          <a:blip r:embed="rId2" cstate="print"/>
          <a:stretch>
            <a:fillRect/>
          </a:stretch>
        </p:blipFill>
        <p:spPr>
          <a:xfrm>
            <a:off x="10909464" y="163196"/>
            <a:ext cx="1098356" cy="51206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 Gold">
    <p:bg>
      <p:bgPr>
        <a:solidFill>
          <a:schemeClr val="accent4"/>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lIns="0"/>
          <a:lstStyle>
            <a:lvl1pPr>
              <a:defRPr>
                <a:solidFill>
                  <a:schemeClr val="accent1"/>
                </a:solidFill>
                <a:latin typeface="+mj-lt"/>
              </a:defRPr>
            </a:lvl1pPr>
          </a:lstStyle>
          <a:p>
            <a:fld id="{42F52892-D1D9-9E41-97AE-185544678A11}" type="datetime3">
              <a:rPr lang="en-US" smtClean="0"/>
              <a:t>10 March 2026</a:t>
            </a:fld>
            <a:endParaRPr lang="en-US" dirty="0"/>
          </a:p>
        </p:txBody>
      </p:sp>
      <p:sp>
        <p:nvSpPr>
          <p:cNvPr id="6" name="Slide Number Placeholder 5"/>
          <p:cNvSpPr>
            <a:spLocks noGrp="1"/>
          </p:cNvSpPr>
          <p:nvPr>
            <p:ph type="sldNum" sz="quarter" idx="12"/>
          </p:nvPr>
        </p:nvSpPr>
        <p:spPr>
          <a:xfrm>
            <a:off x="9303195" y="6356350"/>
            <a:ext cx="2743200" cy="365125"/>
          </a:xfrm>
          <a:prstGeom prst="rect">
            <a:avLst/>
          </a:prstGeom>
        </p:spPr>
        <p:txBody>
          <a:bodyPr/>
          <a:lstStyle>
            <a:lvl1pPr>
              <a:defRPr>
                <a:solidFill>
                  <a:schemeClr val="bg1"/>
                </a:solidFill>
                <a:latin typeface="+mj-lt"/>
              </a:defRPr>
            </a:lvl1pPr>
          </a:lstStyle>
          <a:p>
            <a:fld id="{7EB81B2B-FE88-CD45-B1AD-F9ACA635D2C8}" type="slidenum">
              <a:rPr lang="en-US" smtClean="0"/>
              <a:t>‹#›</a:t>
            </a:fld>
            <a:endParaRPr lang="en-US"/>
          </a:p>
        </p:txBody>
      </p:sp>
      <p:cxnSp>
        <p:nvCxnSpPr>
          <p:cNvPr id="8" name="Straight Connector 7"/>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397981" y="1339784"/>
            <a:ext cx="8405360" cy="813331"/>
          </a:xfrm>
        </p:spPr>
        <p:txBody>
          <a:bodyPr lIns="0" anchor="t">
            <a:normAutofit/>
          </a:bodyPr>
          <a:lstStyle>
            <a:lvl1pPr algn="l">
              <a:defRPr sz="4800">
                <a:solidFill>
                  <a:schemeClr val="accent1"/>
                </a:solidFill>
                <a:latin typeface="+mj-lt"/>
              </a:defRPr>
            </a:lvl1pPr>
          </a:lstStyle>
          <a:p>
            <a:r>
              <a:rPr lang="en-GB" dirty="0"/>
              <a:t>Click to edit Master title style</a:t>
            </a:r>
            <a:endParaRPr lang="en-US" dirty="0"/>
          </a:p>
        </p:txBody>
      </p:sp>
      <p:sp>
        <p:nvSpPr>
          <p:cNvPr id="3" name="Subtitle 2"/>
          <p:cNvSpPr>
            <a:spLocks noGrp="1"/>
          </p:cNvSpPr>
          <p:nvPr>
            <p:ph type="subTitle" idx="1"/>
          </p:nvPr>
        </p:nvSpPr>
        <p:spPr>
          <a:xfrm>
            <a:off x="397980" y="2236546"/>
            <a:ext cx="4855337" cy="813331"/>
          </a:xfrm>
        </p:spPr>
        <p:txBody>
          <a:bodyPr lIns="0">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9" name="Picture 8" descr="A picture containing text, clipart&#10;&#10;Description automatically generated"/>
          <p:cNvPicPr>
            <a:picLocks noChangeAspect="1"/>
          </p:cNvPicPr>
          <p:nvPr userDrawn="1"/>
        </p:nvPicPr>
        <p:blipFill>
          <a:blip r:embed="rId2" cstate="print"/>
          <a:stretch>
            <a:fillRect/>
          </a:stretch>
        </p:blipFill>
        <p:spPr>
          <a:xfrm>
            <a:off x="10909464" y="163196"/>
            <a:ext cx="1098356" cy="51206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 Grey">
    <p:bg>
      <p:bgPr>
        <a:solidFill>
          <a:schemeClr val="bg1">
            <a:lumMod val="75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lIns="0"/>
          <a:lstStyle>
            <a:lvl1pPr>
              <a:defRPr>
                <a:solidFill>
                  <a:schemeClr val="accent1"/>
                </a:solidFill>
                <a:latin typeface="+mj-lt"/>
              </a:defRPr>
            </a:lvl1pPr>
          </a:lstStyle>
          <a:p>
            <a:fld id="{42F52892-D1D9-9E41-97AE-185544678A11}" type="datetime3">
              <a:rPr lang="en-US" smtClean="0"/>
              <a:t>10 March 2026</a:t>
            </a:fld>
            <a:endParaRPr lang="en-US" dirty="0"/>
          </a:p>
        </p:txBody>
      </p:sp>
      <p:sp>
        <p:nvSpPr>
          <p:cNvPr id="6" name="Slide Number Placeholder 5"/>
          <p:cNvSpPr>
            <a:spLocks noGrp="1"/>
          </p:cNvSpPr>
          <p:nvPr>
            <p:ph type="sldNum" sz="quarter" idx="12"/>
          </p:nvPr>
        </p:nvSpPr>
        <p:spPr>
          <a:xfrm>
            <a:off x="9303195" y="6356350"/>
            <a:ext cx="2743200" cy="365125"/>
          </a:xfrm>
          <a:prstGeom prst="rect">
            <a:avLst/>
          </a:prstGeom>
        </p:spPr>
        <p:txBody>
          <a:bodyPr/>
          <a:lstStyle>
            <a:lvl1pPr>
              <a:defRPr>
                <a:solidFill>
                  <a:schemeClr val="bg1"/>
                </a:solidFill>
                <a:latin typeface="+mj-lt"/>
              </a:defRPr>
            </a:lvl1pPr>
          </a:lstStyle>
          <a:p>
            <a:fld id="{7EB81B2B-FE88-CD45-B1AD-F9ACA635D2C8}" type="slidenum">
              <a:rPr lang="en-US" smtClean="0"/>
              <a:t>‹#›</a:t>
            </a:fld>
            <a:endParaRPr lang="en-US"/>
          </a:p>
        </p:txBody>
      </p:sp>
      <p:cxnSp>
        <p:nvCxnSpPr>
          <p:cNvPr id="8" name="Straight Connector 7"/>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397981" y="1339784"/>
            <a:ext cx="8405360" cy="813331"/>
          </a:xfrm>
        </p:spPr>
        <p:txBody>
          <a:bodyPr lIns="0" anchor="t">
            <a:normAutofit/>
          </a:bodyPr>
          <a:lstStyle>
            <a:lvl1pPr algn="l">
              <a:defRPr sz="4800">
                <a:solidFill>
                  <a:schemeClr val="accent1"/>
                </a:solidFill>
                <a:latin typeface="+mj-lt"/>
              </a:defRPr>
            </a:lvl1pPr>
          </a:lstStyle>
          <a:p>
            <a:r>
              <a:rPr lang="en-GB" dirty="0"/>
              <a:t>Click to edit Master title style</a:t>
            </a:r>
            <a:endParaRPr lang="en-US" dirty="0"/>
          </a:p>
        </p:txBody>
      </p:sp>
      <p:sp>
        <p:nvSpPr>
          <p:cNvPr id="3" name="Subtitle 2"/>
          <p:cNvSpPr>
            <a:spLocks noGrp="1"/>
          </p:cNvSpPr>
          <p:nvPr>
            <p:ph type="subTitle" idx="1"/>
          </p:nvPr>
        </p:nvSpPr>
        <p:spPr>
          <a:xfrm>
            <a:off x="397980" y="2236546"/>
            <a:ext cx="4855337" cy="813331"/>
          </a:xfrm>
        </p:spPr>
        <p:txBody>
          <a:bodyPr lIns="0">
            <a:normAutofit/>
          </a:bodyPr>
          <a:lstStyle>
            <a:lvl1pPr marL="0" indent="0" algn="l">
              <a:buNone/>
              <a:defRPr sz="1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9" name="Picture 8"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 White">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lIns="0"/>
          <a:lstStyle>
            <a:lvl1pPr>
              <a:defRPr>
                <a:solidFill>
                  <a:schemeClr val="accent1"/>
                </a:solidFill>
                <a:latin typeface="+mj-lt"/>
              </a:defRPr>
            </a:lvl1pPr>
          </a:lstStyle>
          <a:p>
            <a:fld id="{42F52892-D1D9-9E41-97AE-185544678A11}" type="datetime3">
              <a:rPr lang="en-US" smtClean="0"/>
              <a:t>10 March 2026</a:t>
            </a:fld>
            <a:endParaRPr lang="en-US" dirty="0"/>
          </a:p>
        </p:txBody>
      </p:sp>
      <p:sp>
        <p:nvSpPr>
          <p:cNvPr id="11" name="Slide Number Placeholder 5"/>
          <p:cNvSpPr>
            <a:spLocks noGrp="1"/>
          </p:cNvSpPr>
          <p:nvPr>
            <p:ph type="sldNum" sz="quarter" idx="12"/>
          </p:nvPr>
        </p:nvSpPr>
        <p:spPr>
          <a:xfrm>
            <a:off x="9303195" y="6356350"/>
            <a:ext cx="2743200" cy="365125"/>
          </a:xfrm>
        </p:spPr>
        <p:txBody>
          <a:bodyPr/>
          <a:lstStyle>
            <a:lvl1pPr>
              <a:defRPr>
                <a:solidFill>
                  <a:schemeClr val="tx1"/>
                </a:solidFill>
                <a:latin typeface="+mj-lt"/>
              </a:defRPr>
            </a:lvl1pPr>
          </a:lstStyle>
          <a:p>
            <a:fld id="{7EB81B2B-FE88-CD45-B1AD-F9ACA635D2C8}" type="slidenum">
              <a:rPr lang="en-US" smtClean="0"/>
              <a:t>‹#›</a:t>
            </a:fld>
            <a:endParaRPr lang="en-US" dirty="0"/>
          </a:p>
        </p:txBody>
      </p:sp>
      <p:cxnSp>
        <p:nvCxnSpPr>
          <p:cNvPr id="7" name="Straight Connector 6"/>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397981" y="1339784"/>
            <a:ext cx="8405360" cy="813331"/>
          </a:xfrm>
        </p:spPr>
        <p:txBody>
          <a:bodyPr lIns="0" anchor="t">
            <a:normAutofit/>
          </a:bodyPr>
          <a:lstStyle>
            <a:lvl1pPr algn="l">
              <a:defRPr sz="4800">
                <a:solidFill>
                  <a:schemeClr val="accent1"/>
                </a:solidFill>
                <a:latin typeface="+mj-lt"/>
              </a:defRPr>
            </a:lvl1pPr>
          </a:lstStyle>
          <a:p>
            <a:r>
              <a:rPr lang="en-GB" dirty="0"/>
              <a:t>Click to edit Master title style</a:t>
            </a:r>
            <a:endParaRPr lang="en-US" dirty="0"/>
          </a:p>
        </p:txBody>
      </p:sp>
      <p:sp>
        <p:nvSpPr>
          <p:cNvPr id="3" name="Subtitle 2"/>
          <p:cNvSpPr>
            <a:spLocks noGrp="1"/>
          </p:cNvSpPr>
          <p:nvPr>
            <p:ph type="subTitle" idx="1"/>
          </p:nvPr>
        </p:nvSpPr>
        <p:spPr>
          <a:xfrm>
            <a:off x="397980" y="2236546"/>
            <a:ext cx="4855337" cy="813331"/>
          </a:xfrm>
        </p:spPr>
        <p:txBody>
          <a:bodyPr lIns="0">
            <a:normAutofit/>
          </a:bodyPr>
          <a:lstStyle>
            <a:lvl1pPr marL="0" indent="0" algn="l">
              <a:buNone/>
              <a:defRPr sz="18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8" name="Picture 7"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Picture / Chart - White">
    <p:bg>
      <p:bgPr>
        <a:solidFill>
          <a:schemeClr val="bg1"/>
        </a:solidFill>
        <a:effectLst/>
      </p:bgPr>
    </p:bg>
    <p:spTree>
      <p:nvGrpSpPr>
        <p:cNvPr id="1" name=""/>
        <p:cNvGrpSpPr/>
        <p:nvPr/>
      </p:nvGrpSpPr>
      <p:grpSpPr>
        <a:xfrm>
          <a:off x="0" y="0"/>
          <a:ext cx="0" cy="0"/>
          <a:chOff x="0" y="0"/>
          <a:chExt cx="0" cy="0"/>
        </a:xfrm>
      </p:grpSpPr>
      <p:sp>
        <p:nvSpPr>
          <p:cNvPr id="4" name="Picture Placeholder 16"/>
          <p:cNvSpPr>
            <a:spLocks noGrp="1"/>
          </p:cNvSpPr>
          <p:nvPr>
            <p:ph type="pic" sz="quarter" idx="11" hasCustomPrompt="1"/>
          </p:nvPr>
        </p:nvSpPr>
        <p:spPr>
          <a:xfrm>
            <a:off x="6103831" y="0"/>
            <a:ext cx="6096000" cy="6858000"/>
          </a:xfrm>
          <a:noFill/>
        </p:spPr>
        <p:txBody>
          <a:bodyPr/>
          <a:lstStyle>
            <a:lvl1pPr marL="0" indent="0" algn="l">
              <a:buNone/>
              <a:defRPr>
                <a:solidFill>
                  <a:schemeClr val="tx1"/>
                </a:solidFill>
              </a:defRPr>
            </a:lvl1pPr>
          </a:lstStyle>
          <a:p>
            <a:r>
              <a:rPr lang="en-US" dirty="0"/>
              <a:t>Picture</a:t>
            </a:r>
          </a:p>
        </p:txBody>
      </p:sp>
      <p:cxnSp>
        <p:nvCxnSpPr>
          <p:cNvPr id="22" name="Straight Connector 21"/>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6" name="Date Placeholder 5"/>
          <p:cNvSpPr>
            <a:spLocks noGrp="1"/>
          </p:cNvSpPr>
          <p:nvPr>
            <p:ph type="dt" sz="half" idx="14"/>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7" name="Footer Placeholder 6"/>
          <p:cNvSpPr>
            <a:spLocks noGrp="1"/>
          </p:cNvSpPr>
          <p:nvPr>
            <p:ph type="ftr" sz="quarter" idx="15"/>
          </p:nvPr>
        </p:nvSpPr>
        <p:spPr/>
        <p:txBody>
          <a:bodyPr lIns="0"/>
          <a:lstStyle>
            <a:lvl1pPr>
              <a:defRPr>
                <a:latin typeface="+mj-lt"/>
              </a:defRPr>
            </a:lvl1pPr>
          </a:lstStyle>
          <a:p>
            <a:r>
              <a:rPr lang="en-US"/>
              <a:t>Click to edit master text styles</a:t>
            </a:r>
            <a:endParaRPr lang="en-US" dirty="0"/>
          </a:p>
        </p:txBody>
      </p:sp>
      <p:sp>
        <p:nvSpPr>
          <p:cNvPr id="29" name="Slide Number Placeholder 28"/>
          <p:cNvSpPr>
            <a:spLocks noGrp="1"/>
          </p:cNvSpPr>
          <p:nvPr>
            <p:ph type="sldNum" sz="quarter" idx="16"/>
          </p:nvPr>
        </p:nvSpPr>
        <p:spPr/>
        <p:txBody>
          <a:bodyPr/>
          <a:lstStyle>
            <a:lvl1pPr>
              <a:defRPr>
                <a:latin typeface="Arial" panose="020B0604020202020204" pitchFamily="34" charset="0"/>
              </a:defRPr>
            </a:lvl1pPr>
          </a:lstStyle>
          <a:p>
            <a:fld id="{7EB81B2B-FE88-CD45-B1AD-F9ACA635D2C8}" type="slidenum">
              <a:rPr lang="en-US" smtClean="0"/>
              <a:t>‹#›</a:t>
            </a:fld>
            <a:endParaRPr lang="en-US" dirty="0"/>
          </a:p>
        </p:txBody>
      </p:sp>
      <p:sp>
        <p:nvSpPr>
          <p:cNvPr id="3" name="Title 15"/>
          <p:cNvSpPr>
            <a:spLocks noGrp="1"/>
          </p:cNvSpPr>
          <p:nvPr>
            <p:ph type="title"/>
          </p:nvPr>
        </p:nvSpPr>
        <p:spPr>
          <a:xfrm>
            <a:off x="385859" y="1005422"/>
            <a:ext cx="5383174"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sp>
        <p:nvSpPr>
          <p:cNvPr id="5" name="Text Placeholder 3"/>
          <p:cNvSpPr>
            <a:spLocks noGrp="1"/>
          </p:cNvSpPr>
          <p:nvPr>
            <p:ph type="body" sz="half" idx="2"/>
          </p:nvPr>
        </p:nvSpPr>
        <p:spPr>
          <a:xfrm>
            <a:off x="385859" y="2329200"/>
            <a:ext cx="5383174" cy="3690344"/>
          </a:xfrm>
        </p:spPr>
        <p:txBody>
          <a:bodyPr lIns="0">
            <a:normAutofit/>
          </a:bodyPr>
          <a:lstStyle>
            <a:lvl1pPr marL="0" indent="0">
              <a:buNone/>
              <a:defRPr sz="15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pic>
        <p:nvPicPr>
          <p:cNvPr id="10" name="Picture 9"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icture / Chart - Grey">
    <p:bg>
      <p:bgPr>
        <a:solidFill>
          <a:schemeClr val="bg2"/>
        </a:solidFill>
        <a:effectLst/>
      </p:bgPr>
    </p:bg>
    <p:spTree>
      <p:nvGrpSpPr>
        <p:cNvPr id="1" name=""/>
        <p:cNvGrpSpPr/>
        <p:nvPr/>
      </p:nvGrpSpPr>
      <p:grpSpPr>
        <a:xfrm>
          <a:off x="0" y="0"/>
          <a:ext cx="0" cy="0"/>
          <a:chOff x="0" y="0"/>
          <a:chExt cx="0" cy="0"/>
        </a:xfrm>
      </p:grpSpPr>
      <p:sp>
        <p:nvSpPr>
          <p:cNvPr id="4" name="Picture Placeholder 16"/>
          <p:cNvSpPr>
            <a:spLocks noGrp="1"/>
          </p:cNvSpPr>
          <p:nvPr>
            <p:ph type="pic" sz="quarter" idx="11" hasCustomPrompt="1"/>
          </p:nvPr>
        </p:nvSpPr>
        <p:spPr>
          <a:xfrm>
            <a:off x="6103831" y="0"/>
            <a:ext cx="6096000" cy="6858000"/>
          </a:xfrm>
          <a:noFill/>
        </p:spPr>
        <p:txBody>
          <a:bodyPr/>
          <a:lstStyle>
            <a:lvl1pPr marL="0" indent="0" algn="l">
              <a:buNone/>
              <a:defRPr>
                <a:solidFill>
                  <a:schemeClr val="tx1"/>
                </a:solidFill>
              </a:defRPr>
            </a:lvl1pPr>
          </a:lstStyle>
          <a:p>
            <a:r>
              <a:rPr lang="en-US" dirty="0"/>
              <a:t>Picture</a:t>
            </a:r>
          </a:p>
        </p:txBody>
      </p:sp>
      <p:cxnSp>
        <p:nvCxnSpPr>
          <p:cNvPr id="22" name="Straight Connector 21"/>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6" name="Date Placeholder 5"/>
          <p:cNvSpPr>
            <a:spLocks noGrp="1"/>
          </p:cNvSpPr>
          <p:nvPr>
            <p:ph type="dt" sz="half" idx="14"/>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7" name="Footer Placeholder 6"/>
          <p:cNvSpPr>
            <a:spLocks noGrp="1"/>
          </p:cNvSpPr>
          <p:nvPr>
            <p:ph type="ftr" sz="quarter" idx="15"/>
          </p:nvPr>
        </p:nvSpPr>
        <p:spPr/>
        <p:txBody>
          <a:bodyPr lIns="0"/>
          <a:lstStyle>
            <a:lvl1pPr>
              <a:defRPr>
                <a:latin typeface="+mj-lt"/>
              </a:defRPr>
            </a:lvl1pPr>
          </a:lstStyle>
          <a:p>
            <a:r>
              <a:rPr lang="en-US"/>
              <a:t>Click to edit master text styles</a:t>
            </a:r>
            <a:endParaRPr lang="en-US" dirty="0"/>
          </a:p>
        </p:txBody>
      </p:sp>
      <p:sp>
        <p:nvSpPr>
          <p:cNvPr id="29" name="Slide Number Placeholder 28"/>
          <p:cNvSpPr>
            <a:spLocks noGrp="1"/>
          </p:cNvSpPr>
          <p:nvPr>
            <p:ph type="sldNum" sz="quarter" idx="16"/>
          </p:nvPr>
        </p:nvSpPr>
        <p:spPr/>
        <p:txBody>
          <a:bodyPr/>
          <a:lstStyle>
            <a:lvl1pPr>
              <a:defRPr>
                <a:latin typeface="Arial" panose="020B0604020202020204" pitchFamily="34" charset="0"/>
              </a:defRPr>
            </a:lvl1pPr>
          </a:lstStyle>
          <a:p>
            <a:fld id="{7EB81B2B-FE88-CD45-B1AD-F9ACA635D2C8}" type="slidenum">
              <a:rPr lang="en-US" smtClean="0"/>
              <a:t>‹#›</a:t>
            </a:fld>
            <a:endParaRPr lang="en-US" dirty="0"/>
          </a:p>
        </p:txBody>
      </p:sp>
      <p:sp>
        <p:nvSpPr>
          <p:cNvPr id="3" name="Title 15"/>
          <p:cNvSpPr>
            <a:spLocks noGrp="1"/>
          </p:cNvSpPr>
          <p:nvPr>
            <p:ph type="title"/>
          </p:nvPr>
        </p:nvSpPr>
        <p:spPr>
          <a:xfrm>
            <a:off x="385859" y="1005422"/>
            <a:ext cx="5383174"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sp>
        <p:nvSpPr>
          <p:cNvPr id="5" name="Text Placeholder 3"/>
          <p:cNvSpPr>
            <a:spLocks noGrp="1"/>
          </p:cNvSpPr>
          <p:nvPr>
            <p:ph type="body" sz="half" idx="2"/>
          </p:nvPr>
        </p:nvSpPr>
        <p:spPr>
          <a:xfrm>
            <a:off x="385859" y="2329200"/>
            <a:ext cx="5383174" cy="3690344"/>
          </a:xfrm>
        </p:spPr>
        <p:txBody>
          <a:bodyPr lIns="0">
            <a:normAutofit/>
          </a:bodyPr>
          <a:lstStyle>
            <a:lvl1pPr marL="0" indent="0">
              <a:buNone/>
              <a:defRPr sz="15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pic>
        <p:nvPicPr>
          <p:cNvPr id="10" name="Picture 9"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 White">
    <p:bg>
      <p:bgPr>
        <a:solidFill>
          <a:schemeClr val="bg1"/>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2" name="Date Placeholder 1"/>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5" name="Footer Placeholder 4"/>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6" name="Slide Number Placeholder 5"/>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sp>
        <p:nvSpPr>
          <p:cNvPr id="4" name="Title 15"/>
          <p:cNvSpPr>
            <a:spLocks noGrp="1"/>
          </p:cNvSpPr>
          <p:nvPr>
            <p:ph type="title"/>
          </p:nvPr>
        </p:nvSpPr>
        <p:spPr>
          <a:xfrm>
            <a:off x="385859" y="1005422"/>
            <a:ext cx="10515600"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pic>
        <p:nvPicPr>
          <p:cNvPr id="8" name="Picture 7"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 Grey">
    <p:bg>
      <p:bgPr>
        <a:solidFill>
          <a:schemeClr val="bg2"/>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13" name="Date Placeholder 12"/>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14" name="Footer Placeholder 13"/>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15" name="Slide Number Placeholder 14"/>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sp>
        <p:nvSpPr>
          <p:cNvPr id="3" name="Title 15"/>
          <p:cNvSpPr>
            <a:spLocks noGrp="1"/>
          </p:cNvSpPr>
          <p:nvPr>
            <p:ph type="title"/>
          </p:nvPr>
        </p:nvSpPr>
        <p:spPr>
          <a:xfrm>
            <a:off x="385859" y="1005422"/>
            <a:ext cx="10515600"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pic>
        <p:nvPicPr>
          <p:cNvPr id="9" name="Picture 8"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 White">
    <p:bg>
      <p:bgPr>
        <a:solidFill>
          <a:schemeClr val="bg1"/>
        </a:solidFill>
        <a:effectLst/>
      </p:bgPr>
    </p:bg>
    <p:spTree>
      <p:nvGrpSpPr>
        <p:cNvPr id="1" name=""/>
        <p:cNvGrpSpPr/>
        <p:nvPr/>
      </p:nvGrpSpPr>
      <p:grpSpPr>
        <a:xfrm>
          <a:off x="0" y="0"/>
          <a:ext cx="0" cy="0"/>
          <a:chOff x="0" y="0"/>
          <a:chExt cx="0" cy="0"/>
        </a:xfrm>
      </p:grpSpPr>
      <p:cxnSp>
        <p:nvCxnSpPr>
          <p:cNvPr id="11" name="Straight Connector 10"/>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7" name="Date Placeholder 6"/>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8" name="Footer Placeholder 7"/>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14" name="Slide Number Placeholder 13"/>
          <p:cNvSpPr>
            <a:spLocks noGrp="1"/>
          </p:cNvSpPr>
          <p:nvPr>
            <p:ph type="sldNum" sz="quarter" idx="12"/>
          </p:nvPr>
        </p:nvSpPr>
        <p:spPr/>
        <p:txBody>
          <a:bodyPr/>
          <a:lstStyle>
            <a:lvl1pPr>
              <a:defRPr>
                <a:latin typeface="Arial" panose="020B0604020202020204" pitchFamily="34" charset="0"/>
              </a:defRPr>
            </a:lvl1pPr>
          </a:lstStyle>
          <a:p>
            <a:fld id="{7EB81B2B-FE88-CD45-B1AD-F9ACA635D2C8}" type="slidenum">
              <a:rPr lang="en-US" smtClean="0"/>
              <a:t>‹#›</a:t>
            </a:fld>
            <a:endParaRPr lang="en-US" dirty="0"/>
          </a:p>
        </p:txBody>
      </p:sp>
      <p:sp>
        <p:nvSpPr>
          <p:cNvPr id="15" name="Text Placeholder 3"/>
          <p:cNvSpPr>
            <a:spLocks noGrp="1"/>
          </p:cNvSpPr>
          <p:nvPr>
            <p:ph type="body" sz="half" idx="2"/>
          </p:nvPr>
        </p:nvSpPr>
        <p:spPr>
          <a:xfrm>
            <a:off x="385859" y="2329200"/>
            <a:ext cx="3932237" cy="3690344"/>
          </a:xfrm>
        </p:spPr>
        <p:txBody>
          <a:bodyPr lIns="0">
            <a:normAutofit/>
          </a:bodyPr>
          <a:lstStyle>
            <a:lvl1pPr marL="0" indent="0">
              <a:buNone/>
              <a:defRPr sz="15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19" name="Picture Placeholder 16"/>
          <p:cNvSpPr>
            <a:spLocks noGrp="1"/>
          </p:cNvSpPr>
          <p:nvPr>
            <p:ph type="pic" sz="quarter" idx="13" hasCustomPrompt="1"/>
          </p:nvPr>
        </p:nvSpPr>
        <p:spPr>
          <a:xfrm>
            <a:off x="4567050" y="2328863"/>
            <a:ext cx="3578225" cy="3727450"/>
          </a:xfrm>
        </p:spPr>
        <p:txBody>
          <a:bodyPr>
            <a:normAutofit/>
          </a:bodyPr>
          <a:lstStyle>
            <a:lvl1pPr marL="0" indent="0">
              <a:buNone/>
              <a:defRPr sz="1500"/>
            </a:lvl1pPr>
          </a:lstStyle>
          <a:p>
            <a:r>
              <a:rPr lang="en-US" dirty="0"/>
              <a:t>Picture</a:t>
            </a:r>
          </a:p>
        </p:txBody>
      </p:sp>
      <p:sp>
        <p:nvSpPr>
          <p:cNvPr id="20" name="Picture Placeholder 16"/>
          <p:cNvSpPr>
            <a:spLocks noGrp="1"/>
          </p:cNvSpPr>
          <p:nvPr>
            <p:ph type="pic" sz="quarter" idx="14" hasCustomPrompt="1"/>
          </p:nvPr>
        </p:nvSpPr>
        <p:spPr>
          <a:xfrm>
            <a:off x="8332225" y="2328863"/>
            <a:ext cx="3578225" cy="3727450"/>
          </a:xfrm>
        </p:spPr>
        <p:txBody>
          <a:bodyPr>
            <a:normAutofit/>
          </a:bodyPr>
          <a:lstStyle>
            <a:lvl1pPr marL="0" indent="0">
              <a:buNone/>
              <a:defRPr sz="1500"/>
            </a:lvl1pPr>
          </a:lstStyle>
          <a:p>
            <a:r>
              <a:rPr lang="en-US" dirty="0"/>
              <a:t>Picture</a:t>
            </a:r>
          </a:p>
        </p:txBody>
      </p:sp>
      <p:sp>
        <p:nvSpPr>
          <p:cNvPr id="21" name="Title 15"/>
          <p:cNvSpPr>
            <a:spLocks noGrp="1"/>
          </p:cNvSpPr>
          <p:nvPr>
            <p:ph type="title"/>
          </p:nvPr>
        </p:nvSpPr>
        <p:spPr>
          <a:xfrm>
            <a:off x="385859" y="1005422"/>
            <a:ext cx="10515600"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pic>
        <p:nvPicPr>
          <p:cNvPr id="12" name="Picture 11"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 Grey">
    <p:bg>
      <p:bgPr>
        <a:solidFill>
          <a:schemeClr val="bg2"/>
        </a:solidFill>
        <a:effectLst/>
      </p:bgPr>
    </p:bg>
    <p:spTree>
      <p:nvGrpSpPr>
        <p:cNvPr id="1" name=""/>
        <p:cNvGrpSpPr/>
        <p:nvPr/>
      </p:nvGrpSpPr>
      <p:grpSpPr>
        <a:xfrm>
          <a:off x="0" y="0"/>
          <a:ext cx="0" cy="0"/>
          <a:chOff x="0" y="0"/>
          <a:chExt cx="0" cy="0"/>
        </a:xfrm>
      </p:grpSpPr>
      <p:cxnSp>
        <p:nvCxnSpPr>
          <p:cNvPr id="11" name="Straight Connector 10"/>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7" name="Date Placeholder 6"/>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8" name="Footer Placeholder 7"/>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14" name="Slide Number Placeholder 13"/>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sp>
        <p:nvSpPr>
          <p:cNvPr id="9" name="Text Placeholder 3"/>
          <p:cNvSpPr>
            <a:spLocks noGrp="1"/>
          </p:cNvSpPr>
          <p:nvPr>
            <p:ph type="body" sz="half" idx="2"/>
          </p:nvPr>
        </p:nvSpPr>
        <p:spPr>
          <a:xfrm>
            <a:off x="385859" y="2329200"/>
            <a:ext cx="3932237" cy="3690344"/>
          </a:xfrm>
        </p:spPr>
        <p:txBody>
          <a:bodyPr lIns="0">
            <a:normAutofit/>
          </a:bodyPr>
          <a:lstStyle>
            <a:lvl1pPr marL="0" indent="0">
              <a:buNone/>
              <a:defRPr sz="15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10" name="Picture Placeholder 16"/>
          <p:cNvSpPr>
            <a:spLocks noGrp="1"/>
          </p:cNvSpPr>
          <p:nvPr>
            <p:ph type="pic" sz="quarter" idx="13" hasCustomPrompt="1"/>
          </p:nvPr>
        </p:nvSpPr>
        <p:spPr>
          <a:xfrm>
            <a:off x="4567050" y="2328863"/>
            <a:ext cx="3578225" cy="3727450"/>
          </a:xfrm>
        </p:spPr>
        <p:txBody>
          <a:bodyPr>
            <a:normAutofit/>
          </a:bodyPr>
          <a:lstStyle>
            <a:lvl1pPr marL="0" indent="0">
              <a:buNone/>
              <a:defRPr sz="1500"/>
            </a:lvl1pPr>
          </a:lstStyle>
          <a:p>
            <a:r>
              <a:rPr lang="en-US" dirty="0"/>
              <a:t>Picture</a:t>
            </a:r>
          </a:p>
        </p:txBody>
      </p:sp>
      <p:sp>
        <p:nvSpPr>
          <p:cNvPr id="12" name="Picture Placeholder 16"/>
          <p:cNvSpPr>
            <a:spLocks noGrp="1"/>
          </p:cNvSpPr>
          <p:nvPr>
            <p:ph type="pic" sz="quarter" idx="14" hasCustomPrompt="1"/>
          </p:nvPr>
        </p:nvSpPr>
        <p:spPr>
          <a:xfrm>
            <a:off x="8332225" y="2328863"/>
            <a:ext cx="3578225" cy="3727450"/>
          </a:xfrm>
        </p:spPr>
        <p:txBody>
          <a:bodyPr>
            <a:normAutofit/>
          </a:bodyPr>
          <a:lstStyle>
            <a:lvl1pPr marL="0" indent="0">
              <a:buNone/>
              <a:defRPr sz="1500"/>
            </a:lvl1pPr>
          </a:lstStyle>
          <a:p>
            <a:r>
              <a:rPr lang="en-US" dirty="0"/>
              <a:t>Picture</a:t>
            </a:r>
          </a:p>
        </p:txBody>
      </p:sp>
      <p:sp>
        <p:nvSpPr>
          <p:cNvPr id="15" name="Title 15"/>
          <p:cNvSpPr>
            <a:spLocks noGrp="1"/>
          </p:cNvSpPr>
          <p:nvPr>
            <p:ph type="title"/>
          </p:nvPr>
        </p:nvSpPr>
        <p:spPr>
          <a:xfrm>
            <a:off x="385859" y="1005422"/>
            <a:ext cx="10515600"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pic>
        <p:nvPicPr>
          <p:cNvPr id="13" name="Picture 12"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Layout x 4 - White">
    <p:bg>
      <p:bgPr>
        <a:solidFill>
          <a:schemeClr val="bg1"/>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2" name="Date Placeholder 1"/>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5" name="Footer Placeholder 4"/>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6" name="Slide Number Placeholder 5"/>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cxnSp>
        <p:nvCxnSpPr>
          <p:cNvPr id="11" name="Straight Connector 10"/>
          <p:cNvCxnSpPr/>
          <p:nvPr userDrawn="1"/>
        </p:nvCxnSpPr>
        <p:spPr>
          <a:xfrm>
            <a:off x="6117252" y="2012064"/>
            <a:ext cx="0" cy="428544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userDrawn="1"/>
        </p:nvCxnSpPr>
        <p:spPr>
          <a:xfrm>
            <a:off x="9099511" y="2012064"/>
            <a:ext cx="0" cy="428544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sp>
        <p:nvSpPr>
          <p:cNvPr id="28" name="Picture Placeholder 23"/>
          <p:cNvSpPr>
            <a:spLocks noGrp="1"/>
          </p:cNvSpPr>
          <p:nvPr>
            <p:ph type="pic" sz="quarter" idx="13"/>
          </p:nvPr>
        </p:nvSpPr>
        <p:spPr>
          <a:xfrm>
            <a:off x="385859" y="2765389"/>
            <a:ext cx="2530475" cy="1735138"/>
          </a:xfrm>
        </p:spPr>
        <p:txBody>
          <a:bodyPr lIns="0" tIns="0" rIns="0" bIns="0">
            <a:normAutofit/>
          </a:bodyPr>
          <a:lstStyle>
            <a:lvl1pPr marL="0" indent="0">
              <a:buNone/>
              <a:defRPr sz="1400"/>
            </a:lvl1pPr>
          </a:lstStyle>
          <a:p>
            <a:endParaRPr lang="en-US" dirty="0"/>
          </a:p>
        </p:txBody>
      </p:sp>
      <p:sp>
        <p:nvSpPr>
          <p:cNvPr id="29" name="Picture Placeholder 23"/>
          <p:cNvSpPr>
            <a:spLocks noGrp="1"/>
          </p:cNvSpPr>
          <p:nvPr>
            <p:ph type="pic" sz="quarter" idx="14"/>
          </p:nvPr>
        </p:nvSpPr>
        <p:spPr>
          <a:xfrm>
            <a:off x="3366622" y="2765389"/>
            <a:ext cx="2530475" cy="1735138"/>
          </a:xfrm>
        </p:spPr>
        <p:txBody>
          <a:bodyPr lIns="0" tIns="0" rIns="0" bIns="0">
            <a:normAutofit/>
          </a:bodyPr>
          <a:lstStyle>
            <a:lvl1pPr marL="0" indent="0">
              <a:buNone/>
              <a:defRPr sz="1400"/>
            </a:lvl1pPr>
          </a:lstStyle>
          <a:p>
            <a:endParaRPr lang="en-US" dirty="0"/>
          </a:p>
        </p:txBody>
      </p:sp>
      <p:sp>
        <p:nvSpPr>
          <p:cNvPr id="30" name="Picture Placeholder 23"/>
          <p:cNvSpPr>
            <a:spLocks noGrp="1"/>
          </p:cNvSpPr>
          <p:nvPr>
            <p:ph type="pic" sz="quarter" idx="15"/>
          </p:nvPr>
        </p:nvSpPr>
        <p:spPr>
          <a:xfrm>
            <a:off x="6347385" y="2765389"/>
            <a:ext cx="2530475" cy="1735138"/>
          </a:xfrm>
        </p:spPr>
        <p:txBody>
          <a:bodyPr lIns="0" tIns="0" rIns="0" bIns="0">
            <a:normAutofit/>
          </a:bodyPr>
          <a:lstStyle>
            <a:lvl1pPr marL="0" indent="0">
              <a:buNone/>
              <a:defRPr sz="1400"/>
            </a:lvl1pPr>
          </a:lstStyle>
          <a:p>
            <a:endParaRPr lang="en-US" dirty="0"/>
          </a:p>
        </p:txBody>
      </p:sp>
      <p:sp>
        <p:nvSpPr>
          <p:cNvPr id="31" name="Picture Placeholder 23"/>
          <p:cNvSpPr>
            <a:spLocks noGrp="1"/>
          </p:cNvSpPr>
          <p:nvPr>
            <p:ph type="pic" sz="quarter" idx="16"/>
          </p:nvPr>
        </p:nvSpPr>
        <p:spPr>
          <a:xfrm>
            <a:off x="9328150" y="2765389"/>
            <a:ext cx="2530475" cy="1735138"/>
          </a:xfrm>
        </p:spPr>
        <p:txBody>
          <a:bodyPr lIns="0" tIns="0" rIns="0" bIns="0">
            <a:normAutofit/>
          </a:bodyPr>
          <a:lstStyle>
            <a:lvl1pPr marL="0" indent="0">
              <a:buNone/>
              <a:defRPr sz="1400"/>
            </a:lvl1pPr>
          </a:lstStyle>
          <a:p>
            <a:endParaRPr lang="en-US" dirty="0"/>
          </a:p>
        </p:txBody>
      </p:sp>
      <p:sp>
        <p:nvSpPr>
          <p:cNvPr id="33" name="Text Placeholder 32"/>
          <p:cNvSpPr>
            <a:spLocks noGrp="1"/>
          </p:cNvSpPr>
          <p:nvPr>
            <p:ph type="body" sz="quarter" idx="17"/>
          </p:nvPr>
        </p:nvSpPr>
        <p:spPr>
          <a:xfrm>
            <a:off x="371489"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5" name="Text Placeholder 32"/>
          <p:cNvSpPr>
            <a:spLocks noGrp="1"/>
          </p:cNvSpPr>
          <p:nvPr>
            <p:ph type="body" sz="quarter" idx="18"/>
          </p:nvPr>
        </p:nvSpPr>
        <p:spPr>
          <a:xfrm>
            <a:off x="3353748"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6" name="Text Placeholder 32"/>
          <p:cNvSpPr>
            <a:spLocks noGrp="1"/>
          </p:cNvSpPr>
          <p:nvPr>
            <p:ph type="body" sz="quarter" idx="19"/>
          </p:nvPr>
        </p:nvSpPr>
        <p:spPr>
          <a:xfrm>
            <a:off x="6336007"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8" name="Text Placeholder 32"/>
          <p:cNvSpPr>
            <a:spLocks noGrp="1"/>
          </p:cNvSpPr>
          <p:nvPr>
            <p:ph type="body" sz="quarter" idx="20"/>
          </p:nvPr>
        </p:nvSpPr>
        <p:spPr>
          <a:xfrm>
            <a:off x="9318266"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9" name="Text Placeholder 32"/>
          <p:cNvSpPr>
            <a:spLocks noGrp="1"/>
          </p:cNvSpPr>
          <p:nvPr>
            <p:ph type="body" sz="quarter" idx="21" hasCustomPrompt="1"/>
          </p:nvPr>
        </p:nvSpPr>
        <p:spPr>
          <a:xfrm>
            <a:off x="371489"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sp>
        <p:nvSpPr>
          <p:cNvPr id="41" name="Text Placeholder 32"/>
          <p:cNvSpPr>
            <a:spLocks noGrp="1"/>
          </p:cNvSpPr>
          <p:nvPr>
            <p:ph type="body" sz="quarter" idx="22" hasCustomPrompt="1"/>
          </p:nvPr>
        </p:nvSpPr>
        <p:spPr>
          <a:xfrm>
            <a:off x="3370721"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sp>
        <p:nvSpPr>
          <p:cNvPr id="42" name="Text Placeholder 32"/>
          <p:cNvSpPr>
            <a:spLocks noGrp="1"/>
          </p:cNvSpPr>
          <p:nvPr>
            <p:ph type="body" sz="quarter" idx="23" hasCustomPrompt="1"/>
          </p:nvPr>
        </p:nvSpPr>
        <p:spPr>
          <a:xfrm>
            <a:off x="6333377"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sp>
        <p:nvSpPr>
          <p:cNvPr id="43" name="Text Placeholder 32"/>
          <p:cNvSpPr>
            <a:spLocks noGrp="1"/>
          </p:cNvSpPr>
          <p:nvPr>
            <p:ph type="body" sz="quarter" idx="24" hasCustomPrompt="1"/>
          </p:nvPr>
        </p:nvSpPr>
        <p:spPr>
          <a:xfrm>
            <a:off x="9314321"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cxnSp>
        <p:nvCxnSpPr>
          <p:cNvPr id="46" name="Straight Connector 45"/>
          <p:cNvCxnSpPr/>
          <p:nvPr userDrawn="1"/>
        </p:nvCxnSpPr>
        <p:spPr>
          <a:xfrm>
            <a:off x="3127868" y="2012064"/>
            <a:ext cx="0" cy="428544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sp>
        <p:nvSpPr>
          <p:cNvPr id="4" name="Title 15"/>
          <p:cNvSpPr>
            <a:spLocks noGrp="1"/>
          </p:cNvSpPr>
          <p:nvPr>
            <p:ph type="title"/>
          </p:nvPr>
        </p:nvSpPr>
        <p:spPr>
          <a:xfrm>
            <a:off x="385859" y="1005422"/>
            <a:ext cx="10515600"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pic>
        <p:nvPicPr>
          <p:cNvPr id="23" name="Picture 22"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Layout x 4 - Grey">
    <p:bg>
      <p:bgPr>
        <a:solidFill>
          <a:schemeClr val="bg2"/>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2" name="Date Placeholder 1"/>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5" name="Footer Placeholder 4"/>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6" name="Slide Number Placeholder 5"/>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cxnSp>
        <p:nvCxnSpPr>
          <p:cNvPr id="11" name="Straight Connector 10"/>
          <p:cNvCxnSpPr/>
          <p:nvPr userDrawn="1"/>
        </p:nvCxnSpPr>
        <p:spPr>
          <a:xfrm>
            <a:off x="6117252" y="2012064"/>
            <a:ext cx="0" cy="428544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userDrawn="1"/>
        </p:nvCxnSpPr>
        <p:spPr>
          <a:xfrm>
            <a:off x="9099511" y="2012064"/>
            <a:ext cx="0" cy="428544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sp>
        <p:nvSpPr>
          <p:cNvPr id="28" name="Picture Placeholder 23"/>
          <p:cNvSpPr>
            <a:spLocks noGrp="1"/>
          </p:cNvSpPr>
          <p:nvPr>
            <p:ph type="pic" sz="quarter" idx="13"/>
          </p:nvPr>
        </p:nvSpPr>
        <p:spPr>
          <a:xfrm>
            <a:off x="385859" y="2765389"/>
            <a:ext cx="2530475" cy="1735138"/>
          </a:xfrm>
        </p:spPr>
        <p:txBody>
          <a:bodyPr lIns="0" tIns="0" rIns="0" bIns="0">
            <a:normAutofit/>
          </a:bodyPr>
          <a:lstStyle>
            <a:lvl1pPr marL="0" indent="0">
              <a:buNone/>
              <a:defRPr sz="1400"/>
            </a:lvl1pPr>
          </a:lstStyle>
          <a:p>
            <a:endParaRPr lang="en-US" dirty="0"/>
          </a:p>
        </p:txBody>
      </p:sp>
      <p:sp>
        <p:nvSpPr>
          <p:cNvPr id="29" name="Picture Placeholder 23"/>
          <p:cNvSpPr>
            <a:spLocks noGrp="1"/>
          </p:cNvSpPr>
          <p:nvPr>
            <p:ph type="pic" sz="quarter" idx="14"/>
          </p:nvPr>
        </p:nvSpPr>
        <p:spPr>
          <a:xfrm>
            <a:off x="3366622" y="2765389"/>
            <a:ext cx="2530475" cy="1735138"/>
          </a:xfrm>
        </p:spPr>
        <p:txBody>
          <a:bodyPr lIns="0" tIns="0" rIns="0" bIns="0">
            <a:normAutofit/>
          </a:bodyPr>
          <a:lstStyle>
            <a:lvl1pPr marL="0" indent="0">
              <a:buNone/>
              <a:defRPr sz="1400"/>
            </a:lvl1pPr>
          </a:lstStyle>
          <a:p>
            <a:endParaRPr lang="en-US" dirty="0"/>
          </a:p>
        </p:txBody>
      </p:sp>
      <p:sp>
        <p:nvSpPr>
          <p:cNvPr id="30" name="Picture Placeholder 23"/>
          <p:cNvSpPr>
            <a:spLocks noGrp="1"/>
          </p:cNvSpPr>
          <p:nvPr>
            <p:ph type="pic" sz="quarter" idx="15"/>
          </p:nvPr>
        </p:nvSpPr>
        <p:spPr>
          <a:xfrm>
            <a:off x="6347385" y="2765389"/>
            <a:ext cx="2530475" cy="1735138"/>
          </a:xfrm>
        </p:spPr>
        <p:txBody>
          <a:bodyPr lIns="0" tIns="0" rIns="0" bIns="0">
            <a:normAutofit/>
          </a:bodyPr>
          <a:lstStyle>
            <a:lvl1pPr marL="0" indent="0">
              <a:buNone/>
              <a:defRPr sz="1400"/>
            </a:lvl1pPr>
          </a:lstStyle>
          <a:p>
            <a:endParaRPr lang="en-US" dirty="0"/>
          </a:p>
        </p:txBody>
      </p:sp>
      <p:sp>
        <p:nvSpPr>
          <p:cNvPr id="31" name="Picture Placeholder 23"/>
          <p:cNvSpPr>
            <a:spLocks noGrp="1"/>
          </p:cNvSpPr>
          <p:nvPr>
            <p:ph type="pic" sz="quarter" idx="16"/>
          </p:nvPr>
        </p:nvSpPr>
        <p:spPr>
          <a:xfrm>
            <a:off x="9328150" y="2765389"/>
            <a:ext cx="2530475" cy="1735138"/>
          </a:xfrm>
        </p:spPr>
        <p:txBody>
          <a:bodyPr lIns="0" tIns="0" rIns="0" bIns="0">
            <a:normAutofit/>
          </a:bodyPr>
          <a:lstStyle>
            <a:lvl1pPr marL="0" indent="0">
              <a:buNone/>
              <a:defRPr sz="1400"/>
            </a:lvl1pPr>
          </a:lstStyle>
          <a:p>
            <a:endParaRPr lang="en-US" dirty="0"/>
          </a:p>
        </p:txBody>
      </p:sp>
      <p:sp>
        <p:nvSpPr>
          <p:cNvPr id="33" name="Text Placeholder 32"/>
          <p:cNvSpPr>
            <a:spLocks noGrp="1"/>
          </p:cNvSpPr>
          <p:nvPr>
            <p:ph type="body" sz="quarter" idx="17"/>
          </p:nvPr>
        </p:nvSpPr>
        <p:spPr>
          <a:xfrm>
            <a:off x="371489"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5" name="Text Placeholder 32"/>
          <p:cNvSpPr>
            <a:spLocks noGrp="1"/>
          </p:cNvSpPr>
          <p:nvPr>
            <p:ph type="body" sz="quarter" idx="18"/>
          </p:nvPr>
        </p:nvSpPr>
        <p:spPr>
          <a:xfrm>
            <a:off x="3353748"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6" name="Text Placeholder 32"/>
          <p:cNvSpPr>
            <a:spLocks noGrp="1"/>
          </p:cNvSpPr>
          <p:nvPr>
            <p:ph type="body" sz="quarter" idx="19"/>
          </p:nvPr>
        </p:nvSpPr>
        <p:spPr>
          <a:xfrm>
            <a:off x="6336007"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8" name="Text Placeholder 32"/>
          <p:cNvSpPr>
            <a:spLocks noGrp="1"/>
          </p:cNvSpPr>
          <p:nvPr>
            <p:ph type="body" sz="quarter" idx="20"/>
          </p:nvPr>
        </p:nvSpPr>
        <p:spPr>
          <a:xfrm>
            <a:off x="9318266" y="4729163"/>
            <a:ext cx="2544749" cy="1123950"/>
          </a:xfrm>
        </p:spPr>
        <p:txBody>
          <a:bodyPr lIns="0" tIns="0" rIns="0" bIns="0">
            <a:normAutofit/>
          </a:bodyPr>
          <a:lstStyle>
            <a:lvl1pPr marL="0" indent="0">
              <a:buNone/>
              <a:defRPr sz="1300">
                <a:latin typeface="+mj-lt"/>
              </a:defRPr>
            </a:lvl1pPr>
          </a:lstStyle>
          <a:p>
            <a:pPr lvl="0"/>
            <a:r>
              <a:rPr lang="en-GB" dirty="0"/>
              <a:t>Click to edit Master text styles</a:t>
            </a:r>
          </a:p>
        </p:txBody>
      </p:sp>
      <p:sp>
        <p:nvSpPr>
          <p:cNvPr id="39" name="Text Placeholder 32"/>
          <p:cNvSpPr>
            <a:spLocks noGrp="1"/>
          </p:cNvSpPr>
          <p:nvPr>
            <p:ph type="body" sz="quarter" idx="21" hasCustomPrompt="1"/>
          </p:nvPr>
        </p:nvSpPr>
        <p:spPr>
          <a:xfrm>
            <a:off x="371489"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sp>
        <p:nvSpPr>
          <p:cNvPr id="41" name="Text Placeholder 32"/>
          <p:cNvSpPr>
            <a:spLocks noGrp="1"/>
          </p:cNvSpPr>
          <p:nvPr>
            <p:ph type="body" sz="quarter" idx="22" hasCustomPrompt="1"/>
          </p:nvPr>
        </p:nvSpPr>
        <p:spPr>
          <a:xfrm>
            <a:off x="3370721"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sp>
        <p:nvSpPr>
          <p:cNvPr id="42" name="Text Placeholder 32"/>
          <p:cNvSpPr>
            <a:spLocks noGrp="1"/>
          </p:cNvSpPr>
          <p:nvPr>
            <p:ph type="body" sz="quarter" idx="23" hasCustomPrompt="1"/>
          </p:nvPr>
        </p:nvSpPr>
        <p:spPr>
          <a:xfrm>
            <a:off x="6333377"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sp>
        <p:nvSpPr>
          <p:cNvPr id="43" name="Text Placeholder 32"/>
          <p:cNvSpPr>
            <a:spLocks noGrp="1"/>
          </p:cNvSpPr>
          <p:nvPr>
            <p:ph type="body" sz="quarter" idx="24" hasCustomPrompt="1"/>
          </p:nvPr>
        </p:nvSpPr>
        <p:spPr>
          <a:xfrm>
            <a:off x="9314321" y="2178712"/>
            <a:ext cx="2544749" cy="404703"/>
          </a:xfrm>
        </p:spPr>
        <p:txBody>
          <a:bodyPr lIns="0" tIns="0" rIns="0" bIns="0">
            <a:noAutofit/>
          </a:bodyPr>
          <a:lstStyle>
            <a:lvl1pPr marL="0" indent="0">
              <a:buNone/>
              <a:defRPr sz="1800">
                <a:solidFill>
                  <a:schemeClr val="accent1"/>
                </a:solidFill>
                <a:latin typeface="+mj-lt"/>
              </a:defRPr>
            </a:lvl1pPr>
          </a:lstStyle>
          <a:p>
            <a:pPr lvl="0"/>
            <a:r>
              <a:rPr lang="en-GB" dirty="0"/>
              <a:t>Content Title</a:t>
            </a:r>
          </a:p>
        </p:txBody>
      </p:sp>
      <p:cxnSp>
        <p:nvCxnSpPr>
          <p:cNvPr id="46" name="Straight Connector 45"/>
          <p:cNvCxnSpPr/>
          <p:nvPr userDrawn="1"/>
        </p:nvCxnSpPr>
        <p:spPr>
          <a:xfrm>
            <a:off x="3127868" y="2012064"/>
            <a:ext cx="0" cy="4285441"/>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sp>
        <p:nvSpPr>
          <p:cNvPr id="4" name="Title 15"/>
          <p:cNvSpPr>
            <a:spLocks noGrp="1"/>
          </p:cNvSpPr>
          <p:nvPr>
            <p:ph type="title"/>
          </p:nvPr>
        </p:nvSpPr>
        <p:spPr>
          <a:xfrm>
            <a:off x="385859" y="1005422"/>
            <a:ext cx="10515600" cy="941442"/>
          </a:xfrm>
        </p:spPr>
        <p:txBody>
          <a:bodyPr lIns="0" anchor="t"/>
          <a:lstStyle>
            <a:lvl1pPr>
              <a:defRPr>
                <a:solidFill>
                  <a:schemeClr val="accent1"/>
                </a:solidFill>
                <a:latin typeface="+mj-lt"/>
              </a:defRPr>
            </a:lvl1pPr>
          </a:lstStyle>
          <a:p>
            <a:r>
              <a:rPr lang="en-GB" dirty="0"/>
              <a:t>Click to edit Master title style</a:t>
            </a:r>
            <a:endParaRPr lang="en-US" dirty="0"/>
          </a:p>
        </p:txBody>
      </p:sp>
      <p:pic>
        <p:nvPicPr>
          <p:cNvPr id="23" name="Picture 22"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Layout x 3 - White">
    <p:bg>
      <p:bgPr>
        <a:solidFill>
          <a:schemeClr val="bg1"/>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10" name="Title Placeholder 1"/>
          <p:cNvSpPr>
            <a:spLocks noGrp="1"/>
          </p:cNvSpPr>
          <p:nvPr>
            <p:ph type="title"/>
          </p:nvPr>
        </p:nvSpPr>
        <p:spPr>
          <a:xfrm>
            <a:off x="385859" y="1005422"/>
            <a:ext cx="10515600" cy="613728"/>
          </a:xfrm>
          <a:prstGeom prst="rect">
            <a:avLst/>
          </a:prstGeom>
        </p:spPr>
        <p:txBody>
          <a:bodyPr vert="horz" lIns="0" tIns="45720" rIns="91440" bIns="45720" rtlCol="0" anchor="ctr">
            <a:normAutofit/>
          </a:bodyPr>
          <a:lstStyle>
            <a:lvl1pPr>
              <a:defRPr>
                <a:solidFill>
                  <a:schemeClr val="accent1"/>
                </a:solidFill>
                <a:latin typeface="+mj-lt"/>
              </a:defRPr>
            </a:lvl1pPr>
          </a:lstStyle>
          <a:p>
            <a:r>
              <a:rPr lang="en-GB" dirty="0"/>
              <a:t>Click to edit Master title style</a:t>
            </a:r>
            <a:endParaRPr lang="en-US" dirty="0"/>
          </a:p>
        </p:txBody>
      </p:sp>
      <p:sp>
        <p:nvSpPr>
          <p:cNvPr id="2" name="Date Placeholder 1"/>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5" name="Footer Placeholder 4"/>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6" name="Slide Number Placeholder 5"/>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sp>
        <p:nvSpPr>
          <p:cNvPr id="25" name="Picture Placeholder 23"/>
          <p:cNvSpPr>
            <a:spLocks noGrp="1"/>
          </p:cNvSpPr>
          <p:nvPr>
            <p:ph type="pic" sz="quarter" idx="13"/>
          </p:nvPr>
        </p:nvSpPr>
        <p:spPr>
          <a:xfrm>
            <a:off x="385860" y="2715514"/>
            <a:ext cx="3465171" cy="2161286"/>
          </a:xfrm>
        </p:spPr>
        <p:txBody>
          <a:bodyPr lIns="0" tIns="0" rIns="0">
            <a:normAutofit/>
          </a:bodyPr>
          <a:lstStyle>
            <a:lvl1pPr marL="0" indent="0">
              <a:buNone/>
              <a:defRPr sz="1400"/>
            </a:lvl1pPr>
          </a:lstStyle>
          <a:p>
            <a:endParaRPr lang="en-US" dirty="0"/>
          </a:p>
        </p:txBody>
      </p:sp>
      <p:sp>
        <p:nvSpPr>
          <p:cNvPr id="34" name="Text Placeholder 32"/>
          <p:cNvSpPr>
            <a:spLocks noGrp="1"/>
          </p:cNvSpPr>
          <p:nvPr>
            <p:ph type="body" sz="quarter" idx="17"/>
          </p:nvPr>
        </p:nvSpPr>
        <p:spPr>
          <a:xfrm>
            <a:off x="371490" y="5111295"/>
            <a:ext cx="3478914" cy="837907"/>
          </a:xfrm>
        </p:spPr>
        <p:txBody>
          <a:bodyPr lIns="0" tIns="0" rIns="0">
            <a:normAutofit/>
          </a:bodyPr>
          <a:lstStyle>
            <a:lvl1pPr marL="0" indent="0">
              <a:buNone/>
              <a:defRPr sz="1300">
                <a:latin typeface="+mj-lt"/>
              </a:defRPr>
            </a:lvl1pPr>
          </a:lstStyle>
          <a:p>
            <a:pPr lvl="0"/>
            <a:r>
              <a:rPr lang="en-GB" dirty="0"/>
              <a:t>Click to edit Master text styles</a:t>
            </a:r>
          </a:p>
        </p:txBody>
      </p:sp>
      <p:sp>
        <p:nvSpPr>
          <p:cNvPr id="40" name="Picture Placeholder 23"/>
          <p:cNvSpPr>
            <a:spLocks noGrp="1"/>
          </p:cNvSpPr>
          <p:nvPr>
            <p:ph type="pic" sz="quarter" idx="18"/>
          </p:nvPr>
        </p:nvSpPr>
        <p:spPr>
          <a:xfrm>
            <a:off x="4328540" y="2715514"/>
            <a:ext cx="3465171" cy="2161286"/>
          </a:xfrm>
        </p:spPr>
        <p:txBody>
          <a:bodyPr lIns="0" tIns="0" rIns="0">
            <a:normAutofit/>
          </a:bodyPr>
          <a:lstStyle>
            <a:lvl1pPr marL="0" indent="0">
              <a:buNone/>
              <a:defRPr sz="1400"/>
            </a:lvl1pPr>
          </a:lstStyle>
          <a:p>
            <a:endParaRPr lang="en-US" dirty="0"/>
          </a:p>
        </p:txBody>
      </p:sp>
      <p:sp>
        <p:nvSpPr>
          <p:cNvPr id="44" name="Text Placeholder 32"/>
          <p:cNvSpPr>
            <a:spLocks noGrp="1"/>
          </p:cNvSpPr>
          <p:nvPr>
            <p:ph type="body" sz="quarter" idx="19"/>
          </p:nvPr>
        </p:nvSpPr>
        <p:spPr>
          <a:xfrm>
            <a:off x="4314170" y="5111295"/>
            <a:ext cx="3478914" cy="837907"/>
          </a:xfrm>
        </p:spPr>
        <p:txBody>
          <a:bodyPr lIns="0" tIns="0" rIns="0">
            <a:normAutofit/>
          </a:bodyPr>
          <a:lstStyle>
            <a:lvl1pPr marL="0" indent="0">
              <a:buNone/>
              <a:defRPr sz="1300">
                <a:latin typeface="+mj-lt"/>
              </a:defRPr>
            </a:lvl1pPr>
          </a:lstStyle>
          <a:p>
            <a:pPr lvl="0"/>
            <a:r>
              <a:rPr lang="en-GB" dirty="0"/>
              <a:t>Click to edit Master text styles</a:t>
            </a:r>
          </a:p>
        </p:txBody>
      </p:sp>
      <p:sp>
        <p:nvSpPr>
          <p:cNvPr id="47" name="Picture Placeholder 23"/>
          <p:cNvSpPr>
            <a:spLocks noGrp="1"/>
          </p:cNvSpPr>
          <p:nvPr>
            <p:ph type="pic" sz="quarter" idx="20"/>
          </p:nvPr>
        </p:nvSpPr>
        <p:spPr>
          <a:xfrm>
            <a:off x="8271220" y="2715514"/>
            <a:ext cx="3465171" cy="2161286"/>
          </a:xfrm>
        </p:spPr>
        <p:txBody>
          <a:bodyPr lIns="0" tIns="0" rIns="0">
            <a:normAutofit/>
          </a:bodyPr>
          <a:lstStyle>
            <a:lvl1pPr marL="0" indent="0">
              <a:buNone/>
              <a:defRPr sz="1400"/>
            </a:lvl1pPr>
          </a:lstStyle>
          <a:p>
            <a:endParaRPr lang="en-US" dirty="0"/>
          </a:p>
        </p:txBody>
      </p:sp>
      <p:sp>
        <p:nvSpPr>
          <p:cNvPr id="48" name="Text Placeholder 32"/>
          <p:cNvSpPr>
            <a:spLocks noGrp="1"/>
          </p:cNvSpPr>
          <p:nvPr>
            <p:ph type="body" sz="quarter" idx="21"/>
          </p:nvPr>
        </p:nvSpPr>
        <p:spPr>
          <a:xfrm>
            <a:off x="8256850" y="5111295"/>
            <a:ext cx="3478914" cy="837907"/>
          </a:xfrm>
        </p:spPr>
        <p:txBody>
          <a:bodyPr lIns="0" tIns="0" rIns="0">
            <a:normAutofit/>
          </a:bodyPr>
          <a:lstStyle>
            <a:lvl1pPr marL="0" indent="0">
              <a:buNone/>
              <a:defRPr sz="1300">
                <a:latin typeface="+mj-lt"/>
              </a:defRPr>
            </a:lvl1pPr>
          </a:lstStyle>
          <a:p>
            <a:pPr lvl="0"/>
            <a:r>
              <a:rPr lang="en-GB" dirty="0"/>
              <a:t>Click to edit Master text styles</a:t>
            </a:r>
          </a:p>
        </p:txBody>
      </p:sp>
      <p:sp>
        <p:nvSpPr>
          <p:cNvPr id="49" name="Text Placeholder 32"/>
          <p:cNvSpPr>
            <a:spLocks noGrp="1"/>
          </p:cNvSpPr>
          <p:nvPr>
            <p:ph type="body" sz="quarter" idx="22"/>
          </p:nvPr>
        </p:nvSpPr>
        <p:spPr>
          <a:xfrm>
            <a:off x="371490" y="1858143"/>
            <a:ext cx="3478914" cy="552536"/>
          </a:xfrm>
        </p:spPr>
        <p:txBody>
          <a:bodyPr lIns="0" tIns="0" rIns="0">
            <a:normAutofit/>
          </a:bodyPr>
          <a:lstStyle>
            <a:lvl1pPr marL="0" indent="0">
              <a:buNone/>
              <a:defRPr sz="1500">
                <a:latin typeface="+mj-lt"/>
              </a:defRPr>
            </a:lvl1pPr>
          </a:lstStyle>
          <a:p>
            <a:pPr lvl="0"/>
            <a:r>
              <a:rPr lang="en-GB" dirty="0"/>
              <a:t>Click to edit Master text styles</a:t>
            </a:r>
          </a:p>
        </p:txBody>
      </p:sp>
      <p:pic>
        <p:nvPicPr>
          <p:cNvPr id="15" name="Picture 14"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x 3 - Grey">
    <p:bg>
      <p:bgPr>
        <a:solidFill>
          <a:schemeClr val="bg2"/>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0" y="838456"/>
            <a:ext cx="12192000" cy="0"/>
          </a:xfrm>
          <a:prstGeom prst="line">
            <a:avLst/>
          </a:prstGeom>
        </p:spPr>
        <p:style>
          <a:lnRef idx="1">
            <a:schemeClr val="dk1"/>
          </a:lnRef>
          <a:fillRef idx="0">
            <a:schemeClr val="dk1"/>
          </a:fillRef>
          <a:effectRef idx="0">
            <a:schemeClr val="dk1"/>
          </a:effectRef>
          <a:fontRef idx="minor">
            <a:schemeClr val="tx1"/>
          </a:fontRef>
        </p:style>
      </p:cxnSp>
      <p:sp>
        <p:nvSpPr>
          <p:cNvPr id="10" name="Title Placeholder 1"/>
          <p:cNvSpPr>
            <a:spLocks noGrp="1"/>
          </p:cNvSpPr>
          <p:nvPr>
            <p:ph type="title"/>
          </p:nvPr>
        </p:nvSpPr>
        <p:spPr>
          <a:xfrm>
            <a:off x="385859" y="1005422"/>
            <a:ext cx="10515600" cy="613728"/>
          </a:xfrm>
          <a:prstGeom prst="rect">
            <a:avLst/>
          </a:prstGeom>
        </p:spPr>
        <p:txBody>
          <a:bodyPr vert="horz" lIns="0" tIns="45720" rIns="91440" bIns="45720" rtlCol="0" anchor="ctr">
            <a:normAutofit/>
          </a:bodyPr>
          <a:lstStyle>
            <a:lvl1pPr>
              <a:defRPr>
                <a:solidFill>
                  <a:schemeClr val="accent1"/>
                </a:solidFill>
                <a:latin typeface="+mj-lt"/>
              </a:defRPr>
            </a:lvl1pPr>
          </a:lstStyle>
          <a:p>
            <a:r>
              <a:rPr lang="en-GB" dirty="0"/>
              <a:t>Click to edit Master title style</a:t>
            </a:r>
            <a:endParaRPr lang="en-US" dirty="0"/>
          </a:p>
        </p:txBody>
      </p:sp>
      <p:sp>
        <p:nvSpPr>
          <p:cNvPr id="2" name="Date Placeholder 1"/>
          <p:cNvSpPr>
            <a:spLocks noGrp="1"/>
          </p:cNvSpPr>
          <p:nvPr>
            <p:ph type="dt" sz="half" idx="10"/>
          </p:nvPr>
        </p:nvSpPr>
        <p:spPr/>
        <p:txBody>
          <a:bodyPr lIns="0"/>
          <a:lstStyle>
            <a:lvl1pPr>
              <a:defRPr>
                <a:solidFill>
                  <a:schemeClr val="accent1"/>
                </a:solidFill>
                <a:latin typeface="+mj-lt"/>
              </a:defRPr>
            </a:lvl1pPr>
          </a:lstStyle>
          <a:p>
            <a:fld id="{413D1F58-D3D3-4849-B7BE-D4798A976CD7}" type="datetime3">
              <a:rPr lang="en-US" smtClean="0"/>
              <a:t>10 March 2026</a:t>
            </a:fld>
            <a:endParaRPr lang="en-US" dirty="0"/>
          </a:p>
        </p:txBody>
      </p:sp>
      <p:sp>
        <p:nvSpPr>
          <p:cNvPr id="5" name="Footer Placeholder 4"/>
          <p:cNvSpPr>
            <a:spLocks noGrp="1"/>
          </p:cNvSpPr>
          <p:nvPr>
            <p:ph type="ftr" sz="quarter" idx="11"/>
          </p:nvPr>
        </p:nvSpPr>
        <p:spPr/>
        <p:txBody>
          <a:bodyPr lIns="0"/>
          <a:lstStyle>
            <a:lvl1pPr>
              <a:defRPr>
                <a:latin typeface="+mj-lt"/>
              </a:defRPr>
            </a:lvl1pPr>
          </a:lstStyle>
          <a:p>
            <a:r>
              <a:rPr lang="en-US"/>
              <a:t>Click to edit master text styles</a:t>
            </a:r>
            <a:endParaRPr lang="en-US" dirty="0"/>
          </a:p>
        </p:txBody>
      </p:sp>
      <p:sp>
        <p:nvSpPr>
          <p:cNvPr id="6" name="Slide Number Placeholder 5"/>
          <p:cNvSpPr>
            <a:spLocks noGrp="1"/>
          </p:cNvSpPr>
          <p:nvPr>
            <p:ph type="sldNum" sz="quarter" idx="12"/>
          </p:nvPr>
        </p:nvSpPr>
        <p:spPr/>
        <p:txBody>
          <a:bodyPr/>
          <a:lstStyle>
            <a:lvl1pPr>
              <a:defRPr>
                <a:latin typeface="+mj-lt"/>
              </a:defRPr>
            </a:lvl1pPr>
          </a:lstStyle>
          <a:p>
            <a:fld id="{7EB81B2B-FE88-CD45-B1AD-F9ACA635D2C8}" type="slidenum">
              <a:rPr lang="en-US" smtClean="0"/>
              <a:t>‹#›</a:t>
            </a:fld>
            <a:endParaRPr lang="en-US" dirty="0"/>
          </a:p>
        </p:txBody>
      </p:sp>
      <p:sp>
        <p:nvSpPr>
          <p:cNvPr id="25" name="Picture Placeholder 23"/>
          <p:cNvSpPr>
            <a:spLocks noGrp="1"/>
          </p:cNvSpPr>
          <p:nvPr>
            <p:ph type="pic" sz="quarter" idx="13"/>
          </p:nvPr>
        </p:nvSpPr>
        <p:spPr>
          <a:xfrm>
            <a:off x="385860" y="2715514"/>
            <a:ext cx="3465171" cy="2161286"/>
          </a:xfrm>
        </p:spPr>
        <p:txBody>
          <a:bodyPr lIns="0" tIns="0" rIns="0">
            <a:normAutofit/>
          </a:bodyPr>
          <a:lstStyle>
            <a:lvl1pPr marL="0" indent="0">
              <a:buNone/>
              <a:defRPr sz="1400"/>
            </a:lvl1pPr>
          </a:lstStyle>
          <a:p>
            <a:endParaRPr lang="en-US" dirty="0"/>
          </a:p>
        </p:txBody>
      </p:sp>
      <p:sp>
        <p:nvSpPr>
          <p:cNvPr id="34" name="Text Placeholder 32"/>
          <p:cNvSpPr>
            <a:spLocks noGrp="1"/>
          </p:cNvSpPr>
          <p:nvPr>
            <p:ph type="body" sz="quarter" idx="17"/>
          </p:nvPr>
        </p:nvSpPr>
        <p:spPr>
          <a:xfrm>
            <a:off x="371490" y="5111295"/>
            <a:ext cx="3478914" cy="837907"/>
          </a:xfrm>
        </p:spPr>
        <p:txBody>
          <a:bodyPr lIns="0" tIns="0" rIns="0">
            <a:normAutofit/>
          </a:bodyPr>
          <a:lstStyle>
            <a:lvl1pPr marL="0" indent="0">
              <a:buNone/>
              <a:defRPr sz="1300">
                <a:latin typeface="+mj-lt"/>
              </a:defRPr>
            </a:lvl1pPr>
          </a:lstStyle>
          <a:p>
            <a:pPr lvl="0"/>
            <a:r>
              <a:rPr lang="en-GB" dirty="0"/>
              <a:t>Click to edit Master text styles</a:t>
            </a:r>
          </a:p>
        </p:txBody>
      </p:sp>
      <p:sp>
        <p:nvSpPr>
          <p:cNvPr id="40" name="Picture Placeholder 23"/>
          <p:cNvSpPr>
            <a:spLocks noGrp="1"/>
          </p:cNvSpPr>
          <p:nvPr>
            <p:ph type="pic" sz="quarter" idx="18"/>
          </p:nvPr>
        </p:nvSpPr>
        <p:spPr>
          <a:xfrm>
            <a:off x="4328540" y="2715514"/>
            <a:ext cx="3465171" cy="2161286"/>
          </a:xfrm>
        </p:spPr>
        <p:txBody>
          <a:bodyPr lIns="0" tIns="0" rIns="0">
            <a:normAutofit/>
          </a:bodyPr>
          <a:lstStyle>
            <a:lvl1pPr marL="0" indent="0">
              <a:buNone/>
              <a:defRPr sz="1400"/>
            </a:lvl1pPr>
          </a:lstStyle>
          <a:p>
            <a:endParaRPr lang="en-US" dirty="0"/>
          </a:p>
        </p:txBody>
      </p:sp>
      <p:sp>
        <p:nvSpPr>
          <p:cNvPr id="44" name="Text Placeholder 32"/>
          <p:cNvSpPr>
            <a:spLocks noGrp="1"/>
          </p:cNvSpPr>
          <p:nvPr>
            <p:ph type="body" sz="quarter" idx="19"/>
          </p:nvPr>
        </p:nvSpPr>
        <p:spPr>
          <a:xfrm>
            <a:off x="4314170" y="5111295"/>
            <a:ext cx="3478914" cy="837907"/>
          </a:xfrm>
        </p:spPr>
        <p:txBody>
          <a:bodyPr lIns="0" tIns="0" rIns="0">
            <a:normAutofit/>
          </a:bodyPr>
          <a:lstStyle>
            <a:lvl1pPr marL="0" indent="0">
              <a:buNone/>
              <a:defRPr sz="1300">
                <a:latin typeface="+mj-lt"/>
              </a:defRPr>
            </a:lvl1pPr>
          </a:lstStyle>
          <a:p>
            <a:pPr lvl="0"/>
            <a:r>
              <a:rPr lang="en-GB" dirty="0"/>
              <a:t>Click to edit Master text styles</a:t>
            </a:r>
          </a:p>
        </p:txBody>
      </p:sp>
      <p:sp>
        <p:nvSpPr>
          <p:cNvPr id="47" name="Picture Placeholder 23"/>
          <p:cNvSpPr>
            <a:spLocks noGrp="1"/>
          </p:cNvSpPr>
          <p:nvPr>
            <p:ph type="pic" sz="quarter" idx="20"/>
          </p:nvPr>
        </p:nvSpPr>
        <p:spPr>
          <a:xfrm>
            <a:off x="8271220" y="2715514"/>
            <a:ext cx="3465171" cy="2161286"/>
          </a:xfrm>
        </p:spPr>
        <p:txBody>
          <a:bodyPr lIns="0" tIns="0" rIns="0">
            <a:normAutofit/>
          </a:bodyPr>
          <a:lstStyle>
            <a:lvl1pPr marL="0" indent="0">
              <a:buNone/>
              <a:defRPr sz="1400"/>
            </a:lvl1pPr>
          </a:lstStyle>
          <a:p>
            <a:endParaRPr lang="en-US" dirty="0"/>
          </a:p>
        </p:txBody>
      </p:sp>
      <p:sp>
        <p:nvSpPr>
          <p:cNvPr id="48" name="Text Placeholder 32"/>
          <p:cNvSpPr>
            <a:spLocks noGrp="1"/>
          </p:cNvSpPr>
          <p:nvPr>
            <p:ph type="body" sz="quarter" idx="21"/>
          </p:nvPr>
        </p:nvSpPr>
        <p:spPr>
          <a:xfrm>
            <a:off x="8256850" y="5111295"/>
            <a:ext cx="3478914" cy="837907"/>
          </a:xfrm>
        </p:spPr>
        <p:txBody>
          <a:bodyPr lIns="0" tIns="0" rIns="0">
            <a:normAutofit/>
          </a:bodyPr>
          <a:lstStyle>
            <a:lvl1pPr marL="0" indent="0">
              <a:buNone/>
              <a:defRPr sz="1300">
                <a:latin typeface="+mj-lt"/>
              </a:defRPr>
            </a:lvl1pPr>
          </a:lstStyle>
          <a:p>
            <a:pPr lvl="0"/>
            <a:r>
              <a:rPr lang="en-GB" dirty="0"/>
              <a:t>Click to edit Master text styles</a:t>
            </a:r>
          </a:p>
        </p:txBody>
      </p:sp>
      <p:sp>
        <p:nvSpPr>
          <p:cNvPr id="49" name="Text Placeholder 32"/>
          <p:cNvSpPr>
            <a:spLocks noGrp="1"/>
          </p:cNvSpPr>
          <p:nvPr>
            <p:ph type="body" sz="quarter" idx="22"/>
          </p:nvPr>
        </p:nvSpPr>
        <p:spPr>
          <a:xfrm>
            <a:off x="371490" y="1858143"/>
            <a:ext cx="3478914" cy="552536"/>
          </a:xfrm>
        </p:spPr>
        <p:txBody>
          <a:bodyPr lIns="0" tIns="0" rIns="0">
            <a:normAutofit/>
          </a:bodyPr>
          <a:lstStyle>
            <a:lvl1pPr marL="0" indent="0">
              <a:buNone/>
              <a:defRPr sz="1500">
                <a:latin typeface="+mj-lt"/>
              </a:defRPr>
            </a:lvl1pPr>
          </a:lstStyle>
          <a:p>
            <a:pPr lvl="0"/>
            <a:r>
              <a:rPr lang="en-GB" dirty="0"/>
              <a:t>Click to edit Master text styles</a:t>
            </a:r>
          </a:p>
        </p:txBody>
      </p:sp>
      <p:pic>
        <p:nvPicPr>
          <p:cNvPr id="17" name="Picture 16" descr="A picture containing text&#10;&#10;Description automatically generated"/>
          <p:cNvPicPr>
            <a:picLocks noChangeAspect="1"/>
          </p:cNvPicPr>
          <p:nvPr userDrawn="1"/>
        </p:nvPicPr>
        <p:blipFill>
          <a:blip r:embed="rId2" cstate="print"/>
          <a:stretch>
            <a:fillRect/>
          </a:stretch>
        </p:blipFill>
        <p:spPr>
          <a:xfrm>
            <a:off x="10784718" y="104613"/>
            <a:ext cx="1332676" cy="67665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lIns="0"/>
          <a:lstStyle>
            <a:lvl1pPr>
              <a:defRPr>
                <a:solidFill>
                  <a:schemeClr val="accent4"/>
                </a:solidFill>
                <a:latin typeface="+mj-lt"/>
              </a:defRPr>
            </a:lvl1pPr>
          </a:lstStyle>
          <a:p>
            <a:fld id="{3E83767F-755E-6748-AD6F-27B3538221CE}" type="datetime3">
              <a:rPr lang="en-US" smtClean="0"/>
              <a:t>10 March 2026</a:t>
            </a:fld>
            <a:endParaRPr lang="en-US" dirty="0"/>
          </a:p>
        </p:txBody>
      </p:sp>
      <p:sp>
        <p:nvSpPr>
          <p:cNvPr id="11" name="Slide Number Placeholder 5"/>
          <p:cNvSpPr>
            <a:spLocks noGrp="1"/>
          </p:cNvSpPr>
          <p:nvPr>
            <p:ph type="sldNum" sz="quarter" idx="12"/>
          </p:nvPr>
        </p:nvSpPr>
        <p:spPr>
          <a:xfrm>
            <a:off x="9303195" y="6356350"/>
            <a:ext cx="2743200" cy="365125"/>
          </a:xfrm>
        </p:spPr>
        <p:txBody>
          <a:bodyPr/>
          <a:lstStyle>
            <a:lvl1pPr>
              <a:defRPr>
                <a:solidFill>
                  <a:schemeClr val="bg1"/>
                </a:solidFill>
                <a:latin typeface="+mj-lt"/>
              </a:defRPr>
            </a:lvl1pPr>
          </a:lstStyle>
          <a:p>
            <a:fld id="{7EB81B2B-FE88-CD45-B1AD-F9ACA635D2C8}" type="slidenum">
              <a:rPr lang="en-US" smtClean="0"/>
              <a:t>‹#›</a:t>
            </a:fld>
            <a:endParaRPr lang="en-US"/>
          </a:p>
        </p:txBody>
      </p:sp>
      <p:cxnSp>
        <p:nvCxnSpPr>
          <p:cNvPr id="7" name="Straight Connector 6"/>
          <p:cNvCxnSpPr/>
          <p:nvPr userDrawn="1"/>
        </p:nvCxnSpPr>
        <p:spPr>
          <a:xfrm>
            <a:off x="0" y="838456"/>
            <a:ext cx="1219200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9" name="Title 1"/>
          <p:cNvSpPr>
            <a:spLocks noGrp="1"/>
          </p:cNvSpPr>
          <p:nvPr>
            <p:ph type="ctrTitle" hasCustomPrompt="1"/>
          </p:nvPr>
        </p:nvSpPr>
        <p:spPr>
          <a:xfrm>
            <a:off x="397981" y="3429000"/>
            <a:ext cx="4156434" cy="813331"/>
          </a:xfrm>
        </p:spPr>
        <p:txBody>
          <a:bodyPr lIns="0" anchor="t">
            <a:normAutofit/>
          </a:bodyPr>
          <a:lstStyle>
            <a:lvl1pPr algn="l">
              <a:defRPr sz="4800">
                <a:solidFill>
                  <a:schemeClr val="accent4"/>
                </a:solidFill>
                <a:latin typeface="+mj-lt"/>
              </a:defRPr>
            </a:lvl1pPr>
          </a:lstStyle>
          <a:p>
            <a:r>
              <a:rPr lang="en-GB" dirty="0"/>
              <a:t>Thank You</a:t>
            </a:r>
            <a:endParaRPr lang="en-US" dirty="0"/>
          </a:p>
        </p:txBody>
      </p:sp>
      <p:sp>
        <p:nvSpPr>
          <p:cNvPr id="10" name="Subtitle 2"/>
          <p:cNvSpPr>
            <a:spLocks noGrp="1"/>
          </p:cNvSpPr>
          <p:nvPr>
            <p:ph type="subTitle" idx="1"/>
          </p:nvPr>
        </p:nvSpPr>
        <p:spPr>
          <a:xfrm>
            <a:off x="397980" y="4410734"/>
            <a:ext cx="4156435" cy="1565353"/>
          </a:xfrm>
        </p:spPr>
        <p:txBody>
          <a:bodyPr lIns="0">
            <a:normAutofit/>
          </a:bodyPr>
          <a:lstStyle>
            <a:lvl1pPr marL="0" indent="0" algn="l">
              <a:lnSpc>
                <a:spcPct val="100000"/>
              </a:lnSpc>
              <a:buNone/>
              <a:defRPr sz="13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12" name="Picture 11" descr="A picture containing text, clipart&#10;&#10;Description automatically generated"/>
          <p:cNvPicPr>
            <a:picLocks noChangeAspect="1"/>
          </p:cNvPicPr>
          <p:nvPr userDrawn="1"/>
        </p:nvPicPr>
        <p:blipFill>
          <a:blip r:embed="rId2" cstate="print"/>
          <a:stretch>
            <a:fillRect/>
          </a:stretch>
        </p:blipFill>
        <p:spPr>
          <a:xfrm>
            <a:off x="10909464" y="163196"/>
            <a:ext cx="1098356" cy="51206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859" y="1005422"/>
            <a:ext cx="10515600" cy="61372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385859" y="1806140"/>
            <a:ext cx="10515600" cy="4349731"/>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385859" y="6356350"/>
            <a:ext cx="2743200" cy="365125"/>
          </a:xfrm>
          <a:prstGeom prst="rect">
            <a:avLst/>
          </a:prstGeom>
        </p:spPr>
        <p:txBody>
          <a:bodyPr vert="horz" lIns="91440" tIns="45720" rIns="91440" bIns="45720" rtlCol="0" anchor="ctr"/>
          <a:lstStyle>
            <a:lvl1pPr algn="l">
              <a:defRPr sz="900" b="0" i="0">
                <a:solidFill>
                  <a:schemeClr val="tx1"/>
                </a:solidFill>
                <a:latin typeface="Arial" panose="020B0604020202020204" pitchFamily="34" charset="0"/>
                <a:ea typeface="Noto Sans TC" panose="020B0500000000000000" pitchFamily="34" charset="-128"/>
                <a:cs typeface="Arial" panose="020B0604020202020204" pitchFamily="34" charset="0"/>
              </a:defRPr>
            </a:lvl1pPr>
          </a:lstStyle>
          <a:p>
            <a:fld id="{413D1F58-D3D3-4849-B7BE-D4798A976CD7}" type="datetime3">
              <a:rPr lang="en-US" smtClean="0"/>
              <a:t>10 March 2026</a:t>
            </a:fld>
            <a:endParaRPr lang="en-US" dirty="0"/>
          </a:p>
        </p:txBody>
      </p:sp>
      <p:sp>
        <p:nvSpPr>
          <p:cNvPr id="6" name="Slide Number Placeholder 5"/>
          <p:cNvSpPr>
            <a:spLocks noGrp="1"/>
          </p:cNvSpPr>
          <p:nvPr>
            <p:ph type="sldNum" sz="quarter" idx="4"/>
          </p:nvPr>
        </p:nvSpPr>
        <p:spPr>
          <a:xfrm>
            <a:off x="9185302" y="6356350"/>
            <a:ext cx="2743200" cy="365125"/>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ea typeface="Noto Sans TC" panose="020B0500000000000000" pitchFamily="34" charset="-128"/>
                <a:cs typeface="Arial" panose="020B0604020202020204" pitchFamily="34" charset="0"/>
              </a:defRPr>
            </a:lvl1pPr>
          </a:lstStyle>
          <a:p>
            <a:fld id="{7EB81B2B-FE88-CD45-B1AD-F9ACA635D2C8}" type="slidenum">
              <a:rPr lang="en-US" smtClean="0"/>
              <a:t>‹#›</a:t>
            </a:fld>
            <a:endParaRPr lang="en-US" dirty="0"/>
          </a:p>
        </p:txBody>
      </p:sp>
      <p:sp>
        <p:nvSpPr>
          <p:cNvPr id="7" name="Footer Placeholder 3"/>
          <p:cNvSpPr>
            <a:spLocks noGrp="1"/>
          </p:cNvSpPr>
          <p:nvPr>
            <p:ph type="ftr" sz="quarter" idx="3"/>
          </p:nvPr>
        </p:nvSpPr>
        <p:spPr>
          <a:xfrm>
            <a:off x="385859" y="338284"/>
            <a:ext cx="3214838" cy="333207"/>
          </a:xfrm>
          <a:prstGeom prst="rect">
            <a:avLst/>
          </a:prstGeom>
        </p:spPr>
        <p:txBody>
          <a:bodyPr/>
          <a:lstStyle>
            <a:lvl1pPr algn="l">
              <a:defRPr sz="1400" b="0" i="0">
                <a:latin typeface="Arial" panose="020B0604020202020204" pitchFamily="34" charset="0"/>
                <a:ea typeface="Noto Sans TC" panose="020B0500000000000000" pitchFamily="34" charset="-128"/>
                <a:cs typeface="Arial" panose="020B0604020202020204" pitchFamily="34" charset="0"/>
              </a:defRPr>
            </a:lvl1pPr>
          </a:lstStyle>
          <a:p>
            <a:r>
              <a:rPr lang="en-US"/>
              <a:t>Click to edit master text styles</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p:txStyles>
    <p:titleStyle>
      <a:lvl1pPr algn="l" defTabSz="914400" rtl="0" eaLnBrk="1" latinLnBrk="0" hangingPunct="1">
        <a:lnSpc>
          <a:spcPct val="90000"/>
        </a:lnSpc>
        <a:spcBef>
          <a:spcPct val="0"/>
        </a:spcBef>
        <a:buNone/>
        <a:defRPr sz="2800" b="0" i="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chemeClr val="accent1"/>
        </a:buClr>
        <a:buSzPct val="100000"/>
        <a:buFont typeface="Arial" panose="020B0604020202020204" pitchFamily="34" charset="0"/>
        <a:buChar char="•"/>
        <a:defRPr sz="2000" b="0" i="0" kern="1200">
          <a:solidFill>
            <a:schemeClr val="tx1"/>
          </a:solidFill>
          <a:latin typeface="Arial" panose="020B0604020202020204" pitchFamily="34" charset="0"/>
          <a:ea typeface="Noto Sans TC" panose="020B0500000000000000" pitchFamily="34" charset="-128"/>
          <a:cs typeface="Arial" panose="020B0604020202020204" pitchFamily="34" charset="0"/>
        </a:defRPr>
      </a:lvl1pPr>
      <a:lvl2pPr marL="6858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800" b="0" i="0" kern="1200">
          <a:solidFill>
            <a:schemeClr val="tx1"/>
          </a:solidFill>
          <a:latin typeface="Arial" panose="020B0604020202020204" pitchFamily="34" charset="0"/>
          <a:ea typeface="Noto Sans TC" panose="020B0500000000000000" pitchFamily="34" charset="-128"/>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800" b="0" i="0" kern="1200">
          <a:solidFill>
            <a:schemeClr val="tx1"/>
          </a:solidFill>
          <a:latin typeface="Arial" panose="020B0604020202020204" pitchFamily="34" charset="0"/>
          <a:ea typeface="Noto Sans TC" panose="020B0500000000000000" pitchFamily="34" charset="-128"/>
          <a:cs typeface="Arial" panose="020B0604020202020204" pitchFamily="34" charset="0"/>
        </a:defRPr>
      </a:lvl3pPr>
      <a:lvl4pPr marL="16002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600" b="0" i="0" kern="1200">
          <a:solidFill>
            <a:schemeClr val="tx1"/>
          </a:solidFill>
          <a:latin typeface="Arial" panose="020B0604020202020204" pitchFamily="34" charset="0"/>
          <a:ea typeface="Noto Sans TC" panose="020B0500000000000000" pitchFamily="34" charset="-128"/>
          <a:cs typeface="Arial" panose="020B0604020202020204" pitchFamily="34" charset="0"/>
        </a:defRPr>
      </a:lvl4pPr>
      <a:lvl5pPr marL="20574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600" b="0" i="0" kern="1200">
          <a:solidFill>
            <a:schemeClr val="tx1"/>
          </a:solidFill>
          <a:latin typeface="Arial" panose="020B0604020202020204" pitchFamily="34" charset="0"/>
          <a:ea typeface="Noto Sans TC" panose="020B0500000000000000" pitchFamily="34" charset="-128"/>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A6EFBD79-90F3-2384-DCFE-B4B3C3E60635}"/>
              </a:ext>
            </a:extLst>
          </p:cNvPr>
          <p:cNvSpPr/>
          <p:nvPr/>
        </p:nvSpPr>
        <p:spPr>
          <a:xfrm>
            <a:off x="4683125" y="0"/>
            <a:ext cx="7508875" cy="6858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pitchFamily="34" charset="0"/>
              <a:ea typeface="Microsoft JhengHei"/>
              <a:cs typeface="+mn-cs"/>
            </a:endParaRPr>
          </a:p>
        </p:txBody>
      </p:sp>
      <p:sp>
        <p:nvSpPr>
          <p:cNvPr id="3" name="Title 2"/>
          <p:cNvSpPr>
            <a:spLocks noGrp="1"/>
          </p:cNvSpPr>
          <p:nvPr>
            <p:ph type="ctrTitle"/>
          </p:nvPr>
        </p:nvSpPr>
        <p:spPr>
          <a:xfrm>
            <a:off x="0" y="2088461"/>
            <a:ext cx="12191999" cy="3137113"/>
          </a:xfrm>
        </p:spPr>
        <p:txBody>
          <a:bodyPr/>
          <a:lstStyle/>
          <a:p>
            <a:pPr algn="ctr">
              <a:lnSpc>
                <a:spcPct val="150000"/>
              </a:lnSpc>
            </a:pPr>
            <a:r>
              <a:rPr lang="en-US" sz="3600" b="1" dirty="0">
                <a:solidFill>
                  <a:schemeClr val="accent1"/>
                </a:solidFill>
              </a:rPr>
              <a:t>Dynamic Coupon Targeting Using Batch Deep Reinforcement: An Application to Livestream Shopping</a:t>
            </a:r>
          </a:p>
        </p:txBody>
      </p:sp>
      <p:sp>
        <p:nvSpPr>
          <p:cNvPr id="4" name="文本框 3"/>
          <p:cNvSpPr txBox="1"/>
          <p:nvPr/>
        </p:nvSpPr>
        <p:spPr>
          <a:xfrm>
            <a:off x="2421814" y="5408081"/>
            <a:ext cx="7508875" cy="1077218"/>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7D2781"/>
                </a:solidFill>
                <a:effectLst/>
                <a:uLnTx/>
                <a:uFillTx/>
                <a:latin typeface="Arial"/>
                <a:ea typeface="Microsoft JhengHei"/>
                <a:cs typeface="+mn-cs"/>
              </a:rPr>
              <a:t>Luxuan Liu, Zhongyuan Zhou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7D2781"/>
                </a:solidFill>
                <a:effectLst/>
                <a:uLnTx/>
                <a:uFillTx/>
                <a:latin typeface="Arial"/>
                <a:ea typeface="Microsoft JhengHei"/>
                <a:cs typeface="+mn-cs"/>
              </a:rPr>
              <a:t>School of Hotel and Tourism Management, CUHK Business School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srgbClr val="7D2781"/>
              </a:solidFill>
              <a:effectLst/>
              <a:uLnTx/>
              <a:uFillTx/>
              <a:latin typeface="Arial"/>
              <a:ea typeface="Microsoft JhengHe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7D2781"/>
                </a:solidFill>
                <a:effectLst/>
                <a:uLnTx/>
                <a:uFillTx/>
                <a:latin typeface="Arial"/>
                <a:ea typeface="Microsoft JhengHei"/>
                <a:cs typeface="+mn-cs"/>
              </a:rPr>
              <a:t>March, 2026</a:t>
            </a:r>
          </a:p>
        </p:txBody>
      </p:sp>
      <p:pic>
        <p:nvPicPr>
          <p:cNvPr id="7" name="图片 5">
            <a:extLst>
              <a:ext uri="{FF2B5EF4-FFF2-40B4-BE49-F238E27FC236}">
                <a16:creationId xmlns:a16="http://schemas.microsoft.com/office/drawing/2014/main" id="{F5C06DFE-7D83-F944-B621-1B01A16FD233}"/>
              </a:ext>
            </a:extLst>
          </p:cNvPr>
          <p:cNvPicPr>
            <a:picLocks noChangeAspect="1"/>
          </p:cNvPicPr>
          <p:nvPr/>
        </p:nvPicPr>
        <p:blipFill>
          <a:blip r:embed="rId3"/>
          <a:stretch>
            <a:fillRect/>
          </a:stretch>
        </p:blipFill>
        <p:spPr>
          <a:xfrm>
            <a:off x="3856139" y="-883169"/>
            <a:ext cx="4640226" cy="30934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415"/>
    </mc:Choice>
    <mc:Fallback xmlns="">
      <p:transition spd="slow" advTm="11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D5F24-CF25-07EF-494F-EA20CA91753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B68E97-D0E8-5FB2-F39B-2F5F0DD2D8CC}"/>
              </a:ext>
            </a:extLst>
          </p:cNvPr>
          <p:cNvSpPr>
            <a:spLocks noGrp="1"/>
          </p:cNvSpPr>
          <p:nvPr>
            <p:ph type="ctrTitle"/>
          </p:nvPr>
        </p:nvSpPr>
        <p:spPr>
          <a:xfrm>
            <a:off x="207480" y="205509"/>
            <a:ext cx="10748541" cy="450916"/>
          </a:xfrm>
        </p:spPr>
        <p:txBody>
          <a:bodyPr>
            <a:noAutofit/>
          </a:bodyPr>
          <a:lstStyle/>
          <a:p>
            <a:r>
              <a:rPr lang="en-US" sz="3200" dirty="0"/>
              <a:t>Dynamic coupon in the e-commerce era</a:t>
            </a:r>
          </a:p>
        </p:txBody>
      </p:sp>
      <p:grpSp>
        <p:nvGrpSpPr>
          <p:cNvPr id="8" name="Group 7">
            <a:extLst>
              <a:ext uri="{FF2B5EF4-FFF2-40B4-BE49-F238E27FC236}">
                <a16:creationId xmlns:a16="http://schemas.microsoft.com/office/drawing/2014/main" id="{37CB3D99-35C9-06D3-48EE-8625919E0EF1}"/>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6EF50436-BB44-1E97-0B86-BE93F87593C5}"/>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057D0B99-B62E-3515-673F-C062B8CF6781}"/>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pic>
        <p:nvPicPr>
          <p:cNvPr id="5" name="图片 4">
            <a:extLst>
              <a:ext uri="{FF2B5EF4-FFF2-40B4-BE49-F238E27FC236}">
                <a16:creationId xmlns:a16="http://schemas.microsoft.com/office/drawing/2014/main" id="{12C9E73C-EABA-FBB5-E35D-69D4B5D9349C}"/>
              </a:ext>
            </a:extLst>
          </p:cNvPr>
          <p:cNvPicPr>
            <a:picLocks noChangeAspect="1"/>
          </p:cNvPicPr>
          <p:nvPr/>
        </p:nvPicPr>
        <p:blipFill>
          <a:blip r:embed="rId4"/>
          <a:stretch>
            <a:fillRect/>
          </a:stretch>
        </p:blipFill>
        <p:spPr>
          <a:xfrm>
            <a:off x="86498" y="2232740"/>
            <a:ext cx="7748029" cy="3751479"/>
          </a:xfrm>
          <a:prstGeom prst="rect">
            <a:avLst/>
          </a:prstGeom>
        </p:spPr>
      </p:pic>
      <p:sp>
        <p:nvSpPr>
          <p:cNvPr id="4" name="文本框 3">
            <a:extLst>
              <a:ext uri="{FF2B5EF4-FFF2-40B4-BE49-F238E27FC236}">
                <a16:creationId xmlns:a16="http://schemas.microsoft.com/office/drawing/2014/main" id="{EA6AB174-A8B7-5F8C-D7D8-FA874C47E425}"/>
              </a:ext>
            </a:extLst>
          </p:cNvPr>
          <p:cNvSpPr txBox="1"/>
          <p:nvPr/>
        </p:nvSpPr>
        <p:spPr>
          <a:xfrm>
            <a:off x="7735672" y="1875029"/>
            <a:ext cx="4204485" cy="419602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Dynamic and personalized pricing </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improves market efficiency.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To maintain fairness and customer trust, firms often use </a:t>
            </a: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personalized coupons instead of direct price discrimination</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Digital coupon redemption is projected to grow from $47B (2017) to $91B (2022).</a:t>
            </a:r>
            <a:b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b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9" name="文本框 8">
            <a:extLst>
              <a:ext uri="{FF2B5EF4-FFF2-40B4-BE49-F238E27FC236}">
                <a16:creationId xmlns:a16="http://schemas.microsoft.com/office/drawing/2014/main" id="{0C785D64-E23D-E3CD-E5D5-9F600156028B}"/>
              </a:ext>
            </a:extLst>
          </p:cNvPr>
          <p:cNvSpPr txBox="1"/>
          <p:nvPr/>
        </p:nvSpPr>
        <p:spPr>
          <a:xfrm>
            <a:off x="651991" y="1121417"/>
            <a:ext cx="1120166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rPr>
              <a:t>Liu, X. (2023). Dynamic coupon targeting using batch deep reinforcement learning: An application to livestream shopping. </a:t>
            </a:r>
            <a:r>
              <a:rPr kumimoji="0" lang="zh-CN" altLang="en-US" sz="1800" b="0" i="1" u="none" strike="noStrike" kern="1200" cap="none" spc="0" normalizeH="0" baseline="0" noProof="0" dirty="0">
                <a:ln>
                  <a:noFill/>
                </a:ln>
                <a:solidFill>
                  <a:srgbClr val="000000"/>
                </a:solidFill>
                <a:effectLst/>
                <a:uLnTx/>
                <a:uFillTx/>
                <a:latin typeface="Arial"/>
                <a:ea typeface="Microsoft JhengHei"/>
                <a:cs typeface="+mn-cs"/>
              </a:rPr>
              <a:t>Marketing Science, 42</a:t>
            </a:r>
            <a:r>
              <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rPr>
              <a:t>(4), 637-658.</a:t>
            </a:r>
          </a:p>
        </p:txBody>
      </p:sp>
    </p:spTree>
    <p:extLst>
      <p:ext uri="{BB962C8B-B14F-4D97-AF65-F5344CB8AC3E}">
        <p14:creationId xmlns:p14="http://schemas.microsoft.com/office/powerpoint/2010/main" val="3697665570"/>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2C6E5-4A71-CE77-4935-86A165F63A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F614A1-C49B-F0A4-28D3-8626852C02CF}"/>
              </a:ext>
            </a:extLst>
          </p:cNvPr>
          <p:cNvSpPr>
            <a:spLocks noGrp="1"/>
          </p:cNvSpPr>
          <p:nvPr>
            <p:ph type="ctrTitle"/>
          </p:nvPr>
        </p:nvSpPr>
        <p:spPr>
          <a:xfrm>
            <a:off x="207480" y="205509"/>
            <a:ext cx="10748541" cy="450916"/>
          </a:xfrm>
        </p:spPr>
        <p:txBody>
          <a:bodyPr>
            <a:noAutofit/>
          </a:bodyPr>
          <a:lstStyle/>
          <a:p>
            <a:r>
              <a:rPr lang="en-US" sz="3200" dirty="0"/>
              <a:t>Research questions</a:t>
            </a:r>
          </a:p>
        </p:txBody>
      </p:sp>
      <p:grpSp>
        <p:nvGrpSpPr>
          <p:cNvPr id="8" name="Group 7">
            <a:extLst>
              <a:ext uri="{FF2B5EF4-FFF2-40B4-BE49-F238E27FC236}">
                <a16:creationId xmlns:a16="http://schemas.microsoft.com/office/drawing/2014/main" id="{F469F60D-CBBF-10E7-8DD3-EB2CE8EE52C7}"/>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5268F070-4E34-B152-C857-78B2DE9D3D11}"/>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E9133A51-E4DC-DC6E-722B-01AADEAB65EB}"/>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文本框 8">
            <a:extLst>
              <a:ext uri="{FF2B5EF4-FFF2-40B4-BE49-F238E27FC236}">
                <a16:creationId xmlns:a16="http://schemas.microsoft.com/office/drawing/2014/main" id="{2F8F965F-BAAB-A037-B664-5631B9B807FC}"/>
              </a:ext>
            </a:extLst>
          </p:cNvPr>
          <p:cNvSpPr txBox="1"/>
          <p:nvPr/>
        </p:nvSpPr>
        <p:spPr>
          <a:xfrm>
            <a:off x="472440" y="2011040"/>
            <a:ext cx="5623560" cy="3361177"/>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120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(1) How can we develop a </a:t>
            </a: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theoretical framework </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that incorporates the intertemporal tradeoffs in dynamic coupon targeting to design a policy that maximizes revenue?</a:t>
            </a:r>
          </a:p>
          <a:p>
            <a:pPr marL="0" marR="0" lvl="0" indent="0" algn="l" defTabSz="914400" rtl="0" eaLnBrk="1" fontAlgn="auto" latinLnBrk="0" hangingPunct="1">
              <a:lnSpc>
                <a:spcPct val="120000"/>
              </a:lnSpc>
              <a:spcBef>
                <a:spcPts val="0"/>
              </a:spcBef>
              <a:spcAft>
                <a:spcPts val="120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(2) How can we </a:t>
            </a: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evaluate the performance </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of dynamic coupon targeting policies? </a:t>
            </a:r>
          </a:p>
          <a:p>
            <a:pPr marL="0" marR="0" lvl="0" indent="0" algn="l" defTabSz="914400" rtl="0" eaLnBrk="1" fontAlgn="auto" latinLnBrk="0" hangingPunct="1">
              <a:lnSpc>
                <a:spcPct val="120000"/>
              </a:lnSpc>
              <a:spcBef>
                <a:spcPts val="0"/>
              </a:spcBef>
              <a:spcAft>
                <a:spcPts val="120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(3) What are the </a:t>
            </a: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gains</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 if any, from using a dynamic targeting framework relative to a static benchmark, and what </a:t>
            </a: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explains the differences </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in performance?</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grpSp>
        <p:nvGrpSpPr>
          <p:cNvPr id="2" name="组合 1">
            <a:extLst>
              <a:ext uri="{FF2B5EF4-FFF2-40B4-BE49-F238E27FC236}">
                <a16:creationId xmlns:a16="http://schemas.microsoft.com/office/drawing/2014/main" id="{567F280D-45FD-D0F4-C5D3-3BD4ACC8BC1D}"/>
              </a:ext>
            </a:extLst>
          </p:cNvPr>
          <p:cNvGrpSpPr/>
          <p:nvPr/>
        </p:nvGrpSpPr>
        <p:grpSpPr>
          <a:xfrm>
            <a:off x="6096000" y="1215775"/>
            <a:ext cx="5604329" cy="5122534"/>
            <a:chOff x="6096000" y="1215775"/>
            <a:chExt cx="5604329" cy="5122534"/>
          </a:xfrm>
        </p:grpSpPr>
        <p:sp>
          <p:nvSpPr>
            <p:cNvPr id="15" name="矩形 14">
              <a:extLst>
                <a:ext uri="{FF2B5EF4-FFF2-40B4-BE49-F238E27FC236}">
                  <a16:creationId xmlns:a16="http://schemas.microsoft.com/office/drawing/2014/main" id="{EB450E24-3F29-B3FD-7F9F-4196E2D45866}"/>
                </a:ext>
              </a:extLst>
            </p:cNvPr>
            <p:cNvSpPr/>
            <p:nvPr/>
          </p:nvSpPr>
          <p:spPr>
            <a:xfrm>
              <a:off x="6697164" y="4593860"/>
              <a:ext cx="5003165" cy="17444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14" name="矩形 13">
              <a:extLst>
                <a:ext uri="{FF2B5EF4-FFF2-40B4-BE49-F238E27FC236}">
                  <a16:creationId xmlns:a16="http://schemas.microsoft.com/office/drawing/2014/main" id="{F054B2FA-6AE4-714F-D5D0-48104878E446}"/>
                </a:ext>
              </a:extLst>
            </p:cNvPr>
            <p:cNvSpPr/>
            <p:nvPr/>
          </p:nvSpPr>
          <p:spPr>
            <a:xfrm>
              <a:off x="6697164" y="1215775"/>
              <a:ext cx="5003165" cy="2766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11" name="文本框 10">
              <a:extLst>
                <a:ext uri="{FF2B5EF4-FFF2-40B4-BE49-F238E27FC236}">
                  <a16:creationId xmlns:a16="http://schemas.microsoft.com/office/drawing/2014/main" id="{3F48C4D7-77DF-C249-94B1-26DBC3AAC458}"/>
                </a:ext>
              </a:extLst>
            </p:cNvPr>
            <p:cNvSpPr txBox="1"/>
            <p:nvPr/>
          </p:nvSpPr>
          <p:spPr>
            <a:xfrm>
              <a:off x="6697162" y="1590278"/>
              <a:ext cx="5003165" cy="2363980"/>
            </a:xfrm>
            <a:prstGeom prst="rect">
              <a:avLst/>
            </a:prstGeom>
            <a:noFill/>
          </p:spPr>
          <p:txBody>
            <a:bodyPr wrap="square">
              <a:spAutoFit/>
            </a:bodyPr>
            <a:lstStyle/>
            <a:p>
              <a:pPr marL="285750" marR="0" lvl="0" indent="-285750" algn="l" defTabSz="914400" rtl="0" eaLnBrk="1" fontAlgn="auto" latinLnBrk="0" hangingPunct="1">
                <a:lnSpc>
                  <a:spcPct val="120000"/>
                </a:lnSpc>
                <a:spcBef>
                  <a:spcPts val="0"/>
                </a:spcBef>
                <a:spcAft>
                  <a:spcPts val="120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Unknown demand dynamics: optimal coupon strategy is hard to determine.</a:t>
              </a:r>
            </a:p>
            <a:p>
              <a:pPr marL="285750" marR="0" lvl="0" indent="-285750" algn="l" defTabSz="914400" rtl="0" eaLnBrk="1" fontAlgn="auto" latinLnBrk="0" hangingPunct="1">
                <a:lnSpc>
                  <a:spcPct val="120000"/>
                </a:lnSpc>
                <a:spcBef>
                  <a:spcPts val="0"/>
                </a:spcBef>
                <a:spcAft>
                  <a:spcPts val="120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Prediction challenge: avoid bias from parametric models.</a:t>
              </a:r>
            </a:p>
            <a:p>
              <a:pPr marL="285750" marR="0" lvl="0" indent="-285750" algn="l" defTabSz="914400" rtl="0" eaLnBrk="1" fontAlgn="auto" latinLnBrk="0" hangingPunct="1">
                <a:lnSpc>
                  <a:spcPct val="120000"/>
                </a:lnSpc>
                <a:spcBef>
                  <a:spcPts val="0"/>
                </a:spcBef>
                <a:spcAft>
                  <a:spcPts val="120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High-dimensional targeting: large consumer and contextual feature space.</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13" name="文本框 12">
              <a:extLst>
                <a:ext uri="{FF2B5EF4-FFF2-40B4-BE49-F238E27FC236}">
                  <a16:creationId xmlns:a16="http://schemas.microsoft.com/office/drawing/2014/main" id="{22642800-15A3-8C8C-F018-047811FCD8DF}"/>
                </a:ext>
              </a:extLst>
            </p:cNvPr>
            <p:cNvSpPr txBox="1"/>
            <p:nvPr/>
          </p:nvSpPr>
          <p:spPr>
            <a:xfrm>
              <a:off x="6926554" y="4917912"/>
              <a:ext cx="4544378" cy="1391407"/>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120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Developing a framework to design and evaluate dynamic personalized pricing strategies: a model-free, batch deep reinforcement learning (BDRL) algorithm</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16" name="箭头: 右 15">
              <a:extLst>
                <a:ext uri="{FF2B5EF4-FFF2-40B4-BE49-F238E27FC236}">
                  <a16:creationId xmlns:a16="http://schemas.microsoft.com/office/drawing/2014/main" id="{D36EE735-EA05-6F7D-9B40-4240ADB59865}"/>
                </a:ext>
              </a:extLst>
            </p:cNvPr>
            <p:cNvSpPr/>
            <p:nvPr/>
          </p:nvSpPr>
          <p:spPr>
            <a:xfrm>
              <a:off x="6096000" y="2355589"/>
              <a:ext cx="394791" cy="538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Microsoft JhengHei"/>
                <a:cs typeface="+mn-cs"/>
              </a:endParaRPr>
            </a:p>
          </p:txBody>
        </p:sp>
        <p:sp>
          <p:nvSpPr>
            <p:cNvPr id="17" name="箭头: 右 16">
              <a:extLst>
                <a:ext uri="{FF2B5EF4-FFF2-40B4-BE49-F238E27FC236}">
                  <a16:creationId xmlns:a16="http://schemas.microsoft.com/office/drawing/2014/main" id="{FBCF879B-CB13-16F1-EB0C-593B91742ACB}"/>
                </a:ext>
              </a:extLst>
            </p:cNvPr>
            <p:cNvSpPr/>
            <p:nvPr/>
          </p:nvSpPr>
          <p:spPr>
            <a:xfrm>
              <a:off x="6096000" y="5130804"/>
              <a:ext cx="394791" cy="538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JhengHei"/>
                <a:cs typeface="+mn-cs"/>
              </a:endParaRPr>
            </a:p>
          </p:txBody>
        </p:sp>
        <p:sp>
          <p:nvSpPr>
            <p:cNvPr id="18" name="箭头: 右 17">
              <a:extLst>
                <a:ext uri="{FF2B5EF4-FFF2-40B4-BE49-F238E27FC236}">
                  <a16:creationId xmlns:a16="http://schemas.microsoft.com/office/drawing/2014/main" id="{E7FE4D87-6E5E-8D54-2B91-370656CFCEFC}"/>
                </a:ext>
              </a:extLst>
            </p:cNvPr>
            <p:cNvSpPr/>
            <p:nvPr/>
          </p:nvSpPr>
          <p:spPr>
            <a:xfrm rot="5400000">
              <a:off x="9001350" y="4017641"/>
              <a:ext cx="394791" cy="538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JhengHei"/>
                <a:cs typeface="+mn-cs"/>
              </a:endParaRPr>
            </a:p>
          </p:txBody>
        </p:sp>
        <p:sp>
          <p:nvSpPr>
            <p:cNvPr id="20" name="文本框 19">
              <a:extLst>
                <a:ext uri="{FF2B5EF4-FFF2-40B4-BE49-F238E27FC236}">
                  <a16:creationId xmlns:a16="http://schemas.microsoft.com/office/drawing/2014/main" id="{E8212ACB-6AB0-A064-7F9F-97CD42256D50}"/>
                </a:ext>
              </a:extLst>
            </p:cNvPr>
            <p:cNvSpPr txBox="1"/>
            <p:nvPr/>
          </p:nvSpPr>
          <p:spPr>
            <a:xfrm>
              <a:off x="7910646" y="1249901"/>
              <a:ext cx="257619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Technical challenges</a:t>
              </a:r>
              <a:endParaRPr kumimoji="0" lang="zh-CN" altLang="en-US" sz="1800" b="1" i="0" u="none" strike="noStrike" kern="1200" cap="none" spc="0" normalizeH="0" baseline="0" noProof="0" dirty="0">
                <a:ln>
                  <a:noFill/>
                </a:ln>
                <a:solidFill>
                  <a:srgbClr val="7D2781"/>
                </a:solidFill>
                <a:effectLst/>
                <a:uLnTx/>
                <a:uFillTx/>
                <a:latin typeface="Arial"/>
                <a:ea typeface="Microsoft JhengHei"/>
                <a:cs typeface="+mn-cs"/>
              </a:endParaRPr>
            </a:p>
          </p:txBody>
        </p:sp>
        <p:sp>
          <p:nvSpPr>
            <p:cNvPr id="21" name="文本框 20">
              <a:extLst>
                <a:ext uri="{FF2B5EF4-FFF2-40B4-BE49-F238E27FC236}">
                  <a16:creationId xmlns:a16="http://schemas.microsoft.com/office/drawing/2014/main" id="{86940F16-7714-FE5D-95B7-E339C07F62FB}"/>
                </a:ext>
              </a:extLst>
            </p:cNvPr>
            <p:cNvSpPr txBox="1"/>
            <p:nvPr/>
          </p:nvSpPr>
          <p:spPr>
            <a:xfrm>
              <a:off x="7910645" y="4591762"/>
              <a:ext cx="25761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Solution</a:t>
              </a:r>
              <a:endParaRPr kumimoji="0" lang="zh-CN" altLang="en-US" sz="1800" b="1" i="0" u="none" strike="noStrike" kern="1200" cap="none" spc="0" normalizeH="0" baseline="0" noProof="0" dirty="0">
                <a:ln>
                  <a:noFill/>
                </a:ln>
                <a:solidFill>
                  <a:srgbClr val="7D2781"/>
                </a:solidFill>
                <a:effectLst/>
                <a:uLnTx/>
                <a:uFillTx/>
                <a:latin typeface="Arial"/>
                <a:ea typeface="Microsoft JhengHei"/>
                <a:cs typeface="+mn-cs"/>
              </a:endParaRPr>
            </a:p>
          </p:txBody>
        </p:sp>
      </p:grpSp>
    </p:spTree>
    <p:extLst>
      <p:ext uri="{BB962C8B-B14F-4D97-AF65-F5344CB8AC3E}">
        <p14:creationId xmlns:p14="http://schemas.microsoft.com/office/powerpoint/2010/main" val="2546658280"/>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E9654-83D5-F0EA-1A3E-0F4C4E449F33}"/>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2C5D20F5-730B-B1DD-1524-714A0F520246}"/>
              </a:ext>
            </a:extLst>
          </p:cNvPr>
          <p:cNvSpPr/>
          <p:nvPr/>
        </p:nvSpPr>
        <p:spPr>
          <a:xfrm>
            <a:off x="267471" y="1582644"/>
            <a:ext cx="6233718" cy="376615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14" name="矩形 13">
            <a:extLst>
              <a:ext uri="{FF2B5EF4-FFF2-40B4-BE49-F238E27FC236}">
                <a16:creationId xmlns:a16="http://schemas.microsoft.com/office/drawing/2014/main" id="{46A5C4A7-3908-3BCE-DB32-BEC793649219}"/>
              </a:ext>
            </a:extLst>
          </p:cNvPr>
          <p:cNvSpPr/>
          <p:nvPr/>
        </p:nvSpPr>
        <p:spPr>
          <a:xfrm>
            <a:off x="6920684" y="1582645"/>
            <a:ext cx="5003165" cy="376615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3" name="Title 2">
            <a:extLst>
              <a:ext uri="{FF2B5EF4-FFF2-40B4-BE49-F238E27FC236}">
                <a16:creationId xmlns:a16="http://schemas.microsoft.com/office/drawing/2014/main" id="{0BCF870E-610C-E93F-EAFF-219385352ECB}"/>
              </a:ext>
            </a:extLst>
          </p:cNvPr>
          <p:cNvSpPr>
            <a:spLocks noGrp="1"/>
          </p:cNvSpPr>
          <p:nvPr>
            <p:ph type="ctrTitle"/>
          </p:nvPr>
        </p:nvSpPr>
        <p:spPr>
          <a:xfrm>
            <a:off x="207480" y="205509"/>
            <a:ext cx="10748541" cy="450916"/>
          </a:xfrm>
        </p:spPr>
        <p:txBody>
          <a:bodyPr>
            <a:noAutofit/>
          </a:bodyPr>
          <a:lstStyle/>
          <a:p>
            <a:r>
              <a:rPr lang="en-US" sz="3200" dirty="0"/>
              <a:t>P</a:t>
            </a:r>
            <a:r>
              <a:rPr lang="en-US" altLang="zh-CN" sz="3200" dirty="0"/>
              <a:t>revious ideas</a:t>
            </a:r>
            <a:endParaRPr lang="en-US" sz="3200" dirty="0"/>
          </a:p>
        </p:txBody>
      </p:sp>
      <p:grpSp>
        <p:nvGrpSpPr>
          <p:cNvPr id="8" name="Group 7">
            <a:extLst>
              <a:ext uri="{FF2B5EF4-FFF2-40B4-BE49-F238E27FC236}">
                <a16:creationId xmlns:a16="http://schemas.microsoft.com/office/drawing/2014/main" id="{4E4376E8-7DE5-168D-3A66-F6A3C1AEE7D0}"/>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D5829C51-FCF2-4A81-A6A0-51A58BE402A3}"/>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3FC653C1-E413-FDD3-1CD1-BEE2540DDCB0}"/>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20" name="文本框 19">
            <a:extLst>
              <a:ext uri="{FF2B5EF4-FFF2-40B4-BE49-F238E27FC236}">
                <a16:creationId xmlns:a16="http://schemas.microsoft.com/office/drawing/2014/main" id="{C256F30C-1DA6-383A-A0CE-4167C6A332D8}"/>
              </a:ext>
            </a:extLst>
          </p:cNvPr>
          <p:cNvSpPr txBox="1"/>
          <p:nvPr/>
        </p:nvSpPr>
        <p:spPr>
          <a:xfrm>
            <a:off x="7150074" y="1782857"/>
            <a:ext cx="444248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Model-Based  vs.  Model-Free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Reinforcement Learning</a:t>
            </a:r>
            <a:endParaRPr kumimoji="0" lang="zh-CN" altLang="en-US" sz="1800" b="1" i="0" u="none" strike="noStrike" kern="1200" cap="none" spc="0" normalizeH="0" baseline="0" noProof="0" dirty="0">
              <a:ln>
                <a:noFill/>
              </a:ln>
              <a:solidFill>
                <a:srgbClr val="7D2781"/>
              </a:solidFill>
              <a:effectLst/>
              <a:uLnTx/>
              <a:uFillTx/>
              <a:latin typeface="Arial"/>
              <a:ea typeface="Microsoft JhengHei"/>
              <a:cs typeface="+mn-cs"/>
            </a:endParaRPr>
          </a:p>
        </p:txBody>
      </p:sp>
      <p:sp>
        <p:nvSpPr>
          <p:cNvPr id="4" name="文本框 3">
            <a:extLst>
              <a:ext uri="{FF2B5EF4-FFF2-40B4-BE49-F238E27FC236}">
                <a16:creationId xmlns:a16="http://schemas.microsoft.com/office/drawing/2014/main" id="{C599F9DF-2399-C189-12A3-BBC63BD64A4A}"/>
              </a:ext>
            </a:extLst>
          </p:cNvPr>
          <p:cNvSpPr txBox="1"/>
          <p:nvPr/>
        </p:nvSpPr>
        <p:spPr>
          <a:xfrm>
            <a:off x="318829" y="1671258"/>
            <a:ext cx="61214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Three dynamic effects of price promotions on demand </a:t>
            </a:r>
            <a:endParaRPr kumimoji="0" lang="zh-CN" altLang="en-US" sz="1800" b="1" i="0" u="none" strike="noStrike" kern="1200" cap="none" spc="0" normalizeH="0" baseline="0" noProof="0" dirty="0">
              <a:ln>
                <a:noFill/>
              </a:ln>
              <a:solidFill>
                <a:srgbClr val="7D2781"/>
              </a:solidFill>
              <a:effectLst/>
              <a:uLnTx/>
              <a:uFillTx/>
              <a:latin typeface="Arial"/>
              <a:ea typeface="Microsoft JhengHei"/>
              <a:cs typeface="+mn-cs"/>
            </a:endParaRPr>
          </a:p>
        </p:txBody>
      </p:sp>
      <p:sp>
        <p:nvSpPr>
          <p:cNvPr id="10" name="文本框 9">
            <a:extLst>
              <a:ext uri="{FF2B5EF4-FFF2-40B4-BE49-F238E27FC236}">
                <a16:creationId xmlns:a16="http://schemas.microsoft.com/office/drawing/2014/main" id="{B2CB4A1A-0728-7635-5E1A-84E2FEEC8257}"/>
              </a:ext>
            </a:extLst>
          </p:cNvPr>
          <p:cNvSpPr txBox="1"/>
          <p:nvPr/>
        </p:nvSpPr>
        <p:spPr>
          <a:xfrm>
            <a:off x="349431" y="2136035"/>
            <a:ext cx="5370649" cy="31393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Reference price</a:t>
            </a:r>
            <a:b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Past prices shape expectations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Strategy:</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 low → high discounts.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Loyalty / inertia</a:t>
            </a:r>
            <a:b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Past purchases increase repeat behavior.</a:t>
            </a:r>
            <a:b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Strategy:</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 high → low discounts.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Variety-seeking</a:t>
            </a:r>
            <a:b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Consumers switch after purchase due to satiation.</a:t>
            </a:r>
            <a:b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Strategy:</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 stable, low discounts</a:t>
            </a:r>
          </a:p>
        </p:txBody>
      </p:sp>
      <p:sp>
        <p:nvSpPr>
          <p:cNvPr id="19" name="文本框 18">
            <a:extLst>
              <a:ext uri="{FF2B5EF4-FFF2-40B4-BE49-F238E27FC236}">
                <a16:creationId xmlns:a16="http://schemas.microsoft.com/office/drawing/2014/main" id="{CE7C515E-F459-1CBB-DC1D-1B0E30C4E8A8}"/>
              </a:ext>
            </a:extLst>
          </p:cNvPr>
          <p:cNvSpPr txBox="1"/>
          <p:nvPr/>
        </p:nvSpPr>
        <p:spPr>
          <a:xfrm>
            <a:off x="6931102" y="2622375"/>
            <a:ext cx="4880429"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Structural models: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Predict behavior with parametric assumptions → flexible but prone to model bias.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3" name="文本框 22">
            <a:extLst>
              <a:ext uri="{FF2B5EF4-FFF2-40B4-BE49-F238E27FC236}">
                <a16:creationId xmlns:a16="http://schemas.microsoft.com/office/drawing/2014/main" id="{698AD104-4039-D2CF-508A-8EA15B24CC7B}"/>
              </a:ext>
            </a:extLst>
          </p:cNvPr>
          <p:cNvSpPr txBox="1"/>
          <p:nvPr/>
        </p:nvSpPr>
        <p:spPr>
          <a:xfrm>
            <a:off x="6931102" y="3789692"/>
            <a:ext cx="4880429"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Reinforcement learning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Learn optimal policies from data directly → avoids misspecification and handles high-dimensional environments.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Tree>
    <p:extLst>
      <p:ext uri="{BB962C8B-B14F-4D97-AF65-F5344CB8AC3E}">
        <p14:creationId xmlns:p14="http://schemas.microsoft.com/office/powerpoint/2010/main" val="2880047729"/>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8AEA7-43FB-5768-CF21-07B3FFF03BC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265DC-E0E6-0EE7-5F78-643AE57F5146}"/>
              </a:ext>
            </a:extLst>
          </p:cNvPr>
          <p:cNvSpPr>
            <a:spLocks noGrp="1"/>
          </p:cNvSpPr>
          <p:nvPr>
            <p:ph type="ctrTitle"/>
          </p:nvPr>
        </p:nvSpPr>
        <p:spPr>
          <a:xfrm>
            <a:off x="207480" y="205509"/>
            <a:ext cx="10748541" cy="450916"/>
          </a:xfrm>
        </p:spPr>
        <p:txBody>
          <a:bodyPr>
            <a:noAutofit/>
          </a:bodyPr>
          <a:lstStyle/>
          <a:p>
            <a:r>
              <a:rPr lang="en-US" sz="3200" dirty="0"/>
              <a:t>Data patterns</a:t>
            </a:r>
          </a:p>
        </p:txBody>
      </p:sp>
      <p:grpSp>
        <p:nvGrpSpPr>
          <p:cNvPr id="8" name="Group 7">
            <a:extLst>
              <a:ext uri="{FF2B5EF4-FFF2-40B4-BE49-F238E27FC236}">
                <a16:creationId xmlns:a16="http://schemas.microsoft.com/office/drawing/2014/main" id="{90033020-3499-E7D5-56A7-34FBEA4681C5}"/>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093BAFEA-4A42-C556-CC5E-AF38D0ED9455}"/>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F3FBE081-8C2D-BB89-3D72-93E029DCDE57}"/>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5" name="文本框 4">
            <a:extLst>
              <a:ext uri="{FF2B5EF4-FFF2-40B4-BE49-F238E27FC236}">
                <a16:creationId xmlns:a16="http://schemas.microsoft.com/office/drawing/2014/main" id="{1B9B6BE3-AAA9-7868-2031-4F116C790308}"/>
              </a:ext>
            </a:extLst>
          </p:cNvPr>
          <p:cNvSpPr txBox="1"/>
          <p:nvPr/>
        </p:nvSpPr>
        <p:spPr>
          <a:xfrm>
            <a:off x="737548" y="2158488"/>
            <a:ext cx="104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000000"/>
                </a:solidFill>
                <a:effectLst/>
                <a:uLnTx/>
                <a:uFillTx/>
                <a:latin typeface="Arial"/>
                <a:ea typeface="Microsoft JhengHei"/>
                <a:cs typeface="+mn-cs"/>
              </a:rPr>
              <a:t>🔍</a:t>
            </a:r>
          </a:p>
        </p:txBody>
      </p:sp>
      <p:sp>
        <p:nvSpPr>
          <p:cNvPr id="9" name="文本框 8">
            <a:extLst>
              <a:ext uri="{FF2B5EF4-FFF2-40B4-BE49-F238E27FC236}">
                <a16:creationId xmlns:a16="http://schemas.microsoft.com/office/drawing/2014/main" id="{956D2944-5A47-DE29-F0E0-2B1D46651FAA}"/>
              </a:ext>
            </a:extLst>
          </p:cNvPr>
          <p:cNvSpPr txBox="1"/>
          <p:nvPr/>
        </p:nvSpPr>
        <p:spPr>
          <a:xfrm>
            <a:off x="737548" y="3890471"/>
            <a:ext cx="104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000000"/>
                </a:solidFill>
                <a:effectLst/>
                <a:uLnTx/>
                <a:uFillTx/>
                <a:latin typeface="Arial"/>
                <a:ea typeface="Microsoft JhengHei"/>
                <a:cs typeface="+mn-cs"/>
              </a:rPr>
              <a:t>💸</a:t>
            </a:r>
          </a:p>
        </p:txBody>
      </p:sp>
      <p:sp>
        <p:nvSpPr>
          <p:cNvPr id="11" name="文本框 10">
            <a:extLst>
              <a:ext uri="{FF2B5EF4-FFF2-40B4-BE49-F238E27FC236}">
                <a16:creationId xmlns:a16="http://schemas.microsoft.com/office/drawing/2014/main" id="{E565E8C9-DA88-6136-6BEF-958E249CF449}"/>
              </a:ext>
            </a:extLst>
          </p:cNvPr>
          <p:cNvSpPr txBox="1"/>
          <p:nvPr/>
        </p:nvSpPr>
        <p:spPr>
          <a:xfrm>
            <a:off x="737548" y="3066573"/>
            <a:ext cx="104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000000"/>
                </a:solidFill>
                <a:effectLst/>
                <a:uLnTx/>
                <a:uFillTx/>
                <a:latin typeface="Arial"/>
                <a:ea typeface="Microsoft JhengHei"/>
                <a:cs typeface="+mn-cs"/>
              </a:rPr>
              <a:t>▶️</a:t>
            </a:r>
          </a:p>
        </p:txBody>
      </p:sp>
      <p:sp>
        <p:nvSpPr>
          <p:cNvPr id="12" name="文本框 11">
            <a:extLst>
              <a:ext uri="{FF2B5EF4-FFF2-40B4-BE49-F238E27FC236}">
                <a16:creationId xmlns:a16="http://schemas.microsoft.com/office/drawing/2014/main" id="{1850F5C7-6295-D87E-52BD-239A93308C18}"/>
              </a:ext>
            </a:extLst>
          </p:cNvPr>
          <p:cNvSpPr txBox="1"/>
          <p:nvPr/>
        </p:nvSpPr>
        <p:spPr>
          <a:xfrm>
            <a:off x="737548" y="4714369"/>
            <a:ext cx="10439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000000"/>
                </a:solidFill>
                <a:effectLst/>
                <a:uLnTx/>
                <a:uFillTx/>
                <a:latin typeface="Arial"/>
                <a:ea typeface="Microsoft JhengHei"/>
                <a:cs typeface="+mn-cs"/>
              </a:rPr>
              <a:t>❌</a:t>
            </a:r>
          </a:p>
        </p:txBody>
      </p:sp>
      <p:sp>
        <p:nvSpPr>
          <p:cNvPr id="15" name="文本框 14">
            <a:extLst>
              <a:ext uri="{FF2B5EF4-FFF2-40B4-BE49-F238E27FC236}">
                <a16:creationId xmlns:a16="http://schemas.microsoft.com/office/drawing/2014/main" id="{09BDC564-885C-FA58-EA7C-F3BB70AA4CBC}"/>
              </a:ext>
            </a:extLst>
          </p:cNvPr>
          <p:cNvSpPr txBox="1"/>
          <p:nvPr/>
        </p:nvSpPr>
        <p:spPr>
          <a:xfrm>
            <a:off x="1595433" y="2314049"/>
            <a:ext cx="30949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Browse livestream channels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17" name="文本框 16">
            <a:extLst>
              <a:ext uri="{FF2B5EF4-FFF2-40B4-BE49-F238E27FC236}">
                <a16:creationId xmlns:a16="http://schemas.microsoft.com/office/drawing/2014/main" id="{650DF51D-93C6-6870-8572-AD74E42F24D8}"/>
              </a:ext>
            </a:extLst>
          </p:cNvPr>
          <p:cNvSpPr txBox="1"/>
          <p:nvPr/>
        </p:nvSpPr>
        <p:spPr>
          <a:xfrm>
            <a:off x="1595433" y="3178997"/>
            <a:ext cx="30949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Enter a channel and interact</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1" name="文本框 20">
            <a:extLst>
              <a:ext uri="{FF2B5EF4-FFF2-40B4-BE49-F238E27FC236}">
                <a16:creationId xmlns:a16="http://schemas.microsoft.com/office/drawing/2014/main" id="{2E8FCC04-B8FE-235C-2256-504EC5C83AD3}"/>
              </a:ext>
            </a:extLst>
          </p:cNvPr>
          <p:cNvSpPr txBox="1"/>
          <p:nvPr/>
        </p:nvSpPr>
        <p:spPr>
          <a:xfrm>
            <a:off x="1595433" y="4038113"/>
            <a:ext cx="29324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Receive and claim coupon</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5" name="文本框 24">
            <a:extLst>
              <a:ext uri="{FF2B5EF4-FFF2-40B4-BE49-F238E27FC236}">
                <a16:creationId xmlns:a16="http://schemas.microsoft.com/office/drawing/2014/main" id="{033EED51-2347-D2CB-FBC5-6AEB98EF56B1}"/>
              </a:ext>
            </a:extLst>
          </p:cNvPr>
          <p:cNvSpPr txBox="1"/>
          <p:nvPr/>
        </p:nvSpPr>
        <p:spPr>
          <a:xfrm>
            <a:off x="1595433" y="4841920"/>
            <a:ext cx="336613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Exit channel (coupon expires)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6" name="文本框 25">
            <a:extLst>
              <a:ext uri="{FF2B5EF4-FFF2-40B4-BE49-F238E27FC236}">
                <a16:creationId xmlns:a16="http://schemas.microsoft.com/office/drawing/2014/main" id="{E31E42C6-5651-35DC-04E1-BDF5F0A887EF}"/>
              </a:ext>
            </a:extLst>
          </p:cNvPr>
          <p:cNvSpPr txBox="1"/>
          <p:nvPr/>
        </p:nvSpPr>
        <p:spPr>
          <a:xfrm>
            <a:off x="737548" y="1483739"/>
            <a:ext cx="30949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Consumer behaviors:</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30" name="文本框 29">
            <a:extLst>
              <a:ext uri="{FF2B5EF4-FFF2-40B4-BE49-F238E27FC236}">
                <a16:creationId xmlns:a16="http://schemas.microsoft.com/office/drawing/2014/main" id="{D342A34B-386E-2FC2-F9B9-80A060B9A05F}"/>
              </a:ext>
            </a:extLst>
          </p:cNvPr>
          <p:cNvSpPr txBox="1"/>
          <p:nvPr/>
        </p:nvSpPr>
        <p:spPr>
          <a:xfrm>
            <a:off x="5711588" y="2301630"/>
            <a:ext cx="6127844"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We collect data on 1,020,898 consumers during three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months in 2019. These consumers received 25,886,094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coupons and completed 1,539,424 transactions while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watching 200,568 distinct livestreams, created by 11,926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hosts.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32" name="文本框 31">
            <a:extLst>
              <a:ext uri="{FF2B5EF4-FFF2-40B4-BE49-F238E27FC236}">
                <a16:creationId xmlns:a16="http://schemas.microsoft.com/office/drawing/2014/main" id="{67DDA476-FE29-5DF8-48B5-922D4B2884D0}"/>
              </a:ext>
            </a:extLst>
          </p:cNvPr>
          <p:cNvSpPr txBox="1"/>
          <p:nvPr/>
        </p:nvSpPr>
        <p:spPr>
          <a:xfrm>
            <a:off x="5711588" y="1770418"/>
            <a:ext cx="26615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Summary Statistics</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34" name="文本框 33">
            <a:extLst>
              <a:ext uri="{FF2B5EF4-FFF2-40B4-BE49-F238E27FC236}">
                <a16:creationId xmlns:a16="http://schemas.microsoft.com/office/drawing/2014/main" id="{A5605133-0B77-3466-4D72-3AFAF3ADDD0C}"/>
              </a:ext>
            </a:extLst>
          </p:cNvPr>
          <p:cNvSpPr txBox="1"/>
          <p:nvPr/>
        </p:nvSpPr>
        <p:spPr>
          <a:xfrm>
            <a:off x="5711588" y="4082993"/>
            <a:ext cx="612784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All consumers in the data set were “</a:t>
            </a: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active</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which the platform defines as receiving at least 10 coupons during the sample period. </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Tree>
    <p:extLst>
      <p:ext uri="{BB962C8B-B14F-4D97-AF65-F5344CB8AC3E}">
        <p14:creationId xmlns:p14="http://schemas.microsoft.com/office/powerpoint/2010/main" val="375974526"/>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D4BA-B0F4-0B72-DD04-3564ECE940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EB11B2-4CAC-DCBC-CDAE-D6DC06DA6851}"/>
              </a:ext>
            </a:extLst>
          </p:cNvPr>
          <p:cNvSpPr>
            <a:spLocks noGrp="1"/>
          </p:cNvSpPr>
          <p:nvPr>
            <p:ph type="ctrTitle"/>
          </p:nvPr>
        </p:nvSpPr>
        <p:spPr>
          <a:xfrm>
            <a:off x="207480" y="205509"/>
            <a:ext cx="10748541" cy="450916"/>
          </a:xfrm>
        </p:spPr>
        <p:txBody>
          <a:bodyPr>
            <a:noAutofit/>
          </a:bodyPr>
          <a:lstStyle/>
          <a:p>
            <a:r>
              <a:rPr lang="en-US" sz="3200" dirty="0"/>
              <a:t>Data patterns</a:t>
            </a:r>
          </a:p>
        </p:txBody>
      </p:sp>
      <p:grpSp>
        <p:nvGrpSpPr>
          <p:cNvPr id="8" name="Group 7">
            <a:extLst>
              <a:ext uri="{FF2B5EF4-FFF2-40B4-BE49-F238E27FC236}">
                <a16:creationId xmlns:a16="http://schemas.microsoft.com/office/drawing/2014/main" id="{5298F865-E9DD-AC7F-6129-0A9F197E06F4}"/>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F2944803-796B-D5F5-AF8A-94616B3785EB}"/>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F0DF0C5E-8222-4893-D0B5-32337B191B85}"/>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pic>
        <p:nvPicPr>
          <p:cNvPr id="28" name="图片 27">
            <a:extLst>
              <a:ext uri="{FF2B5EF4-FFF2-40B4-BE49-F238E27FC236}">
                <a16:creationId xmlns:a16="http://schemas.microsoft.com/office/drawing/2014/main" id="{E302104D-FD42-B2D5-569B-0BAC39186020}"/>
              </a:ext>
            </a:extLst>
          </p:cNvPr>
          <p:cNvPicPr>
            <a:picLocks noChangeAspect="1"/>
          </p:cNvPicPr>
          <p:nvPr/>
        </p:nvPicPr>
        <p:blipFill>
          <a:blip r:embed="rId4"/>
          <a:stretch>
            <a:fillRect/>
          </a:stretch>
        </p:blipFill>
        <p:spPr>
          <a:xfrm>
            <a:off x="2345091" y="3717224"/>
            <a:ext cx="7699200" cy="3066325"/>
          </a:xfrm>
          <a:prstGeom prst="rect">
            <a:avLst/>
          </a:prstGeom>
        </p:spPr>
      </p:pic>
      <p:sp>
        <p:nvSpPr>
          <p:cNvPr id="4" name="文本框 3">
            <a:extLst>
              <a:ext uri="{FF2B5EF4-FFF2-40B4-BE49-F238E27FC236}">
                <a16:creationId xmlns:a16="http://schemas.microsoft.com/office/drawing/2014/main" id="{467DEBAB-B74C-1096-B6B6-E7F5CD6366D3}"/>
              </a:ext>
            </a:extLst>
          </p:cNvPr>
          <p:cNvSpPr txBox="1"/>
          <p:nvPr/>
        </p:nvSpPr>
        <p:spPr>
          <a:xfrm>
            <a:off x="638030" y="1049468"/>
            <a:ext cx="18492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Coupon Effect</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13" name="文本框 12">
            <a:extLst>
              <a:ext uri="{FF2B5EF4-FFF2-40B4-BE49-F238E27FC236}">
                <a16:creationId xmlns:a16="http://schemas.microsoft.com/office/drawing/2014/main" id="{F6A9F322-13FD-753E-A8DB-9AF506C5C7E4}"/>
              </a:ext>
            </a:extLst>
          </p:cNvPr>
          <p:cNvSpPr txBox="1"/>
          <p:nvPr/>
        </p:nvSpPr>
        <p:spPr>
          <a:xfrm>
            <a:off x="638030" y="1539910"/>
            <a:ext cx="5279932" cy="2056204"/>
          </a:xfrm>
          <a:prstGeom prst="rect">
            <a:avLst/>
          </a:prstGeom>
          <a:noFill/>
        </p:spPr>
        <p:txBody>
          <a:bodyPr wrap="square">
            <a:spAutoFit/>
          </a:body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231F20"/>
                </a:solidFill>
                <a:effectLst/>
                <a:uLnTx/>
                <a:uFillTx/>
                <a:latin typeface="Arial"/>
                <a:ea typeface="Microsoft JhengHei"/>
                <a:cs typeface="+mn-cs"/>
              </a:rPr>
              <a:t>Discount ratio </a:t>
            </a:r>
            <a:r>
              <a:rPr kumimoji="0" lang="en-US" altLang="zh-CN" sz="1800" b="0" i="0" u="none" strike="noStrike" kern="1200" cap="none" spc="0" normalizeH="0" baseline="0" noProof="0" dirty="0">
                <a:ln>
                  <a:noFill/>
                </a:ln>
                <a:solidFill>
                  <a:srgbClr val="231F20"/>
                </a:solidFill>
                <a:effectLst/>
                <a:uLnTx/>
                <a:uFillTx/>
                <a:latin typeface="Arial"/>
                <a:ea typeface="Microsoft JhengHei"/>
                <a:cs typeface="+mn-cs"/>
              </a:rPr>
              <a:t>(ratio of the discount value to the threshold value)</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 </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Threshold ratio </a:t>
            </a: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(ratio of the threshold value to the average price in the livestream) </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Microsoft JhengHei"/>
                <a:cs typeface="+mn-cs"/>
              </a:rPr>
              <a:t>Five levels: LL (extra low), L (low), M (middle), H (high), and HH (extra high)</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5" name="文本框 4">
            <a:extLst>
              <a:ext uri="{FF2B5EF4-FFF2-40B4-BE49-F238E27FC236}">
                <a16:creationId xmlns:a16="http://schemas.microsoft.com/office/drawing/2014/main" id="{DB0DF709-28AA-9973-6003-13E007E43DF5}"/>
              </a:ext>
            </a:extLst>
          </p:cNvPr>
          <p:cNvSpPr txBox="1"/>
          <p:nvPr/>
        </p:nvSpPr>
        <p:spPr>
          <a:xfrm>
            <a:off x="6757824" y="1551675"/>
            <a:ext cx="4422218" cy="1391407"/>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Assume the average livestream product price = ¥120</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Discount Ratio = 15 / 99 = 15.15%</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Threshold Ratio = 99 / 120 = 82.5%</a:t>
            </a:r>
          </a:p>
        </p:txBody>
      </p:sp>
      <p:sp>
        <p:nvSpPr>
          <p:cNvPr id="10" name="文本框 9">
            <a:extLst>
              <a:ext uri="{FF2B5EF4-FFF2-40B4-BE49-F238E27FC236}">
                <a16:creationId xmlns:a16="http://schemas.microsoft.com/office/drawing/2014/main" id="{C476DD3C-B7AA-6313-34C1-144C3F05791A}"/>
              </a:ext>
            </a:extLst>
          </p:cNvPr>
          <p:cNvSpPr txBox="1"/>
          <p:nvPr/>
        </p:nvSpPr>
        <p:spPr>
          <a:xfrm>
            <a:off x="6705351" y="1061234"/>
            <a:ext cx="4527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Example coupon: “¥15 off ¥99”</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cxnSp>
        <p:nvCxnSpPr>
          <p:cNvPr id="12" name="直接连接符 11">
            <a:extLst>
              <a:ext uri="{FF2B5EF4-FFF2-40B4-BE49-F238E27FC236}">
                <a16:creationId xmlns:a16="http://schemas.microsoft.com/office/drawing/2014/main" id="{554C4C45-51E4-F00C-6604-D34AB364710B}"/>
              </a:ext>
            </a:extLst>
          </p:cNvPr>
          <p:cNvCxnSpPr>
            <a:cxnSpLocks/>
          </p:cNvCxnSpPr>
          <p:nvPr/>
        </p:nvCxnSpPr>
        <p:spPr>
          <a:xfrm>
            <a:off x="6372015" y="1049468"/>
            <a:ext cx="29900" cy="245231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013292"/>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6B2C2-4F35-0298-4099-0F67537B855F}"/>
            </a:ext>
          </a:extLst>
        </p:cNvPr>
        <p:cNvGrpSpPr/>
        <p:nvPr/>
      </p:nvGrpSpPr>
      <p:grpSpPr>
        <a:xfrm>
          <a:off x="0" y="0"/>
          <a:ext cx="0" cy="0"/>
          <a:chOff x="0" y="0"/>
          <a:chExt cx="0" cy="0"/>
        </a:xfrm>
      </p:grpSpPr>
      <p:sp>
        <p:nvSpPr>
          <p:cNvPr id="19" name="矩形 13">
            <a:extLst>
              <a:ext uri="{FF2B5EF4-FFF2-40B4-BE49-F238E27FC236}">
                <a16:creationId xmlns:a16="http://schemas.microsoft.com/office/drawing/2014/main" id="{8CF58A8B-34E3-2F7F-405D-0E8BE67CFEE1}"/>
              </a:ext>
            </a:extLst>
          </p:cNvPr>
          <p:cNvSpPr/>
          <p:nvPr/>
        </p:nvSpPr>
        <p:spPr>
          <a:xfrm>
            <a:off x="479542" y="1337227"/>
            <a:ext cx="5993573" cy="22101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3" name="Title 2">
            <a:extLst>
              <a:ext uri="{FF2B5EF4-FFF2-40B4-BE49-F238E27FC236}">
                <a16:creationId xmlns:a16="http://schemas.microsoft.com/office/drawing/2014/main" id="{C5E887D5-63D2-8349-ACEE-BCBE9A41BD3F}"/>
              </a:ext>
            </a:extLst>
          </p:cNvPr>
          <p:cNvSpPr>
            <a:spLocks noGrp="1"/>
          </p:cNvSpPr>
          <p:nvPr>
            <p:ph type="ctrTitle"/>
          </p:nvPr>
        </p:nvSpPr>
        <p:spPr>
          <a:xfrm>
            <a:off x="207480" y="205509"/>
            <a:ext cx="10748541" cy="450916"/>
          </a:xfrm>
        </p:spPr>
        <p:txBody>
          <a:bodyPr>
            <a:noAutofit/>
          </a:bodyPr>
          <a:lstStyle/>
          <a:p>
            <a:r>
              <a:rPr lang="en-US" sz="3200" dirty="0"/>
              <a:t>Data patterns</a:t>
            </a:r>
          </a:p>
        </p:txBody>
      </p:sp>
      <p:grpSp>
        <p:nvGrpSpPr>
          <p:cNvPr id="8" name="Group 7">
            <a:extLst>
              <a:ext uri="{FF2B5EF4-FFF2-40B4-BE49-F238E27FC236}">
                <a16:creationId xmlns:a16="http://schemas.microsoft.com/office/drawing/2014/main" id="{1D24498C-FF05-283F-5A9B-7A8DAA8E2202}"/>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97EFE3C9-8877-BB7B-73D6-BCED71C0BEFF}"/>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8B1DC8C8-061F-E801-9AA7-CDB65DE7EBAA}"/>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15" name="文本框 14">
            <a:extLst>
              <a:ext uri="{FF2B5EF4-FFF2-40B4-BE49-F238E27FC236}">
                <a16:creationId xmlns:a16="http://schemas.microsoft.com/office/drawing/2014/main" id="{DB4016A7-0791-05E5-C2B8-D2230C65ACAB}"/>
              </a:ext>
            </a:extLst>
          </p:cNvPr>
          <p:cNvSpPr txBox="1"/>
          <p:nvPr/>
        </p:nvSpPr>
        <p:spPr>
          <a:xfrm>
            <a:off x="681168" y="1441926"/>
            <a:ext cx="505257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Model-Free Evidence </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18" name="文本框 17">
            <a:extLst>
              <a:ext uri="{FF2B5EF4-FFF2-40B4-BE49-F238E27FC236}">
                <a16:creationId xmlns:a16="http://schemas.microsoft.com/office/drawing/2014/main" id="{2776E173-F5B9-8D26-2698-1E9BAC5D164E}"/>
              </a:ext>
            </a:extLst>
          </p:cNvPr>
          <p:cNvSpPr txBox="1"/>
          <p:nvPr/>
        </p:nvSpPr>
        <p:spPr>
          <a:xfrm>
            <a:off x="681168" y="1979522"/>
            <a:ext cx="561645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C</a:t>
            </a:r>
            <a:r>
              <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rPr>
              <a:t>onsumer-level heterogeneity in the effectiveness of coupons</a:t>
            </a:r>
            <a:endPar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I</a:t>
            </a:r>
            <a:r>
              <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rPr>
              <a:t>ntertemporal tradeoffs in the impacts of the coupon strategy between the current period and future periods</a:t>
            </a:r>
          </a:p>
        </p:txBody>
      </p:sp>
      <p:grpSp>
        <p:nvGrpSpPr>
          <p:cNvPr id="32" name="组合 31">
            <a:extLst>
              <a:ext uri="{FF2B5EF4-FFF2-40B4-BE49-F238E27FC236}">
                <a16:creationId xmlns:a16="http://schemas.microsoft.com/office/drawing/2014/main" id="{15D24E67-86E5-5F7A-3689-C30E019E6394}"/>
              </a:ext>
            </a:extLst>
          </p:cNvPr>
          <p:cNvGrpSpPr/>
          <p:nvPr/>
        </p:nvGrpSpPr>
        <p:grpSpPr>
          <a:xfrm>
            <a:off x="465554" y="2101754"/>
            <a:ext cx="6062153" cy="3911339"/>
            <a:chOff x="465554" y="2101754"/>
            <a:chExt cx="6062153" cy="3911339"/>
          </a:xfrm>
        </p:grpSpPr>
        <p:sp>
          <p:nvSpPr>
            <p:cNvPr id="21" name="矩形 13">
              <a:extLst>
                <a:ext uri="{FF2B5EF4-FFF2-40B4-BE49-F238E27FC236}">
                  <a16:creationId xmlns:a16="http://schemas.microsoft.com/office/drawing/2014/main" id="{1981A83C-332B-4B07-3FFE-F7CD0C5867A9}"/>
                </a:ext>
              </a:extLst>
            </p:cNvPr>
            <p:cNvSpPr/>
            <p:nvPr/>
          </p:nvSpPr>
          <p:spPr>
            <a:xfrm>
              <a:off x="479542" y="3802933"/>
              <a:ext cx="5993571" cy="2210160"/>
            </a:xfrm>
            <a:prstGeom prst="rect">
              <a:avLst/>
            </a:prstGeom>
            <a:noFill/>
            <a:ln w="25400">
              <a:solidFill>
                <a:schemeClr val="accent1"/>
              </a:solidFill>
              <a:prstDash val="dashDot"/>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4" name="文本框 3">
              <a:extLst>
                <a:ext uri="{FF2B5EF4-FFF2-40B4-BE49-F238E27FC236}">
                  <a16:creationId xmlns:a16="http://schemas.microsoft.com/office/drawing/2014/main" id="{DE9E53C2-C268-E9DF-B50A-E6237B72DE8C}"/>
                </a:ext>
              </a:extLst>
            </p:cNvPr>
            <p:cNvSpPr txBox="1"/>
            <p:nvPr/>
          </p:nvSpPr>
          <p:spPr>
            <a:xfrm>
              <a:off x="465554" y="3843877"/>
              <a:ext cx="4912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Heterogeneity in Sensitivity to Discounts</a:t>
              </a:r>
              <a:endParaRPr kumimoji="0" lang="zh-CN" altLang="en-US" sz="1800" b="1" i="0" u="none" strike="noStrike" kern="1200" cap="none" spc="0" normalizeH="0" baseline="0" noProof="0" dirty="0">
                <a:ln>
                  <a:noFill/>
                </a:ln>
                <a:solidFill>
                  <a:srgbClr val="7D2781"/>
                </a:solidFill>
                <a:effectLst/>
                <a:uLnTx/>
                <a:uFillTx/>
                <a:latin typeface="Arial"/>
                <a:ea typeface="Microsoft JhengHei"/>
                <a:cs typeface="+mn-cs"/>
              </a:endParaRPr>
            </a:p>
          </p:txBody>
        </p:sp>
        <p:sp>
          <p:nvSpPr>
            <p:cNvPr id="13" name="文本框 12">
              <a:extLst>
                <a:ext uri="{FF2B5EF4-FFF2-40B4-BE49-F238E27FC236}">
                  <a16:creationId xmlns:a16="http://schemas.microsoft.com/office/drawing/2014/main" id="{166BD453-EC90-EE4B-5F28-BFC0D7F78394}"/>
                </a:ext>
              </a:extLst>
            </p:cNvPr>
            <p:cNvSpPr txBox="1"/>
            <p:nvPr/>
          </p:nvSpPr>
          <p:spPr>
            <a:xfrm>
              <a:off x="465554" y="4423210"/>
              <a:ext cx="606215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231F20"/>
                  </a:solidFill>
                  <a:effectLst/>
                  <a:uLnTx/>
                  <a:uFillTx/>
                  <a:latin typeface="Arial"/>
                  <a:ea typeface="Microsoft JhengHei"/>
                  <a:cs typeface="+mn-cs"/>
                </a:rPr>
                <a:t>High spenders: low discounts generate higher revenue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231F20"/>
                  </a:solidFill>
                  <a:effectLst/>
                  <a:uLnTx/>
                  <a:uFillTx/>
                  <a:latin typeface="Arial"/>
                  <a:ea typeface="Microsoft JhengHei"/>
                  <a:cs typeface="+mn-cs"/>
                </a:rPr>
                <a:t>Low spenders: high discounts are more effective.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800" b="0" i="0" u="none" strike="noStrike" kern="1200" cap="none" spc="0" normalizeH="0" baseline="0" noProof="0" dirty="0">
                <a:ln>
                  <a:noFill/>
                </a:ln>
                <a:solidFill>
                  <a:srgbClr val="231F20"/>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 Coupon strategies should be </a:t>
              </a: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personalized across consumers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cxnSp>
          <p:nvCxnSpPr>
            <p:cNvPr id="27" name="连接符: 肘形 26">
              <a:extLst>
                <a:ext uri="{FF2B5EF4-FFF2-40B4-BE49-F238E27FC236}">
                  <a16:creationId xmlns:a16="http://schemas.microsoft.com/office/drawing/2014/main" id="{A66080ED-0B85-8BB5-018E-3DFD6844D76B}"/>
                </a:ext>
              </a:extLst>
            </p:cNvPr>
            <p:cNvCxnSpPr>
              <a:endCxn id="13" idx="1"/>
            </p:cNvCxnSpPr>
            <p:nvPr/>
          </p:nvCxnSpPr>
          <p:spPr>
            <a:xfrm rot="5400000">
              <a:off x="-908321" y="3475630"/>
              <a:ext cx="3060119" cy="312368"/>
            </a:xfrm>
            <a:prstGeom prst="bentConnector4">
              <a:avLst>
                <a:gd name="adj1" fmla="val 468"/>
                <a:gd name="adj2" fmla="val 173183"/>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33" name="组合 32">
            <a:extLst>
              <a:ext uri="{FF2B5EF4-FFF2-40B4-BE49-F238E27FC236}">
                <a16:creationId xmlns:a16="http://schemas.microsoft.com/office/drawing/2014/main" id="{E580FA3E-F0B4-E9FD-8EB3-DC512DFAFF0D}"/>
              </a:ext>
            </a:extLst>
          </p:cNvPr>
          <p:cNvGrpSpPr/>
          <p:nvPr/>
        </p:nvGrpSpPr>
        <p:grpSpPr>
          <a:xfrm>
            <a:off x="6096000" y="1354065"/>
            <a:ext cx="6172833" cy="4659028"/>
            <a:chOff x="6096000" y="1354065"/>
            <a:chExt cx="6172833" cy="4659028"/>
          </a:xfrm>
        </p:grpSpPr>
        <p:sp>
          <p:nvSpPr>
            <p:cNvPr id="23" name="矩形 13">
              <a:extLst>
                <a:ext uri="{FF2B5EF4-FFF2-40B4-BE49-F238E27FC236}">
                  <a16:creationId xmlns:a16="http://schemas.microsoft.com/office/drawing/2014/main" id="{A026ED3C-6594-916E-7091-7DCAE40A3A3B}"/>
                </a:ext>
              </a:extLst>
            </p:cNvPr>
            <p:cNvSpPr/>
            <p:nvPr/>
          </p:nvSpPr>
          <p:spPr>
            <a:xfrm>
              <a:off x="6915227" y="1354065"/>
              <a:ext cx="4876026" cy="4659028"/>
            </a:xfrm>
            <a:prstGeom prst="rect">
              <a:avLst/>
            </a:prstGeom>
            <a:noFill/>
            <a:ln w="25400">
              <a:solidFill>
                <a:schemeClr val="accent1"/>
              </a:solidFill>
              <a:prstDash val="dashDot"/>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14" name="文本框 13">
              <a:extLst>
                <a:ext uri="{FF2B5EF4-FFF2-40B4-BE49-F238E27FC236}">
                  <a16:creationId xmlns:a16="http://schemas.microsoft.com/office/drawing/2014/main" id="{0700D281-66D9-D982-B92F-791E70F61A5D}"/>
                </a:ext>
              </a:extLst>
            </p:cNvPr>
            <p:cNvSpPr txBox="1"/>
            <p:nvPr/>
          </p:nvSpPr>
          <p:spPr>
            <a:xfrm>
              <a:off x="7010008" y="1459932"/>
              <a:ext cx="425334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7D2781"/>
                  </a:solidFill>
                  <a:effectLst/>
                  <a:uLnTx/>
                  <a:uFillTx/>
                  <a:latin typeface="Arial"/>
                  <a:ea typeface="Microsoft JhengHei"/>
                  <a:cs typeface="+mn-cs"/>
                </a:rPr>
                <a:t>Intertemporal Tradeoffs </a:t>
              </a:r>
              <a:endParaRPr kumimoji="0" lang="zh-CN" altLang="en-US" sz="1800" b="1" i="0" u="none" strike="noStrike" kern="1200" cap="none" spc="0" normalizeH="0" baseline="0" noProof="0" dirty="0">
                <a:ln>
                  <a:noFill/>
                </a:ln>
                <a:solidFill>
                  <a:srgbClr val="7D2781"/>
                </a:solidFill>
                <a:effectLst/>
                <a:uLnTx/>
                <a:uFillTx/>
                <a:latin typeface="Arial"/>
                <a:ea typeface="Microsoft JhengHei"/>
                <a:cs typeface="+mn-cs"/>
              </a:endParaRPr>
            </a:p>
          </p:txBody>
        </p:sp>
        <p:sp>
          <p:nvSpPr>
            <p:cNvPr id="17" name="文本框 16">
              <a:extLst>
                <a:ext uri="{FF2B5EF4-FFF2-40B4-BE49-F238E27FC236}">
                  <a16:creationId xmlns:a16="http://schemas.microsoft.com/office/drawing/2014/main" id="{88B15290-3954-0C91-49E8-4B694EA0C099}"/>
                </a:ext>
              </a:extLst>
            </p:cNvPr>
            <p:cNvSpPr txBox="1"/>
            <p:nvPr/>
          </p:nvSpPr>
          <p:spPr>
            <a:xfrm>
              <a:off x="6952635" y="2030560"/>
              <a:ext cx="239069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Reference Price</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0" name="文本框 19">
              <a:extLst>
                <a:ext uri="{FF2B5EF4-FFF2-40B4-BE49-F238E27FC236}">
                  <a16:creationId xmlns:a16="http://schemas.microsoft.com/office/drawing/2014/main" id="{33A7F327-996F-8476-F13A-388D36912D78}"/>
                </a:ext>
              </a:extLst>
            </p:cNvPr>
            <p:cNvSpPr txBox="1"/>
            <p:nvPr/>
          </p:nvSpPr>
          <p:spPr>
            <a:xfrm>
              <a:off x="6952635" y="2394484"/>
              <a:ext cx="50230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High discounts boost short-term sales but may reduce future responsiveness</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2" name="文本框 21">
              <a:extLst>
                <a:ext uri="{FF2B5EF4-FFF2-40B4-BE49-F238E27FC236}">
                  <a16:creationId xmlns:a16="http://schemas.microsoft.com/office/drawing/2014/main" id="{EC72AEC9-FCF8-9968-8DD7-16A7CC810EE3}"/>
                </a:ext>
              </a:extLst>
            </p:cNvPr>
            <p:cNvSpPr txBox="1"/>
            <p:nvPr/>
          </p:nvSpPr>
          <p:spPr>
            <a:xfrm>
              <a:off x="6971685" y="3766665"/>
              <a:ext cx="50230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Consumer purchase decisions appear independent across periods in this setting.</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4" name="文本框 23">
              <a:extLst>
                <a:ext uri="{FF2B5EF4-FFF2-40B4-BE49-F238E27FC236}">
                  <a16:creationId xmlns:a16="http://schemas.microsoft.com/office/drawing/2014/main" id="{9A4537D2-E7D0-F705-C7AF-CE30B7B75251}"/>
                </a:ext>
              </a:extLst>
            </p:cNvPr>
            <p:cNvSpPr txBox="1"/>
            <p:nvPr/>
          </p:nvSpPr>
          <p:spPr>
            <a:xfrm>
              <a:off x="6971685" y="3115890"/>
              <a:ext cx="52971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State Dependence (Loyalty/Inertia and Variety Seeking)</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6" name="文本框 25">
              <a:extLst>
                <a:ext uri="{FF2B5EF4-FFF2-40B4-BE49-F238E27FC236}">
                  <a16:creationId xmlns:a16="http://schemas.microsoft.com/office/drawing/2014/main" id="{4E3B38DD-8DC7-1A91-1E90-775C1F6B58EA}"/>
                </a:ext>
              </a:extLst>
            </p:cNvPr>
            <p:cNvSpPr txBox="1"/>
            <p:nvPr/>
          </p:nvSpPr>
          <p:spPr>
            <a:xfrm>
              <a:off x="6952635" y="4637478"/>
              <a:ext cx="3817713"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dirty="0">
                  <a:ln>
                    <a:noFill/>
                  </a:ln>
                  <a:solidFill>
                    <a:srgbClr val="000000"/>
                  </a:solidFill>
                  <a:effectLst/>
                  <a:uLnTx/>
                  <a:uFillTx/>
                  <a:latin typeface="Arial"/>
                  <a:ea typeface="Microsoft JhengHei"/>
                  <a:cs typeface="+mn-cs"/>
                </a:rPr>
                <a:t>Forward-Looking</a:t>
              </a:r>
              <a:endParaRPr kumimoji="0" lang="zh-CN" altLang="en-US" sz="1800" b="1"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9" name="文本框 28">
              <a:extLst>
                <a:ext uri="{FF2B5EF4-FFF2-40B4-BE49-F238E27FC236}">
                  <a16:creationId xmlns:a16="http://schemas.microsoft.com/office/drawing/2014/main" id="{F28A0A20-4F47-125D-60C3-161F73C00BEF}"/>
                </a:ext>
              </a:extLst>
            </p:cNvPr>
            <p:cNvSpPr txBox="1"/>
            <p:nvPr/>
          </p:nvSpPr>
          <p:spPr>
            <a:xfrm>
              <a:off x="6952635" y="5074902"/>
              <a:ext cx="475982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Microsoft JhengHei"/>
                  <a:cs typeface="+mn-cs"/>
                </a:rPr>
                <a:t>No evidence of forward-looking behavior in the data.</a:t>
              </a:r>
              <a:endParaRPr kumimoji="0" lang="zh-CN" altLang="en-US" sz="1800" b="0" i="0" u="none" strike="noStrike" kern="1200" cap="none" spc="0" normalizeH="0" baseline="0" noProof="0" dirty="0">
                <a:ln>
                  <a:noFill/>
                </a:ln>
                <a:solidFill>
                  <a:srgbClr val="000000"/>
                </a:solidFill>
                <a:effectLst/>
                <a:uLnTx/>
                <a:uFillTx/>
                <a:latin typeface="Arial"/>
                <a:ea typeface="Microsoft JhengHei"/>
                <a:cs typeface="+mn-cs"/>
              </a:endParaRPr>
            </a:p>
          </p:txBody>
        </p:sp>
        <p:cxnSp>
          <p:nvCxnSpPr>
            <p:cNvPr id="31" name="直接箭头连接符 30">
              <a:extLst>
                <a:ext uri="{FF2B5EF4-FFF2-40B4-BE49-F238E27FC236}">
                  <a16:creationId xmlns:a16="http://schemas.microsoft.com/office/drawing/2014/main" id="{198CE024-3378-FF27-BBFD-8406DEE59FE1}"/>
                </a:ext>
              </a:extLst>
            </p:cNvPr>
            <p:cNvCxnSpPr/>
            <p:nvPr/>
          </p:nvCxnSpPr>
          <p:spPr>
            <a:xfrm>
              <a:off x="6096000" y="2975212"/>
              <a:ext cx="81922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6811388"/>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ppt_x"/>
                                          </p:val>
                                        </p:tav>
                                        <p:tav tm="100000">
                                          <p:val>
                                            <p:strVal val="#ppt_x"/>
                                          </p:val>
                                        </p:tav>
                                      </p:tavLst>
                                    </p:anim>
                                    <p:anim calcmode="lin" valueType="num">
                                      <p:cBhvr additive="base">
                                        <p:cTn id="1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500FE-EE8D-AFCD-6523-5BC39CAF28A7}"/>
            </a:ext>
          </a:extLst>
        </p:cNvPr>
        <p:cNvGrpSpPr/>
        <p:nvPr/>
      </p:nvGrpSpPr>
      <p:grpSpPr>
        <a:xfrm>
          <a:off x="0" y="0"/>
          <a:ext cx="0" cy="0"/>
          <a:chOff x="0" y="0"/>
          <a:chExt cx="0" cy="0"/>
        </a:xfrm>
      </p:grpSpPr>
      <p:sp>
        <p:nvSpPr>
          <p:cNvPr id="19" name="矩形 13">
            <a:extLst>
              <a:ext uri="{FF2B5EF4-FFF2-40B4-BE49-F238E27FC236}">
                <a16:creationId xmlns:a16="http://schemas.microsoft.com/office/drawing/2014/main" id="{F738DDA1-ECE7-6243-E218-39CF055EBA6B}"/>
              </a:ext>
            </a:extLst>
          </p:cNvPr>
          <p:cNvSpPr/>
          <p:nvPr/>
        </p:nvSpPr>
        <p:spPr>
          <a:xfrm>
            <a:off x="6421821" y="1407506"/>
            <a:ext cx="5426065" cy="25722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sp>
        <p:nvSpPr>
          <p:cNvPr id="18" name="矩形 13">
            <a:extLst>
              <a:ext uri="{FF2B5EF4-FFF2-40B4-BE49-F238E27FC236}">
                <a16:creationId xmlns:a16="http://schemas.microsoft.com/office/drawing/2014/main" id="{D2C09AA3-C1A9-690A-7E1A-C52913797BD5}"/>
              </a:ext>
            </a:extLst>
          </p:cNvPr>
          <p:cNvSpPr/>
          <p:nvPr/>
        </p:nvSpPr>
        <p:spPr>
          <a:xfrm>
            <a:off x="432833" y="1407505"/>
            <a:ext cx="5426065" cy="258885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grpSp>
        <p:nvGrpSpPr>
          <p:cNvPr id="8" name="Group 7">
            <a:extLst>
              <a:ext uri="{FF2B5EF4-FFF2-40B4-BE49-F238E27FC236}">
                <a16:creationId xmlns:a16="http://schemas.microsoft.com/office/drawing/2014/main" id="{883503A4-4587-5947-C814-F7180F321A8F}"/>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E97725F4-5964-F230-24EC-BB127B86C4EB}"/>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BDEE6402-40D4-EF3B-66E6-133B75AA8EF5}"/>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pic>
        <p:nvPicPr>
          <p:cNvPr id="5" name="Picture 4">
            <a:extLst>
              <a:ext uri="{FF2B5EF4-FFF2-40B4-BE49-F238E27FC236}">
                <a16:creationId xmlns:a16="http://schemas.microsoft.com/office/drawing/2014/main" id="{5D0AB4BE-8102-4B8E-F8C1-ECB428ECFD20}"/>
              </a:ext>
            </a:extLst>
          </p:cNvPr>
          <p:cNvPicPr>
            <a:picLocks noChangeAspect="1"/>
          </p:cNvPicPr>
          <p:nvPr/>
        </p:nvPicPr>
        <p:blipFill>
          <a:blip r:embed="rId4"/>
          <a:stretch>
            <a:fillRect/>
          </a:stretch>
        </p:blipFill>
        <p:spPr>
          <a:xfrm>
            <a:off x="2125481" y="4115734"/>
            <a:ext cx="6976958" cy="2572217"/>
          </a:xfrm>
          <a:prstGeom prst="rect">
            <a:avLst/>
          </a:prstGeom>
        </p:spPr>
      </p:pic>
      <p:sp>
        <p:nvSpPr>
          <p:cNvPr id="12" name="TextBox 11">
            <a:extLst>
              <a:ext uri="{FF2B5EF4-FFF2-40B4-BE49-F238E27FC236}">
                <a16:creationId xmlns:a16="http://schemas.microsoft.com/office/drawing/2014/main" id="{66734DCF-6280-67BB-5600-F3D68264166B}"/>
              </a:ext>
            </a:extLst>
          </p:cNvPr>
          <p:cNvSpPr txBox="1"/>
          <p:nvPr/>
        </p:nvSpPr>
        <p:spPr>
          <a:xfrm>
            <a:off x="543292" y="1596090"/>
            <a:ext cx="5315606" cy="226215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HK" sz="1800" b="1" i="0" u="none" strike="noStrike" kern="1200" cap="none" spc="0" normalizeH="0" baseline="0" noProof="0" dirty="0">
                <a:ln>
                  <a:noFill/>
                </a:ln>
                <a:solidFill>
                  <a:srgbClr val="7D2781"/>
                </a:solidFill>
                <a:effectLst/>
                <a:uLnTx/>
                <a:uFillTx/>
                <a:latin typeface="Arial"/>
                <a:ea typeface="Microsoft JhengHei"/>
                <a:cs typeface="+mn-cs"/>
              </a:rPr>
              <a:t>TQZ–GMV Relationship and Model Bias</a:t>
            </a:r>
            <a:endParaRPr kumimoji="0" lang="en-HK" sz="1800" b="0" i="0" u="none" strike="noStrike" kern="1200" cap="none" spc="0" normalizeH="0" baseline="0" noProof="0" dirty="0">
              <a:ln>
                <a:noFill/>
              </a:ln>
              <a:solidFill>
                <a:srgbClr val="000000"/>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 Observed data show a </a:t>
            </a:r>
            <a:r>
              <a:rPr kumimoji="0" lang="en-HK" sz="1800" b="1" i="0" u="none" strike="noStrike" kern="1200" cap="none" spc="0" normalizeH="0" baseline="0" noProof="0" dirty="0">
                <a:ln>
                  <a:noFill/>
                </a:ln>
                <a:solidFill>
                  <a:srgbClr val="000000"/>
                </a:solidFill>
                <a:effectLst/>
                <a:uLnTx/>
                <a:uFillTx/>
                <a:latin typeface="Arial"/>
                <a:ea typeface="Microsoft JhengHei"/>
                <a:cs typeface="+mn-cs"/>
              </a:rPr>
              <a:t>non-monotonic</a:t>
            </a: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 relationship between TQZ and GMV.</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 However, </a:t>
            </a:r>
            <a:r>
              <a:rPr kumimoji="0" lang="en-HK" sz="1800" b="1" i="0" u="none" strike="noStrike" kern="1200" cap="none" spc="0" normalizeH="0" baseline="0" noProof="0" dirty="0">
                <a:ln>
                  <a:noFill/>
                </a:ln>
                <a:solidFill>
                  <a:srgbClr val="000000"/>
                </a:solidFill>
                <a:effectLst/>
                <a:uLnTx/>
                <a:uFillTx/>
                <a:latin typeface="Arial"/>
                <a:ea typeface="Microsoft JhengHei"/>
                <a:cs typeface="+mn-cs"/>
              </a:rPr>
              <a:t>GBDT predicts a monotonic pattern</a:t>
            </a: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 indicating model misspecification.</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 Such bias may lead to </a:t>
            </a:r>
            <a:r>
              <a:rPr kumimoji="0" lang="en-HK" sz="1800" b="1" i="0" u="none" strike="noStrike" kern="1200" cap="none" spc="0" normalizeH="0" baseline="0" noProof="0" dirty="0">
                <a:ln>
                  <a:noFill/>
                </a:ln>
                <a:solidFill>
                  <a:srgbClr val="000000"/>
                </a:solidFill>
                <a:effectLst/>
                <a:uLnTx/>
                <a:uFillTx/>
                <a:latin typeface="Arial"/>
                <a:ea typeface="Microsoft JhengHei"/>
                <a:cs typeface="+mn-cs"/>
              </a:rPr>
              <a:t>suboptimal policy decisions</a:t>
            </a: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a:t>
            </a:r>
          </a:p>
        </p:txBody>
      </p:sp>
      <p:sp>
        <p:nvSpPr>
          <p:cNvPr id="16" name="TextBox 15">
            <a:extLst>
              <a:ext uri="{FF2B5EF4-FFF2-40B4-BE49-F238E27FC236}">
                <a16:creationId xmlns:a16="http://schemas.microsoft.com/office/drawing/2014/main" id="{71C4737E-5B72-CB1B-B39D-E0EFF8A1902B}"/>
              </a:ext>
            </a:extLst>
          </p:cNvPr>
          <p:cNvSpPr txBox="1"/>
          <p:nvPr/>
        </p:nvSpPr>
        <p:spPr>
          <a:xfrm>
            <a:off x="6665943" y="1613150"/>
            <a:ext cx="4947743" cy="203132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HK" sz="1800" b="1" i="0" u="none" strike="noStrike" kern="1200" cap="none" spc="0" normalizeH="0" baseline="0" noProof="0" dirty="0">
                <a:ln>
                  <a:noFill/>
                </a:ln>
                <a:solidFill>
                  <a:srgbClr val="7D2781"/>
                </a:solidFill>
                <a:effectLst/>
                <a:uLnTx/>
                <a:uFillTx/>
                <a:latin typeface="Arial"/>
                <a:ea typeface="Microsoft JhengHei"/>
                <a:cs typeface="+mn-cs"/>
              </a:rPr>
              <a:t>Implication</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HK"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Use a model that captures </a:t>
            </a:r>
            <a:r>
              <a:rPr kumimoji="0" lang="en-HK" sz="1800" b="1" i="0" u="none" strike="noStrike" kern="1200" cap="none" spc="0" normalizeH="0" baseline="0" noProof="0" dirty="0">
                <a:ln>
                  <a:noFill/>
                </a:ln>
                <a:solidFill>
                  <a:srgbClr val="000000"/>
                </a:solidFill>
                <a:effectLst/>
                <a:uLnTx/>
                <a:uFillTx/>
                <a:latin typeface="Arial"/>
                <a:ea typeface="Microsoft JhengHei"/>
                <a:cs typeface="+mn-cs"/>
              </a:rPr>
              <a:t>consumer heterogeneity and intertemporal trade-offs</a:t>
            </a: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HK" sz="1800" b="0" i="0" u="none" strike="noStrike" kern="1200" cap="none" spc="0" normalizeH="0" baseline="0" noProof="0" dirty="0">
                <a:ln>
                  <a:noFill/>
                </a:ln>
                <a:solidFill>
                  <a:srgbClr val="000000"/>
                </a:solidFill>
                <a:effectLst/>
                <a:uLnTx/>
                <a:uFillTx/>
                <a:latin typeface="Arial"/>
                <a:ea typeface="Microsoft JhengHei"/>
                <a:cs typeface="+mn-cs"/>
              </a:rPr>
            </a:b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This study adopts </a:t>
            </a:r>
            <a:r>
              <a:rPr kumimoji="0" lang="en-HK" sz="1800" b="1" i="0" u="none" strike="noStrike" kern="1200" cap="none" spc="0" normalizeH="0" baseline="0" noProof="0" dirty="0">
                <a:ln>
                  <a:noFill/>
                </a:ln>
                <a:solidFill>
                  <a:srgbClr val="000000"/>
                </a:solidFill>
                <a:effectLst/>
                <a:uLnTx/>
                <a:uFillTx/>
                <a:latin typeface="Arial"/>
                <a:ea typeface="Microsoft JhengHei"/>
                <a:cs typeface="+mn-cs"/>
              </a:rPr>
              <a:t>model-free Batch Deep Reinforcement Learning (BDRL)</a:t>
            </a: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a:t>
            </a:r>
          </a:p>
        </p:txBody>
      </p:sp>
      <p:sp>
        <p:nvSpPr>
          <p:cNvPr id="25" name="Title 2">
            <a:extLst>
              <a:ext uri="{FF2B5EF4-FFF2-40B4-BE49-F238E27FC236}">
                <a16:creationId xmlns:a16="http://schemas.microsoft.com/office/drawing/2014/main" id="{3DD8D5A5-0A10-7A23-9AAD-202E1CABC566}"/>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a:ln>
                  <a:noFill/>
                </a:ln>
                <a:solidFill>
                  <a:srgbClr val="7D2781"/>
                </a:solidFill>
                <a:effectLst/>
                <a:uLnTx/>
                <a:uFillTx/>
                <a:latin typeface="Arial"/>
                <a:ea typeface="Microsoft JhengHei"/>
                <a:cs typeface="Arial" panose="020B0604020202020204" pitchFamily="34" charset="0"/>
              </a:rPr>
              <a:t>Data patterns</a:t>
            </a:r>
            <a:endParaRPr kumimoji="0" lang="en-US" sz="3200" b="0" i="0" u="none" strike="noStrike" kern="1200" cap="none" spc="0" normalizeH="0" baseline="0" noProof="0" dirty="0">
              <a:ln>
                <a:noFill/>
              </a:ln>
              <a:solidFill>
                <a:srgbClr val="7D2781"/>
              </a:solidFill>
              <a:effectLst/>
              <a:uLnTx/>
              <a:uFillTx/>
              <a:latin typeface="Arial"/>
              <a:ea typeface="Microsoft JhengHei"/>
              <a:cs typeface="Arial" panose="020B0604020202020204" pitchFamily="34" charset="0"/>
            </a:endParaRPr>
          </a:p>
        </p:txBody>
      </p:sp>
      <p:sp>
        <p:nvSpPr>
          <p:cNvPr id="3" name="文本框 2">
            <a:extLst>
              <a:ext uri="{FF2B5EF4-FFF2-40B4-BE49-F238E27FC236}">
                <a16:creationId xmlns:a16="http://schemas.microsoft.com/office/drawing/2014/main" id="{08FDCBC8-49DA-00D8-BF03-A40EFFA8DF39}"/>
              </a:ext>
            </a:extLst>
          </p:cNvPr>
          <p:cNvSpPr txBox="1"/>
          <p:nvPr/>
        </p:nvSpPr>
        <p:spPr>
          <a:xfrm>
            <a:off x="4454910" y="924019"/>
            <a:ext cx="343349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7D2781"/>
                </a:solidFill>
                <a:effectLst/>
                <a:uLnTx/>
                <a:uFillTx/>
                <a:latin typeface="Arial"/>
                <a:ea typeface="Microsoft JhengHei"/>
                <a:cs typeface="+mn-cs"/>
              </a:rPr>
              <a:t>Model Bias </a:t>
            </a:r>
            <a:endParaRPr kumimoji="0" lang="zh-CN" altLang="en-US" sz="2000" b="1" i="0" u="none" strike="noStrike" kern="1200" cap="none" spc="0" normalizeH="0" baseline="0" noProof="0" dirty="0">
              <a:ln>
                <a:noFill/>
              </a:ln>
              <a:solidFill>
                <a:srgbClr val="7D2781"/>
              </a:solidFill>
              <a:effectLst/>
              <a:uLnTx/>
              <a:uFillTx/>
              <a:latin typeface="Arial"/>
              <a:ea typeface="Microsoft JhengHei"/>
              <a:cs typeface="+mn-cs"/>
            </a:endParaRPr>
          </a:p>
        </p:txBody>
      </p:sp>
    </p:spTree>
    <p:extLst>
      <p:ext uri="{BB962C8B-B14F-4D97-AF65-F5344CB8AC3E}">
        <p14:creationId xmlns:p14="http://schemas.microsoft.com/office/powerpoint/2010/main" val="3819827780"/>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6D663-492E-BDBE-A8FE-B5011C308FA9}"/>
            </a:ext>
          </a:extLst>
        </p:cNvPr>
        <p:cNvGrpSpPr/>
        <p:nvPr/>
      </p:nvGrpSpPr>
      <p:grpSpPr>
        <a:xfrm>
          <a:off x="0" y="0"/>
          <a:ext cx="0" cy="0"/>
          <a:chOff x="0" y="0"/>
          <a:chExt cx="0" cy="0"/>
        </a:xfrm>
      </p:grpSpPr>
      <p:sp>
        <p:nvSpPr>
          <p:cNvPr id="19" name="矩形 13">
            <a:extLst>
              <a:ext uri="{FF2B5EF4-FFF2-40B4-BE49-F238E27FC236}">
                <a16:creationId xmlns:a16="http://schemas.microsoft.com/office/drawing/2014/main" id="{4C00123F-A120-F645-897F-3B4C8CA33C21}"/>
              </a:ext>
            </a:extLst>
          </p:cNvPr>
          <p:cNvSpPr/>
          <p:nvPr/>
        </p:nvSpPr>
        <p:spPr>
          <a:xfrm>
            <a:off x="557050" y="1382627"/>
            <a:ext cx="5465380" cy="22412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Microsoft JhengHei"/>
              <a:cs typeface="+mn-cs"/>
            </a:endParaRPr>
          </a:p>
        </p:txBody>
      </p:sp>
      <p:grpSp>
        <p:nvGrpSpPr>
          <p:cNvPr id="8" name="Group 7">
            <a:extLst>
              <a:ext uri="{FF2B5EF4-FFF2-40B4-BE49-F238E27FC236}">
                <a16:creationId xmlns:a16="http://schemas.microsoft.com/office/drawing/2014/main" id="{C8EE60AA-5948-2882-7EEC-082383F60D4A}"/>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F6A156BC-9FB3-A812-3016-DAF0A6517921}"/>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90BCCC17-15BC-4EFE-18D3-83AFAA442CA8}"/>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16" name="TextBox 15">
            <a:extLst>
              <a:ext uri="{FF2B5EF4-FFF2-40B4-BE49-F238E27FC236}">
                <a16:creationId xmlns:a16="http://schemas.microsoft.com/office/drawing/2014/main" id="{98683751-F960-0064-BF53-6841F011FDDC}"/>
              </a:ext>
            </a:extLst>
          </p:cNvPr>
          <p:cNvSpPr txBox="1"/>
          <p:nvPr/>
        </p:nvSpPr>
        <p:spPr>
          <a:xfrm>
            <a:off x="815867" y="960823"/>
            <a:ext cx="494774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HK" sz="1800" b="1" i="0" u="none" strike="noStrike" kern="1200" cap="none" spc="0" normalizeH="0" baseline="0" noProof="0" dirty="0">
                <a:ln>
                  <a:noFill/>
                </a:ln>
                <a:solidFill>
                  <a:srgbClr val="7D2781"/>
                </a:solidFill>
                <a:effectLst/>
                <a:uLnTx/>
                <a:uFillTx/>
                <a:latin typeface="Arial"/>
                <a:ea typeface="Microsoft JhengHei"/>
                <a:cs typeface="+mn-cs"/>
              </a:rPr>
              <a:t>Generalizability of the Setting</a:t>
            </a:r>
          </a:p>
        </p:txBody>
      </p:sp>
      <p:sp>
        <p:nvSpPr>
          <p:cNvPr id="9" name="Title 2">
            <a:extLst>
              <a:ext uri="{FF2B5EF4-FFF2-40B4-BE49-F238E27FC236}">
                <a16:creationId xmlns:a16="http://schemas.microsoft.com/office/drawing/2014/main" id="{26B888AA-4BD9-5BBB-83A1-2D50C7141F0F}"/>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7D2781"/>
                </a:solidFill>
                <a:effectLst/>
                <a:uLnTx/>
                <a:uFillTx/>
                <a:latin typeface="Arial"/>
                <a:ea typeface="Microsoft JhengHei"/>
                <a:cs typeface="Arial" panose="020B0604020202020204" pitchFamily="34" charset="0"/>
              </a:rPr>
              <a:t>M</a:t>
            </a:r>
            <a:r>
              <a:rPr kumimoji="0" lang="en-US" altLang="zh-CN" sz="3200" b="0" i="0" u="none" strike="noStrike" kern="1200" cap="none" spc="0" normalizeH="0" baseline="0" noProof="0" dirty="0">
                <a:ln>
                  <a:noFill/>
                </a:ln>
                <a:solidFill>
                  <a:srgbClr val="7D2781"/>
                </a:solidFill>
                <a:effectLst/>
                <a:uLnTx/>
                <a:uFillTx/>
                <a:latin typeface="Arial"/>
                <a:ea typeface="Microsoft JhengHei"/>
                <a:cs typeface="Arial" panose="020B0604020202020204" pitchFamily="34" charset="0"/>
              </a:rPr>
              <a:t>odel</a:t>
            </a:r>
            <a:endParaRPr kumimoji="0" lang="en-US" sz="3200" b="0" i="0" u="none" strike="noStrike" kern="1200" cap="none" spc="0" normalizeH="0" baseline="0" noProof="0" dirty="0">
              <a:ln>
                <a:noFill/>
              </a:ln>
              <a:solidFill>
                <a:srgbClr val="7D2781"/>
              </a:solidFill>
              <a:effectLst/>
              <a:uLnTx/>
              <a:uFillTx/>
              <a:latin typeface="Arial"/>
              <a:ea typeface="Microsoft JhengHei"/>
              <a:cs typeface="Arial" panose="020B0604020202020204" pitchFamily="34" charset="0"/>
            </a:endParaRPr>
          </a:p>
        </p:txBody>
      </p:sp>
      <p:pic>
        <p:nvPicPr>
          <p:cNvPr id="13" name="Picture 12">
            <a:extLst>
              <a:ext uri="{FF2B5EF4-FFF2-40B4-BE49-F238E27FC236}">
                <a16:creationId xmlns:a16="http://schemas.microsoft.com/office/drawing/2014/main" id="{B246B89F-2ABC-906B-79B3-CD5B5B56F9BD}"/>
              </a:ext>
            </a:extLst>
          </p:cNvPr>
          <p:cNvPicPr>
            <a:picLocks noChangeAspect="1"/>
          </p:cNvPicPr>
          <p:nvPr/>
        </p:nvPicPr>
        <p:blipFill>
          <a:blip r:embed="rId4"/>
          <a:stretch>
            <a:fillRect/>
          </a:stretch>
        </p:blipFill>
        <p:spPr>
          <a:xfrm>
            <a:off x="440404" y="3721844"/>
            <a:ext cx="5655596" cy="2437218"/>
          </a:xfrm>
          <a:prstGeom prst="rect">
            <a:avLst/>
          </a:prstGeom>
        </p:spPr>
      </p:pic>
      <p:sp>
        <p:nvSpPr>
          <p:cNvPr id="15" name="TextBox 14">
            <a:extLst>
              <a:ext uri="{FF2B5EF4-FFF2-40B4-BE49-F238E27FC236}">
                <a16:creationId xmlns:a16="http://schemas.microsoft.com/office/drawing/2014/main" id="{0AA81293-41FB-788D-5C3E-C5C9BAF0D72E}"/>
              </a:ext>
            </a:extLst>
          </p:cNvPr>
          <p:cNvSpPr txBox="1"/>
          <p:nvPr/>
        </p:nvSpPr>
        <p:spPr>
          <a:xfrm>
            <a:off x="1026872" y="6159062"/>
            <a:ext cx="448266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31F20"/>
                </a:solidFill>
                <a:effectLst/>
                <a:uLnTx/>
                <a:uFillTx/>
                <a:latin typeface="AdvOT3258b86f"/>
                <a:ea typeface="Microsoft JhengHei"/>
                <a:cs typeface="+mn-cs"/>
              </a:rPr>
              <a:t>Structural Model Sequence of Events</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 </a:t>
            </a:r>
            <a:endParaRPr kumimoji="0" lang="en-HK" sz="1800" b="0" i="0" u="none" strike="noStrike" kern="1200" cap="none" spc="0" normalizeH="0" baseline="0" noProof="0" dirty="0">
              <a:ln>
                <a:noFill/>
              </a:ln>
              <a:solidFill>
                <a:srgbClr val="000000"/>
              </a:solidFill>
              <a:effectLst/>
              <a:uLnTx/>
              <a:uFillTx/>
              <a:latin typeface="Arial"/>
              <a:ea typeface="Microsoft JhengHei"/>
              <a:cs typeface="+mn-cs"/>
            </a:endParaRPr>
          </a:p>
        </p:txBody>
      </p:sp>
      <p:sp>
        <p:nvSpPr>
          <p:cNvPr id="22" name="TextBox 21">
            <a:extLst>
              <a:ext uri="{FF2B5EF4-FFF2-40B4-BE49-F238E27FC236}">
                <a16:creationId xmlns:a16="http://schemas.microsoft.com/office/drawing/2014/main" id="{44080CD7-C44A-A9AA-AE78-EE9E2A3CC75F}"/>
              </a:ext>
            </a:extLst>
          </p:cNvPr>
          <p:cNvSpPr txBox="1"/>
          <p:nvPr/>
        </p:nvSpPr>
        <p:spPr>
          <a:xfrm>
            <a:off x="557049" y="1487572"/>
            <a:ext cx="5465380"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Stage 1</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 Consumer decides churn or search → defines state 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Stage 2</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 Platform sends coupon/price (action 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Stage 3</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 Consumer decides purchase → reward (GMV).</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Repeat over time (t → t+1) and optimize with BDRL.</a:t>
            </a:r>
            <a:endParaRPr kumimoji="0" lang="en-HK" sz="1800" b="0" i="0" u="none" strike="noStrike" kern="1200" cap="none" spc="0" normalizeH="0" baseline="0" noProof="0" dirty="0">
              <a:ln>
                <a:noFill/>
              </a:ln>
              <a:solidFill>
                <a:srgbClr val="000000"/>
              </a:solidFill>
              <a:effectLst/>
              <a:uLnTx/>
              <a:uFillTx/>
              <a:latin typeface="Arial"/>
              <a:ea typeface="Microsoft JhengHei"/>
              <a:cs typeface="+mn-cs"/>
            </a:endParaRPr>
          </a:p>
        </p:txBody>
      </p:sp>
      <p:pic>
        <p:nvPicPr>
          <p:cNvPr id="29" name="Picture 28">
            <a:extLst>
              <a:ext uri="{FF2B5EF4-FFF2-40B4-BE49-F238E27FC236}">
                <a16:creationId xmlns:a16="http://schemas.microsoft.com/office/drawing/2014/main" id="{861F7D01-0D43-EE01-60C0-92A609B34ECF}"/>
              </a:ext>
            </a:extLst>
          </p:cNvPr>
          <p:cNvPicPr>
            <a:picLocks noChangeAspect="1"/>
          </p:cNvPicPr>
          <p:nvPr/>
        </p:nvPicPr>
        <p:blipFill>
          <a:blip r:embed="rId5"/>
          <a:srcRect b="21516"/>
          <a:stretch>
            <a:fillRect/>
          </a:stretch>
        </p:blipFill>
        <p:spPr>
          <a:xfrm>
            <a:off x="6547957" y="2747972"/>
            <a:ext cx="5055461" cy="1051056"/>
          </a:xfrm>
          <a:prstGeom prst="rect">
            <a:avLst/>
          </a:prstGeom>
        </p:spPr>
      </p:pic>
      <p:pic>
        <p:nvPicPr>
          <p:cNvPr id="31" name="Picture 30">
            <a:extLst>
              <a:ext uri="{FF2B5EF4-FFF2-40B4-BE49-F238E27FC236}">
                <a16:creationId xmlns:a16="http://schemas.microsoft.com/office/drawing/2014/main" id="{0F5819A3-5FF9-D808-9E3D-0266FC85FDD9}"/>
              </a:ext>
            </a:extLst>
          </p:cNvPr>
          <p:cNvPicPr>
            <a:picLocks noChangeAspect="1"/>
          </p:cNvPicPr>
          <p:nvPr/>
        </p:nvPicPr>
        <p:blipFill>
          <a:blip r:embed="rId6"/>
          <a:stretch>
            <a:fillRect/>
          </a:stretch>
        </p:blipFill>
        <p:spPr>
          <a:xfrm>
            <a:off x="6547956" y="4771092"/>
            <a:ext cx="4993722" cy="1535312"/>
          </a:xfrm>
          <a:prstGeom prst="rect">
            <a:avLst/>
          </a:prstGeom>
        </p:spPr>
      </p:pic>
      <p:sp>
        <p:nvSpPr>
          <p:cNvPr id="33" name="TextBox 32">
            <a:extLst>
              <a:ext uri="{FF2B5EF4-FFF2-40B4-BE49-F238E27FC236}">
                <a16:creationId xmlns:a16="http://schemas.microsoft.com/office/drawing/2014/main" id="{3A77A7CF-E7DF-0668-FE92-6194DE85AEAC}"/>
              </a:ext>
            </a:extLst>
          </p:cNvPr>
          <p:cNvSpPr txBox="1"/>
          <p:nvPr/>
        </p:nvSpPr>
        <p:spPr>
          <a:xfrm>
            <a:off x="6547956" y="2519556"/>
            <a:ext cx="332915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Reward (Revenue) per visit:</a:t>
            </a:r>
          </a:p>
        </p:txBody>
      </p:sp>
      <p:sp>
        <p:nvSpPr>
          <p:cNvPr id="35" name="TextBox 34">
            <a:extLst>
              <a:ext uri="{FF2B5EF4-FFF2-40B4-BE49-F238E27FC236}">
                <a16:creationId xmlns:a16="http://schemas.microsoft.com/office/drawing/2014/main" id="{36FBCF0B-CD36-5A57-739A-0B9D5F564210}"/>
              </a:ext>
            </a:extLst>
          </p:cNvPr>
          <p:cNvSpPr txBox="1"/>
          <p:nvPr/>
        </p:nvSpPr>
        <p:spPr>
          <a:xfrm>
            <a:off x="6547969" y="1215484"/>
            <a:ext cx="524463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Problem: Platform chooses which coupon 𝐴𝑖𝑡​ to send to consumer 𝑖 at visit 𝑡, based on context 𝑆𝑖𝑡​, to maximize purchase probability.</a:t>
            </a:r>
          </a:p>
        </p:txBody>
      </p:sp>
      <p:sp>
        <p:nvSpPr>
          <p:cNvPr id="37" name="TextBox 36">
            <a:extLst>
              <a:ext uri="{FF2B5EF4-FFF2-40B4-BE49-F238E27FC236}">
                <a16:creationId xmlns:a16="http://schemas.microsoft.com/office/drawing/2014/main" id="{3FBBEBE9-61E7-AF9D-8247-4D8BCCCE0212}"/>
              </a:ext>
            </a:extLst>
          </p:cNvPr>
          <p:cNvSpPr txBox="1"/>
          <p:nvPr/>
        </p:nvSpPr>
        <p:spPr>
          <a:xfrm>
            <a:off x="6556997" y="4146450"/>
            <a:ext cx="498468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Find optimal targeting policy 𝜋∗ to maximize expected total discounted GMV:</a:t>
            </a:r>
            <a:endParaRPr kumimoji="0" lang="en-HK" sz="1800" b="0" i="0" u="none" strike="noStrike" kern="1200" cap="none" spc="0" normalizeH="0" baseline="0" noProof="0" dirty="0">
              <a:ln>
                <a:noFill/>
              </a:ln>
              <a:solidFill>
                <a:srgbClr val="000000"/>
              </a:solidFill>
              <a:effectLst/>
              <a:uLnTx/>
              <a:uFillTx/>
              <a:latin typeface="Arial"/>
              <a:ea typeface="Microsoft JhengHei"/>
              <a:cs typeface="+mn-cs"/>
            </a:endParaRPr>
          </a:p>
        </p:txBody>
      </p:sp>
    </p:spTree>
    <p:extLst>
      <p:ext uri="{BB962C8B-B14F-4D97-AF65-F5344CB8AC3E}">
        <p14:creationId xmlns:p14="http://schemas.microsoft.com/office/powerpoint/2010/main" val="3710579011"/>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E25B0-7554-1ED6-CA64-58871430921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5339CDBA-8EFB-0CD5-FA09-F7879E986070}"/>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0F01A2C7-E99F-A3ED-8C34-84EFCC7C6362}"/>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icrosoft JhengHei"/>
                <a:cs typeface="+mn-cs"/>
              </a:endParaRPr>
            </a:p>
          </p:txBody>
        </p:sp>
        <p:pic>
          <p:nvPicPr>
            <p:cNvPr id="6" name="Picture 5">
              <a:extLst>
                <a:ext uri="{FF2B5EF4-FFF2-40B4-BE49-F238E27FC236}">
                  <a16:creationId xmlns:a16="http://schemas.microsoft.com/office/drawing/2014/main" id="{2388F8C2-E20A-BCCF-AF91-6B73135DBD29}"/>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71C4B2DD-C8F5-CC77-9D33-8CD17E1901C5}"/>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7D2781"/>
                </a:solidFill>
                <a:effectLst/>
                <a:uLnTx/>
                <a:uFillTx/>
                <a:latin typeface="Arial"/>
                <a:ea typeface="Microsoft JhengHei"/>
                <a:cs typeface="Arial" panose="020B0604020202020204" pitchFamily="34" charset="0"/>
              </a:rPr>
              <a:t>Model</a:t>
            </a:r>
          </a:p>
        </p:txBody>
      </p:sp>
      <p:pic>
        <p:nvPicPr>
          <p:cNvPr id="25" name="Picture 24">
            <a:extLst>
              <a:ext uri="{FF2B5EF4-FFF2-40B4-BE49-F238E27FC236}">
                <a16:creationId xmlns:a16="http://schemas.microsoft.com/office/drawing/2014/main" id="{C9ED0C1A-A77D-F258-B274-BF94545FB493}"/>
              </a:ext>
            </a:extLst>
          </p:cNvPr>
          <p:cNvPicPr>
            <a:picLocks noChangeAspect="1"/>
          </p:cNvPicPr>
          <p:nvPr/>
        </p:nvPicPr>
        <p:blipFill>
          <a:blip r:embed="rId4"/>
          <a:stretch>
            <a:fillRect/>
          </a:stretch>
        </p:blipFill>
        <p:spPr>
          <a:xfrm>
            <a:off x="5709226" y="1885532"/>
            <a:ext cx="6007696" cy="2899845"/>
          </a:xfrm>
          <a:prstGeom prst="rect">
            <a:avLst/>
          </a:prstGeom>
        </p:spPr>
      </p:pic>
      <p:sp>
        <p:nvSpPr>
          <p:cNvPr id="27" name="TextBox 26">
            <a:extLst>
              <a:ext uri="{FF2B5EF4-FFF2-40B4-BE49-F238E27FC236}">
                <a16:creationId xmlns:a16="http://schemas.microsoft.com/office/drawing/2014/main" id="{7AC5BE8B-0FCF-7CD2-AFD1-0791595DE714}"/>
              </a:ext>
            </a:extLst>
          </p:cNvPr>
          <p:cNvSpPr txBox="1"/>
          <p:nvPr/>
        </p:nvSpPr>
        <p:spPr>
          <a:xfrm>
            <a:off x="6473363" y="4805814"/>
            <a:ext cx="448265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HK" sz="1800" b="0" i="0" u="none" strike="noStrike" kern="1200" cap="none" spc="0" normalizeH="0" baseline="0" noProof="0" dirty="0">
                <a:ln>
                  <a:noFill/>
                </a:ln>
                <a:solidFill>
                  <a:srgbClr val="000000"/>
                </a:solidFill>
                <a:effectLst/>
                <a:uLnTx/>
                <a:uFillTx/>
                <a:latin typeface="Arial"/>
                <a:ea typeface="Microsoft JhengHei"/>
                <a:cs typeface="+mn-cs"/>
              </a:rPr>
              <a:t>Reinforcement Learning Framework</a:t>
            </a:r>
          </a:p>
        </p:txBody>
      </p:sp>
      <p:pic>
        <p:nvPicPr>
          <p:cNvPr id="3" name="Picture 2">
            <a:extLst>
              <a:ext uri="{FF2B5EF4-FFF2-40B4-BE49-F238E27FC236}">
                <a16:creationId xmlns:a16="http://schemas.microsoft.com/office/drawing/2014/main" id="{6FDDFDB7-6DB0-306A-BE7C-DEC76A802072}"/>
              </a:ext>
            </a:extLst>
          </p:cNvPr>
          <p:cNvPicPr>
            <a:picLocks noChangeAspect="1"/>
          </p:cNvPicPr>
          <p:nvPr/>
        </p:nvPicPr>
        <p:blipFill>
          <a:blip r:embed="rId5"/>
          <a:stretch>
            <a:fillRect/>
          </a:stretch>
        </p:blipFill>
        <p:spPr>
          <a:xfrm>
            <a:off x="1235979" y="4805814"/>
            <a:ext cx="3315163" cy="933580"/>
          </a:xfrm>
          <a:prstGeom prst="rect">
            <a:avLst/>
          </a:prstGeom>
        </p:spPr>
      </p:pic>
      <p:sp>
        <p:nvSpPr>
          <p:cNvPr id="10" name="TextBox 9">
            <a:extLst>
              <a:ext uri="{FF2B5EF4-FFF2-40B4-BE49-F238E27FC236}">
                <a16:creationId xmlns:a16="http://schemas.microsoft.com/office/drawing/2014/main" id="{D84DC042-6863-C1F3-1266-85067331CD9C}"/>
              </a:ext>
            </a:extLst>
          </p:cNvPr>
          <p:cNvSpPr txBox="1"/>
          <p:nvPr/>
        </p:nvSpPr>
        <p:spPr>
          <a:xfrm>
            <a:off x="567559" y="1744956"/>
            <a:ext cx="4866289"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State (S): </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Context information: consumer, seller, product, webpage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Action (A)</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 Coupon selection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Reward (R)</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 GMV from purchase influenced by coupon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icrosoft JhengHe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icrosoft JhengHei"/>
                <a:cs typeface="+mn-cs"/>
              </a:rPr>
              <a:t>Objective: </a:t>
            </a:r>
            <a:r>
              <a:rPr kumimoji="0" lang="en-US" sz="1800" b="0" i="0" u="none" strike="noStrike" kern="1200" cap="none" spc="0" normalizeH="0" baseline="0" noProof="0" dirty="0">
                <a:ln>
                  <a:noFill/>
                </a:ln>
                <a:solidFill>
                  <a:srgbClr val="000000"/>
                </a:solidFill>
                <a:effectLst/>
                <a:uLnTx/>
                <a:uFillTx/>
                <a:latin typeface="Arial"/>
                <a:ea typeface="Microsoft JhengHei"/>
                <a:cs typeface="+mn-cs"/>
              </a:rPr>
              <a:t>Maximize total discounted reward (return) over time:</a:t>
            </a:r>
            <a:endParaRPr kumimoji="0" lang="en-HK" sz="1800" b="0" i="0" u="none" strike="noStrike" kern="1200" cap="none" spc="0" normalizeH="0" baseline="0" noProof="0" dirty="0">
              <a:ln>
                <a:noFill/>
              </a:ln>
              <a:solidFill>
                <a:srgbClr val="000000"/>
              </a:solidFill>
              <a:effectLst/>
              <a:uLnTx/>
              <a:uFillTx/>
              <a:latin typeface="Arial"/>
              <a:ea typeface="Microsoft JhengHei"/>
              <a:cs typeface="+mn-cs"/>
            </a:endParaRPr>
          </a:p>
        </p:txBody>
      </p:sp>
    </p:spTree>
    <p:extLst>
      <p:ext uri="{BB962C8B-B14F-4D97-AF65-F5344CB8AC3E}">
        <p14:creationId xmlns:p14="http://schemas.microsoft.com/office/powerpoint/2010/main" val="3522086123"/>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13DA6-E59F-10B7-004D-8886C323CBC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10A186D7-D90C-4476-47B5-BC32C29B0E1D}"/>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D931BC62-1201-CE59-7EF2-7D5AA1B177E0}"/>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96668DA-CCCA-4593-7FE9-FF0B51C7AEA1}"/>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DFB3C055-AD8F-9D78-0B3E-BB6270E2F503}"/>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Model</a:t>
            </a:r>
          </a:p>
        </p:txBody>
      </p:sp>
      <p:sp>
        <p:nvSpPr>
          <p:cNvPr id="10" name="TextBox 9">
            <a:extLst>
              <a:ext uri="{FF2B5EF4-FFF2-40B4-BE49-F238E27FC236}">
                <a16:creationId xmlns:a16="http://schemas.microsoft.com/office/drawing/2014/main" id="{1A6CAE3E-5D84-AF5B-41AF-C3023B77D770}"/>
              </a:ext>
            </a:extLst>
          </p:cNvPr>
          <p:cNvSpPr txBox="1"/>
          <p:nvPr/>
        </p:nvSpPr>
        <p:spPr>
          <a:xfrm>
            <a:off x="567559" y="926989"/>
            <a:ext cx="10388462" cy="2862322"/>
          </a:xfrm>
          <a:prstGeom prst="rect">
            <a:avLst/>
          </a:prstGeom>
          <a:noFill/>
        </p:spPr>
        <p:txBody>
          <a:bodyPr wrap="square">
            <a:spAutoFit/>
          </a:bodyPr>
          <a:lstStyle/>
          <a:p>
            <a:r>
              <a:rPr lang="en-US" b="1" dirty="0"/>
              <a:t>State (S):</a:t>
            </a:r>
          </a:p>
          <a:p>
            <a:pPr marL="285750" indent="-285750">
              <a:buFont typeface="Arial" panose="020B0604020202020204" pitchFamily="34" charset="0"/>
              <a:buChar char="•"/>
            </a:pPr>
            <a:r>
              <a:rPr lang="en-US" dirty="0"/>
              <a:t>Static States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Dynamic States</a:t>
            </a:r>
            <a:endParaRPr lang="en-HK" dirty="0"/>
          </a:p>
        </p:txBody>
      </p:sp>
      <p:pic>
        <p:nvPicPr>
          <p:cNvPr id="4" name="图片 3">
            <a:extLst>
              <a:ext uri="{FF2B5EF4-FFF2-40B4-BE49-F238E27FC236}">
                <a16:creationId xmlns:a16="http://schemas.microsoft.com/office/drawing/2014/main" id="{C4D80D23-22D2-35FF-8D50-E3751152D7AA}"/>
              </a:ext>
            </a:extLst>
          </p:cNvPr>
          <p:cNvPicPr>
            <a:picLocks noChangeAspect="1"/>
          </p:cNvPicPr>
          <p:nvPr/>
        </p:nvPicPr>
        <p:blipFill>
          <a:blip r:embed="rId4"/>
          <a:stretch>
            <a:fillRect/>
          </a:stretch>
        </p:blipFill>
        <p:spPr>
          <a:xfrm>
            <a:off x="1606373" y="1593616"/>
            <a:ext cx="8657168" cy="1835384"/>
          </a:xfrm>
          <a:prstGeom prst="rect">
            <a:avLst/>
          </a:prstGeom>
        </p:spPr>
      </p:pic>
      <p:pic>
        <p:nvPicPr>
          <p:cNvPr id="11" name="图片 10">
            <a:extLst>
              <a:ext uri="{FF2B5EF4-FFF2-40B4-BE49-F238E27FC236}">
                <a16:creationId xmlns:a16="http://schemas.microsoft.com/office/drawing/2014/main" id="{BB716EE9-2725-28CD-0824-3093E736DDC7}"/>
              </a:ext>
            </a:extLst>
          </p:cNvPr>
          <p:cNvPicPr>
            <a:picLocks noChangeAspect="1"/>
          </p:cNvPicPr>
          <p:nvPr/>
        </p:nvPicPr>
        <p:blipFill>
          <a:blip r:embed="rId5"/>
          <a:stretch>
            <a:fillRect/>
          </a:stretch>
        </p:blipFill>
        <p:spPr>
          <a:xfrm>
            <a:off x="1344719" y="3877450"/>
            <a:ext cx="9101618" cy="2980549"/>
          </a:xfrm>
          <a:prstGeom prst="rect">
            <a:avLst/>
          </a:prstGeom>
        </p:spPr>
      </p:pic>
    </p:spTree>
    <p:extLst>
      <p:ext uri="{BB962C8B-B14F-4D97-AF65-F5344CB8AC3E}">
        <p14:creationId xmlns:p14="http://schemas.microsoft.com/office/powerpoint/2010/main" val="4118542314"/>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5C357-9C0E-9394-1362-5E0130E638D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C76652C-3D93-5B0A-EA8C-325DE0A0C711}"/>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5091BB1A-01D5-AE45-AD06-B48404A1B6C1}"/>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3C897A2-328F-BBC8-0451-A5EC0BEE3B6C}"/>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CEAD4AEF-EFCE-2626-D1AA-2541D655D958}"/>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Model</a:t>
            </a:r>
          </a:p>
        </p:txBody>
      </p:sp>
      <p:sp>
        <p:nvSpPr>
          <p:cNvPr id="10" name="TextBox 9">
            <a:extLst>
              <a:ext uri="{FF2B5EF4-FFF2-40B4-BE49-F238E27FC236}">
                <a16:creationId xmlns:a16="http://schemas.microsoft.com/office/drawing/2014/main" id="{D84ED8FE-31EE-2FEF-21FB-25E73F82CCD4}"/>
              </a:ext>
            </a:extLst>
          </p:cNvPr>
          <p:cNvSpPr txBox="1"/>
          <p:nvPr/>
        </p:nvSpPr>
        <p:spPr>
          <a:xfrm>
            <a:off x="661034" y="1168403"/>
            <a:ext cx="10388462" cy="2308324"/>
          </a:xfrm>
          <a:prstGeom prst="rect">
            <a:avLst/>
          </a:prstGeom>
          <a:noFill/>
        </p:spPr>
        <p:txBody>
          <a:bodyPr wrap="square">
            <a:spAutoFit/>
          </a:bodyPr>
          <a:lstStyle/>
          <a:p>
            <a:r>
              <a:rPr lang="en-US" b="1" dirty="0"/>
              <a:t>Policy Learning</a:t>
            </a:r>
            <a:endParaRPr lang="en-US" dirty="0"/>
          </a:p>
          <a:p>
            <a:pPr marL="285750" indent="-285750">
              <a:buFont typeface="Arial" panose="020B0604020202020204" pitchFamily="34" charset="0"/>
              <a:buChar char="•"/>
            </a:pPr>
            <a:r>
              <a:rPr lang="en-US" dirty="0"/>
              <a:t>Algorithm 1 (Q-learning):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grpSp>
        <p:nvGrpSpPr>
          <p:cNvPr id="13" name="组合 12">
            <a:extLst>
              <a:ext uri="{FF2B5EF4-FFF2-40B4-BE49-F238E27FC236}">
                <a16:creationId xmlns:a16="http://schemas.microsoft.com/office/drawing/2014/main" id="{BEC0772D-04A8-9EBC-1372-18248EA61F6D}"/>
              </a:ext>
            </a:extLst>
          </p:cNvPr>
          <p:cNvGrpSpPr/>
          <p:nvPr/>
        </p:nvGrpSpPr>
        <p:grpSpPr>
          <a:xfrm>
            <a:off x="661034" y="1864789"/>
            <a:ext cx="5525771" cy="3822382"/>
            <a:chOff x="3018790" y="1785938"/>
            <a:chExt cx="5525771" cy="3822382"/>
          </a:xfrm>
        </p:grpSpPr>
        <p:pic>
          <p:nvPicPr>
            <p:cNvPr id="3" name="图片 2">
              <a:extLst>
                <a:ext uri="{FF2B5EF4-FFF2-40B4-BE49-F238E27FC236}">
                  <a16:creationId xmlns:a16="http://schemas.microsoft.com/office/drawing/2014/main" id="{B6BB0A8F-66E2-959A-10D7-6A9DF6FD87F7}"/>
                </a:ext>
              </a:extLst>
            </p:cNvPr>
            <p:cNvPicPr>
              <a:picLocks noChangeAspect="1"/>
            </p:cNvPicPr>
            <p:nvPr/>
          </p:nvPicPr>
          <p:blipFill>
            <a:blip r:embed="rId4"/>
            <a:stretch>
              <a:fillRect/>
            </a:stretch>
          </p:blipFill>
          <p:spPr>
            <a:xfrm>
              <a:off x="3253423" y="1785938"/>
              <a:ext cx="5291138" cy="1857012"/>
            </a:xfrm>
            <a:prstGeom prst="rect">
              <a:avLst/>
            </a:prstGeom>
          </p:spPr>
        </p:pic>
        <p:pic>
          <p:nvPicPr>
            <p:cNvPr id="12" name="图片 11">
              <a:extLst>
                <a:ext uri="{FF2B5EF4-FFF2-40B4-BE49-F238E27FC236}">
                  <a16:creationId xmlns:a16="http://schemas.microsoft.com/office/drawing/2014/main" id="{8905E10D-919E-F29F-E06A-EFCA3D56FCC7}"/>
                </a:ext>
              </a:extLst>
            </p:cNvPr>
            <p:cNvPicPr>
              <a:picLocks noChangeAspect="1"/>
            </p:cNvPicPr>
            <p:nvPr/>
          </p:nvPicPr>
          <p:blipFill>
            <a:blip r:embed="rId5"/>
            <a:stretch>
              <a:fillRect/>
            </a:stretch>
          </p:blipFill>
          <p:spPr>
            <a:xfrm>
              <a:off x="3018790" y="3642950"/>
              <a:ext cx="5475338" cy="1965370"/>
            </a:xfrm>
            <a:prstGeom prst="rect">
              <a:avLst/>
            </a:prstGeom>
          </p:spPr>
        </p:pic>
      </p:grpSp>
      <p:grpSp>
        <p:nvGrpSpPr>
          <p:cNvPr id="17" name="组合 16">
            <a:extLst>
              <a:ext uri="{FF2B5EF4-FFF2-40B4-BE49-F238E27FC236}">
                <a16:creationId xmlns:a16="http://schemas.microsoft.com/office/drawing/2014/main" id="{DF58D5D8-67F9-F3F2-62D2-45C7297A922A}"/>
              </a:ext>
            </a:extLst>
          </p:cNvPr>
          <p:cNvGrpSpPr/>
          <p:nvPr/>
        </p:nvGrpSpPr>
        <p:grpSpPr>
          <a:xfrm>
            <a:off x="6242685" y="1729958"/>
            <a:ext cx="5708293" cy="732971"/>
            <a:chOff x="6130925" y="1530251"/>
            <a:chExt cx="5708293" cy="732971"/>
          </a:xfrm>
        </p:grpSpPr>
        <p:sp>
          <p:nvSpPr>
            <p:cNvPr id="14" name="文本框 13">
              <a:extLst>
                <a:ext uri="{FF2B5EF4-FFF2-40B4-BE49-F238E27FC236}">
                  <a16:creationId xmlns:a16="http://schemas.microsoft.com/office/drawing/2014/main" id="{968D62FD-F768-DEFD-7295-1A01CA2831F9}"/>
                </a:ext>
              </a:extLst>
            </p:cNvPr>
            <p:cNvSpPr txBox="1"/>
            <p:nvPr/>
          </p:nvSpPr>
          <p:spPr>
            <a:xfrm>
              <a:off x="7345680" y="1530251"/>
              <a:ext cx="4493538"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Before learning begins, Q is initialized to a</a:t>
              </a:r>
            </a:p>
            <a:p>
              <a:r>
                <a:rPr lang="en-US" dirty="0"/>
                <a:t>possibly arbitrary fixed value</a:t>
              </a:r>
            </a:p>
          </p:txBody>
        </p:sp>
        <p:cxnSp>
          <p:nvCxnSpPr>
            <p:cNvPr id="16" name="直接箭头连接符 15">
              <a:extLst>
                <a:ext uri="{FF2B5EF4-FFF2-40B4-BE49-F238E27FC236}">
                  <a16:creationId xmlns:a16="http://schemas.microsoft.com/office/drawing/2014/main" id="{C9638638-5761-8F04-C1FE-3231A18E4A2C}"/>
                </a:ext>
              </a:extLst>
            </p:cNvPr>
            <p:cNvCxnSpPr>
              <a:cxnSpLocks/>
            </p:cNvCxnSpPr>
            <p:nvPr/>
          </p:nvCxnSpPr>
          <p:spPr>
            <a:xfrm flipH="1">
              <a:off x="6130925" y="1864789"/>
              <a:ext cx="1214755" cy="398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a:extLst>
              <a:ext uri="{FF2B5EF4-FFF2-40B4-BE49-F238E27FC236}">
                <a16:creationId xmlns:a16="http://schemas.microsoft.com/office/drawing/2014/main" id="{1FB41A69-EA29-C626-D207-213A784B4819}"/>
              </a:ext>
            </a:extLst>
          </p:cNvPr>
          <p:cNvGrpSpPr/>
          <p:nvPr/>
        </p:nvGrpSpPr>
        <p:grpSpPr>
          <a:xfrm>
            <a:off x="4630143" y="3585196"/>
            <a:ext cx="6985555" cy="923330"/>
            <a:chOff x="4630143" y="3585196"/>
            <a:chExt cx="6985555" cy="923330"/>
          </a:xfrm>
        </p:grpSpPr>
        <p:grpSp>
          <p:nvGrpSpPr>
            <p:cNvPr id="18" name="组合 17">
              <a:extLst>
                <a:ext uri="{FF2B5EF4-FFF2-40B4-BE49-F238E27FC236}">
                  <a16:creationId xmlns:a16="http://schemas.microsoft.com/office/drawing/2014/main" id="{411A172B-DEBD-A806-D2EA-1862E47E87B7}"/>
                </a:ext>
              </a:extLst>
            </p:cNvPr>
            <p:cNvGrpSpPr/>
            <p:nvPr/>
          </p:nvGrpSpPr>
          <p:grpSpPr>
            <a:xfrm>
              <a:off x="6096000" y="3585196"/>
              <a:ext cx="5519698" cy="923330"/>
              <a:chOff x="6096000" y="1417206"/>
              <a:chExt cx="5519698" cy="923330"/>
            </a:xfrm>
          </p:grpSpPr>
          <p:sp>
            <p:nvSpPr>
              <p:cNvPr id="19" name="文本框 18">
                <a:extLst>
                  <a:ext uri="{FF2B5EF4-FFF2-40B4-BE49-F238E27FC236}">
                    <a16:creationId xmlns:a16="http://schemas.microsoft.com/office/drawing/2014/main" id="{E86182E7-CC56-E0B0-309E-BCA7F89C0CB4}"/>
                  </a:ext>
                </a:extLst>
              </p:cNvPr>
              <p:cNvSpPr txBox="1"/>
              <p:nvPr/>
            </p:nvSpPr>
            <p:spPr>
              <a:xfrm>
                <a:off x="7561858" y="1417206"/>
                <a:ext cx="4053840"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At each time the platform selects an action (A), observes a reward (R) and a new state (S’)</a:t>
                </a:r>
              </a:p>
            </p:txBody>
          </p:sp>
          <p:cxnSp>
            <p:nvCxnSpPr>
              <p:cNvPr id="20" name="直接箭头连接符 19">
                <a:extLst>
                  <a:ext uri="{FF2B5EF4-FFF2-40B4-BE49-F238E27FC236}">
                    <a16:creationId xmlns:a16="http://schemas.microsoft.com/office/drawing/2014/main" id="{0C408A9A-D008-E8AC-5D38-525B6189479B}"/>
                  </a:ext>
                </a:extLst>
              </p:cNvPr>
              <p:cNvCxnSpPr>
                <a:cxnSpLocks/>
                <a:stCxn id="19" idx="1"/>
              </p:cNvCxnSpPr>
              <p:nvPr/>
            </p:nvCxnSpPr>
            <p:spPr>
              <a:xfrm flipH="1" flipV="1">
                <a:off x="6096000" y="1798536"/>
                <a:ext cx="1465858" cy="80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24" name="直接箭头连接符 23">
              <a:extLst>
                <a:ext uri="{FF2B5EF4-FFF2-40B4-BE49-F238E27FC236}">
                  <a16:creationId xmlns:a16="http://schemas.microsoft.com/office/drawing/2014/main" id="{6AA4D5C2-AC1D-33B3-1470-12F126BBD408}"/>
                </a:ext>
              </a:extLst>
            </p:cNvPr>
            <p:cNvCxnSpPr>
              <a:cxnSpLocks/>
            </p:cNvCxnSpPr>
            <p:nvPr/>
          </p:nvCxnSpPr>
          <p:spPr>
            <a:xfrm flipH="1">
              <a:off x="4630143" y="4038282"/>
              <a:ext cx="2931715" cy="334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32589270-E5AC-482C-D8BC-8F41F21CAE12}"/>
              </a:ext>
            </a:extLst>
          </p:cNvPr>
          <p:cNvGrpSpPr/>
          <p:nvPr/>
        </p:nvGrpSpPr>
        <p:grpSpPr>
          <a:xfrm>
            <a:off x="5963920" y="4785086"/>
            <a:ext cx="5944969" cy="1477328"/>
            <a:chOff x="5998845" y="628166"/>
            <a:chExt cx="5944969" cy="1477328"/>
          </a:xfrm>
        </p:grpSpPr>
        <p:sp>
          <p:nvSpPr>
            <p:cNvPr id="30" name="文本框 29">
              <a:extLst>
                <a:ext uri="{FF2B5EF4-FFF2-40B4-BE49-F238E27FC236}">
                  <a16:creationId xmlns:a16="http://schemas.microsoft.com/office/drawing/2014/main" id="{82BCDA70-0BD2-A32F-BAC2-7662053D4CFC}"/>
                </a:ext>
              </a:extLst>
            </p:cNvPr>
            <p:cNvSpPr txBox="1"/>
            <p:nvPr/>
          </p:nvSpPr>
          <p:spPr>
            <a:xfrm>
              <a:off x="7303591" y="628166"/>
              <a:ext cx="464022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Given the new reward (R) and new state (S’), Q is updated to </a:t>
              </a:r>
              <a:r>
                <a:rPr lang="en-US" dirty="0" err="1"/>
                <a:t>Q</a:t>
              </a:r>
              <a:r>
                <a:rPr lang="en-US" baseline="30000" dirty="0" err="1"/>
                <a:t>new</a:t>
              </a:r>
              <a:r>
                <a:rPr lang="en-US" dirty="0"/>
                <a:t> using a weighted average of the Q value from the previous iteration and the new information </a:t>
              </a:r>
              <a:r>
                <a:rPr lang="en-US" i="1" dirty="0"/>
                <a:t>[α = learning rate, δ = discount factor].</a:t>
              </a:r>
            </a:p>
          </p:txBody>
        </p:sp>
        <p:cxnSp>
          <p:nvCxnSpPr>
            <p:cNvPr id="31" name="直接箭头连接符 30">
              <a:extLst>
                <a:ext uri="{FF2B5EF4-FFF2-40B4-BE49-F238E27FC236}">
                  <a16:creationId xmlns:a16="http://schemas.microsoft.com/office/drawing/2014/main" id="{6E6AD846-FFF5-F369-A5B9-10D33CC1E35A}"/>
                </a:ext>
              </a:extLst>
            </p:cNvPr>
            <p:cNvCxnSpPr>
              <a:cxnSpLocks/>
              <a:stCxn id="30" idx="1"/>
            </p:cNvCxnSpPr>
            <p:nvPr/>
          </p:nvCxnSpPr>
          <p:spPr>
            <a:xfrm flipH="1" flipV="1">
              <a:off x="5998845" y="741712"/>
              <a:ext cx="1304746" cy="625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5048623"/>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43629-6508-0C64-88E7-69D6D5B27025}"/>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AA862ED-60F1-3540-8DE3-DF614BDCACFC}"/>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50FD517C-054F-AB34-0C7D-33BD3DF175A1}"/>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7AB15D2-FDF1-84EB-B029-1B9B84D83C49}"/>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A7103B78-5772-948C-F249-560B1C2D7A92}"/>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Model</a:t>
            </a:r>
          </a:p>
        </p:txBody>
      </p:sp>
      <p:sp>
        <p:nvSpPr>
          <p:cNvPr id="10" name="TextBox 9">
            <a:extLst>
              <a:ext uri="{FF2B5EF4-FFF2-40B4-BE49-F238E27FC236}">
                <a16:creationId xmlns:a16="http://schemas.microsoft.com/office/drawing/2014/main" id="{35FC8A80-7880-825A-11DA-1D53713204E5}"/>
              </a:ext>
            </a:extLst>
          </p:cNvPr>
          <p:cNvSpPr txBox="1"/>
          <p:nvPr/>
        </p:nvSpPr>
        <p:spPr>
          <a:xfrm>
            <a:off x="661034" y="1133717"/>
            <a:ext cx="10388462" cy="2031325"/>
          </a:xfrm>
          <a:prstGeom prst="rect">
            <a:avLst/>
          </a:prstGeom>
          <a:noFill/>
        </p:spPr>
        <p:txBody>
          <a:bodyPr wrap="square">
            <a:spAutoFit/>
          </a:bodyPr>
          <a:lstStyle/>
          <a:p>
            <a:r>
              <a:rPr lang="en-US" b="1" dirty="0"/>
              <a:t>Policy Learning</a:t>
            </a:r>
            <a:endParaRPr lang="en-US" dirty="0"/>
          </a:p>
          <a:p>
            <a:pPr marL="285750" indent="-285750">
              <a:buFont typeface="Arial" panose="020B0604020202020204" pitchFamily="34" charset="0"/>
              <a:buChar char="•"/>
            </a:pPr>
            <a:r>
              <a:rPr lang="en-US" dirty="0"/>
              <a:t>Algorithm 2 (</a:t>
            </a:r>
            <a:r>
              <a:rPr lang="en-US" dirty="0">
                <a:latin typeface="Arial" panose="020B0604020202020204" pitchFamily="34" charset="0"/>
              </a:rPr>
              <a:t>batch-constrained Q-learning, </a:t>
            </a:r>
            <a:r>
              <a:rPr lang="en-US" dirty="0"/>
              <a:t>BCQ):</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grpSp>
        <p:nvGrpSpPr>
          <p:cNvPr id="38" name="组合 37">
            <a:extLst>
              <a:ext uri="{FF2B5EF4-FFF2-40B4-BE49-F238E27FC236}">
                <a16:creationId xmlns:a16="http://schemas.microsoft.com/office/drawing/2014/main" id="{1D429D97-F319-6769-D523-9824920FCC4B}"/>
              </a:ext>
            </a:extLst>
          </p:cNvPr>
          <p:cNvGrpSpPr/>
          <p:nvPr/>
        </p:nvGrpSpPr>
        <p:grpSpPr>
          <a:xfrm>
            <a:off x="853678" y="2053123"/>
            <a:ext cx="4886721" cy="3888965"/>
            <a:chOff x="853679" y="1933660"/>
            <a:chExt cx="4493538" cy="3618663"/>
          </a:xfrm>
        </p:grpSpPr>
        <p:pic>
          <p:nvPicPr>
            <p:cNvPr id="35" name="图片 34">
              <a:extLst>
                <a:ext uri="{FF2B5EF4-FFF2-40B4-BE49-F238E27FC236}">
                  <a16:creationId xmlns:a16="http://schemas.microsoft.com/office/drawing/2014/main" id="{B9A421EF-8E7C-B174-986B-9D32515A32FE}"/>
                </a:ext>
              </a:extLst>
            </p:cNvPr>
            <p:cNvPicPr>
              <a:picLocks noChangeAspect="1"/>
            </p:cNvPicPr>
            <p:nvPr/>
          </p:nvPicPr>
          <p:blipFill>
            <a:blip r:embed="rId4"/>
            <a:stretch>
              <a:fillRect/>
            </a:stretch>
          </p:blipFill>
          <p:spPr>
            <a:xfrm>
              <a:off x="853679" y="1933660"/>
              <a:ext cx="4493538" cy="2934368"/>
            </a:xfrm>
            <a:prstGeom prst="rect">
              <a:avLst/>
            </a:prstGeom>
          </p:spPr>
        </p:pic>
        <p:pic>
          <p:nvPicPr>
            <p:cNvPr id="37" name="图片 36">
              <a:extLst>
                <a:ext uri="{FF2B5EF4-FFF2-40B4-BE49-F238E27FC236}">
                  <a16:creationId xmlns:a16="http://schemas.microsoft.com/office/drawing/2014/main" id="{354B7EB8-5E35-56BC-EE1E-EB44F9025B80}"/>
                </a:ext>
              </a:extLst>
            </p:cNvPr>
            <p:cNvPicPr>
              <a:picLocks noChangeAspect="1"/>
            </p:cNvPicPr>
            <p:nvPr/>
          </p:nvPicPr>
          <p:blipFill>
            <a:blip r:embed="rId5"/>
            <a:stretch>
              <a:fillRect/>
            </a:stretch>
          </p:blipFill>
          <p:spPr>
            <a:xfrm>
              <a:off x="853679" y="4769670"/>
              <a:ext cx="4003938" cy="782653"/>
            </a:xfrm>
            <a:prstGeom prst="rect">
              <a:avLst/>
            </a:prstGeom>
          </p:spPr>
        </p:pic>
      </p:grpSp>
      <p:grpSp>
        <p:nvGrpSpPr>
          <p:cNvPr id="17" name="组合 16">
            <a:extLst>
              <a:ext uri="{FF2B5EF4-FFF2-40B4-BE49-F238E27FC236}">
                <a16:creationId xmlns:a16="http://schemas.microsoft.com/office/drawing/2014/main" id="{39E6666A-D58A-11EB-957D-517DF52D8408}"/>
              </a:ext>
            </a:extLst>
          </p:cNvPr>
          <p:cNvGrpSpPr/>
          <p:nvPr/>
        </p:nvGrpSpPr>
        <p:grpSpPr>
          <a:xfrm>
            <a:off x="4869922" y="3174521"/>
            <a:ext cx="7038966" cy="1243375"/>
            <a:chOff x="6127231" y="1074871"/>
            <a:chExt cx="7038966" cy="1243375"/>
          </a:xfrm>
        </p:grpSpPr>
        <p:sp>
          <p:nvSpPr>
            <p:cNvPr id="14" name="文本框 13">
              <a:extLst>
                <a:ext uri="{FF2B5EF4-FFF2-40B4-BE49-F238E27FC236}">
                  <a16:creationId xmlns:a16="http://schemas.microsoft.com/office/drawing/2014/main" id="{2253B22E-F485-98C3-6DD9-92D03AD9C05E}"/>
                </a:ext>
              </a:extLst>
            </p:cNvPr>
            <p:cNvSpPr txBox="1"/>
            <p:nvPr/>
          </p:nvSpPr>
          <p:spPr>
            <a:xfrm>
              <a:off x="7881628" y="1074871"/>
              <a:ext cx="5284569"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Adjust a threshold value (τ) for a state-action pair and allow only the actions whose relative probability is above the threshold.</a:t>
              </a:r>
            </a:p>
          </p:txBody>
        </p:sp>
        <p:cxnSp>
          <p:nvCxnSpPr>
            <p:cNvPr id="16" name="直接箭头连接符 15">
              <a:extLst>
                <a:ext uri="{FF2B5EF4-FFF2-40B4-BE49-F238E27FC236}">
                  <a16:creationId xmlns:a16="http://schemas.microsoft.com/office/drawing/2014/main" id="{F9FC2A5F-2671-3E5D-B34B-2D867DFAF54E}"/>
                </a:ext>
              </a:extLst>
            </p:cNvPr>
            <p:cNvCxnSpPr>
              <a:cxnSpLocks/>
            </p:cNvCxnSpPr>
            <p:nvPr/>
          </p:nvCxnSpPr>
          <p:spPr>
            <a:xfrm flipH="1">
              <a:off x="6127231" y="1593309"/>
              <a:ext cx="1754398" cy="724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83B4D9DA-C3D6-62FC-5EC7-3D9575663248}"/>
              </a:ext>
            </a:extLst>
          </p:cNvPr>
          <p:cNvGrpSpPr/>
          <p:nvPr/>
        </p:nvGrpSpPr>
        <p:grpSpPr>
          <a:xfrm>
            <a:off x="4970343" y="4811265"/>
            <a:ext cx="6849209" cy="923330"/>
            <a:chOff x="5094605" y="628166"/>
            <a:chExt cx="6849209" cy="923330"/>
          </a:xfrm>
        </p:grpSpPr>
        <p:sp>
          <p:nvSpPr>
            <p:cNvPr id="30" name="文本框 29">
              <a:extLst>
                <a:ext uri="{FF2B5EF4-FFF2-40B4-BE49-F238E27FC236}">
                  <a16:creationId xmlns:a16="http://schemas.microsoft.com/office/drawing/2014/main" id="{DC49D8EE-A9E0-DB33-DD7F-0D3EF7F266BF}"/>
                </a:ext>
              </a:extLst>
            </p:cNvPr>
            <p:cNvSpPr txBox="1"/>
            <p:nvPr/>
          </p:nvSpPr>
          <p:spPr>
            <a:xfrm>
              <a:off x="7303591" y="628166"/>
              <a:ext cx="4640223"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The probability of actions in each state is calculated by training a generative model (</a:t>
              </a:r>
              <a:r>
                <a:rPr lang="en-US" dirty="0" err="1"/>
                <a:t>G</a:t>
              </a:r>
              <a:r>
                <a:rPr lang="en-US" baseline="-25000" dirty="0" err="1"/>
                <a:t>ω</a:t>
              </a:r>
              <a:r>
                <a:rPr lang="en-US" baseline="-25000" dirty="0"/>
                <a:t>, </a:t>
              </a:r>
              <a:r>
                <a:rPr lang="en-US" dirty="0"/>
                <a:t>GBDT model)</a:t>
              </a:r>
              <a:endParaRPr lang="en-US" i="1" dirty="0"/>
            </a:p>
          </p:txBody>
        </p:sp>
        <p:cxnSp>
          <p:nvCxnSpPr>
            <p:cNvPr id="31" name="直接箭头连接符 30">
              <a:extLst>
                <a:ext uri="{FF2B5EF4-FFF2-40B4-BE49-F238E27FC236}">
                  <a16:creationId xmlns:a16="http://schemas.microsoft.com/office/drawing/2014/main" id="{12DDB4E3-37CC-1AC7-DE4D-0D2C06BF919C}"/>
                </a:ext>
              </a:extLst>
            </p:cNvPr>
            <p:cNvCxnSpPr>
              <a:cxnSpLocks/>
              <a:stCxn id="30" idx="1"/>
            </p:cNvCxnSpPr>
            <p:nvPr/>
          </p:nvCxnSpPr>
          <p:spPr>
            <a:xfrm flipH="1">
              <a:off x="5094605" y="1089831"/>
              <a:ext cx="22089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34380804"/>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8503-3993-994A-5F44-2D8752B30A68}"/>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902869E-A1A6-66A3-F59B-B3506C43F45B}"/>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1F989E91-0354-2901-7A4D-3F1F538891D4}"/>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BD4D928-7A2D-7176-94EB-D3757AF1987D}"/>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AA3C55DC-3300-F1B3-8EEC-EC8F5C3DFCCE}"/>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Benchmark Policies</a:t>
            </a:r>
          </a:p>
          <a:p>
            <a:endParaRPr lang="en-US" sz="3200" dirty="0"/>
          </a:p>
        </p:txBody>
      </p:sp>
      <p:sp>
        <p:nvSpPr>
          <p:cNvPr id="10" name="TextBox 9">
            <a:extLst>
              <a:ext uri="{FF2B5EF4-FFF2-40B4-BE49-F238E27FC236}">
                <a16:creationId xmlns:a16="http://schemas.microsoft.com/office/drawing/2014/main" id="{5C50FA9F-3749-A278-2B76-E3F786DA7B82}"/>
              </a:ext>
            </a:extLst>
          </p:cNvPr>
          <p:cNvSpPr txBox="1"/>
          <p:nvPr/>
        </p:nvSpPr>
        <p:spPr>
          <a:xfrm>
            <a:off x="661034" y="1133717"/>
            <a:ext cx="10388462" cy="3139321"/>
          </a:xfrm>
          <a:prstGeom prst="rect">
            <a:avLst/>
          </a:prstGeom>
          <a:noFill/>
        </p:spPr>
        <p:txBody>
          <a:bodyPr wrap="square">
            <a:spAutoFit/>
          </a:bodyPr>
          <a:lstStyle/>
          <a:p>
            <a:endParaRPr lang="en-US" b="1"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We estimate the value of the new policy using the doubly robust estimator: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pic>
        <p:nvPicPr>
          <p:cNvPr id="4" name="图片 3">
            <a:extLst>
              <a:ext uri="{FF2B5EF4-FFF2-40B4-BE49-F238E27FC236}">
                <a16:creationId xmlns:a16="http://schemas.microsoft.com/office/drawing/2014/main" id="{A52B9034-06B6-9870-1443-7BAE3E9794F8}"/>
              </a:ext>
            </a:extLst>
          </p:cNvPr>
          <p:cNvPicPr>
            <a:picLocks noChangeAspect="1"/>
          </p:cNvPicPr>
          <p:nvPr/>
        </p:nvPicPr>
        <p:blipFill>
          <a:blip r:embed="rId4"/>
          <a:stretch>
            <a:fillRect/>
          </a:stretch>
        </p:blipFill>
        <p:spPr>
          <a:xfrm>
            <a:off x="363785" y="1133717"/>
            <a:ext cx="10982960" cy="2523324"/>
          </a:xfrm>
          <a:prstGeom prst="rect">
            <a:avLst/>
          </a:prstGeom>
        </p:spPr>
      </p:pic>
      <p:sp>
        <p:nvSpPr>
          <p:cNvPr id="13" name="文本框 12">
            <a:extLst>
              <a:ext uri="{FF2B5EF4-FFF2-40B4-BE49-F238E27FC236}">
                <a16:creationId xmlns:a16="http://schemas.microsoft.com/office/drawing/2014/main" id="{333440D0-ABE6-B66D-EDB2-5E2E14FD767D}"/>
              </a:ext>
            </a:extLst>
          </p:cNvPr>
          <p:cNvSpPr txBox="1"/>
          <p:nvPr/>
        </p:nvSpPr>
        <p:spPr>
          <a:xfrm>
            <a:off x="363785" y="3780373"/>
            <a:ext cx="6121400" cy="646331"/>
          </a:xfrm>
          <a:prstGeom prst="rect">
            <a:avLst/>
          </a:prstGeom>
          <a:noFill/>
        </p:spPr>
        <p:txBody>
          <a:bodyPr wrap="square">
            <a:spAutoFit/>
          </a:bodyPr>
          <a:lstStyle/>
          <a:p>
            <a:r>
              <a:rPr lang="en-US" sz="1800" b="1" i="0" u="none" strike="noStrike" baseline="0" dirty="0">
                <a:latin typeface="AdvOT3258b86f"/>
              </a:rPr>
              <a:t>Regression without interaction: </a:t>
            </a:r>
          </a:p>
          <a:p>
            <a:endParaRPr lang="en-US" b="1" dirty="0"/>
          </a:p>
        </p:txBody>
      </p:sp>
      <p:pic>
        <p:nvPicPr>
          <p:cNvPr id="16" name="图片 15">
            <a:extLst>
              <a:ext uri="{FF2B5EF4-FFF2-40B4-BE49-F238E27FC236}">
                <a16:creationId xmlns:a16="http://schemas.microsoft.com/office/drawing/2014/main" id="{CB4C668D-9E4D-3285-E739-10FE8020691C}"/>
              </a:ext>
            </a:extLst>
          </p:cNvPr>
          <p:cNvPicPr>
            <a:picLocks noChangeAspect="1"/>
          </p:cNvPicPr>
          <p:nvPr/>
        </p:nvPicPr>
        <p:blipFill>
          <a:blip r:embed="rId5"/>
          <a:stretch>
            <a:fillRect/>
          </a:stretch>
        </p:blipFill>
        <p:spPr>
          <a:xfrm>
            <a:off x="1388527" y="4288871"/>
            <a:ext cx="4707473" cy="1220647"/>
          </a:xfrm>
          <a:prstGeom prst="rect">
            <a:avLst/>
          </a:prstGeom>
        </p:spPr>
      </p:pic>
      <p:sp>
        <p:nvSpPr>
          <p:cNvPr id="17" name="文本框 16">
            <a:extLst>
              <a:ext uri="{FF2B5EF4-FFF2-40B4-BE49-F238E27FC236}">
                <a16:creationId xmlns:a16="http://schemas.microsoft.com/office/drawing/2014/main" id="{EA2DBD04-521C-C2B0-6A29-E5E148FDA8E3}"/>
              </a:ext>
            </a:extLst>
          </p:cNvPr>
          <p:cNvSpPr txBox="1"/>
          <p:nvPr/>
        </p:nvSpPr>
        <p:spPr>
          <a:xfrm>
            <a:off x="439985" y="5663184"/>
            <a:ext cx="10436295" cy="923330"/>
          </a:xfrm>
          <a:prstGeom prst="rect">
            <a:avLst/>
          </a:prstGeom>
          <a:noFill/>
        </p:spPr>
        <p:txBody>
          <a:bodyPr wrap="square">
            <a:spAutoFit/>
          </a:bodyPr>
          <a:lstStyle/>
          <a:p>
            <a:r>
              <a:rPr lang="en-US" b="1" dirty="0"/>
              <a:t>Static Policy with Heterogeneous Treatments:</a:t>
            </a:r>
          </a:p>
          <a:p>
            <a:pPr marL="285750" indent="-285750">
              <a:buFont typeface="Arial" panose="020B0604020202020204" pitchFamily="34" charset="0"/>
              <a:buChar char="•"/>
            </a:pPr>
            <a:r>
              <a:rPr lang="en-US" dirty="0"/>
              <a:t>Indirect methods: GBDT </a:t>
            </a:r>
            <a:r>
              <a:rPr lang="en-US" altLang="zh-CN" dirty="0"/>
              <a:t>and</a:t>
            </a:r>
            <a:r>
              <a:rPr lang="zh-CN" altLang="en-US" dirty="0"/>
              <a:t> </a:t>
            </a:r>
            <a:r>
              <a:rPr lang="en-US" dirty="0"/>
              <a:t>DNN</a:t>
            </a:r>
          </a:p>
          <a:p>
            <a:pPr marL="285750" indent="-285750">
              <a:buFont typeface="Arial" panose="020B0604020202020204" pitchFamily="34" charset="0"/>
              <a:buChar char="•"/>
            </a:pPr>
            <a:r>
              <a:rPr lang="en-US" dirty="0"/>
              <a:t>Direct methods: ORF</a:t>
            </a:r>
          </a:p>
        </p:txBody>
      </p:sp>
      <p:sp>
        <p:nvSpPr>
          <p:cNvPr id="3" name="文本框 2">
            <a:extLst>
              <a:ext uri="{FF2B5EF4-FFF2-40B4-BE49-F238E27FC236}">
                <a16:creationId xmlns:a16="http://schemas.microsoft.com/office/drawing/2014/main" id="{F4AE4EC0-5B85-E788-1A85-03F0015C8B85}"/>
              </a:ext>
            </a:extLst>
          </p:cNvPr>
          <p:cNvSpPr txBox="1"/>
          <p:nvPr/>
        </p:nvSpPr>
        <p:spPr>
          <a:xfrm>
            <a:off x="6171424" y="4373154"/>
            <a:ext cx="5343031"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1800" kern="100" dirty="0">
                <a:effectLst/>
                <a:latin typeface="宋体" panose="02010600030101010101" pitchFamily="2" charset="-122"/>
                <a:ea typeface="等线" panose="02010600030101010101" pitchFamily="2" charset="-122"/>
                <a:cs typeface="宋体" panose="02010600030101010101" pitchFamily="2" charset="-122"/>
              </a:rPr>
              <a:t>model = </a:t>
            </a:r>
            <a:r>
              <a:rPr lang="en-US" sz="1800" kern="100" dirty="0" err="1">
                <a:effectLst/>
                <a:latin typeface="宋体" panose="02010600030101010101" pitchFamily="2" charset="-122"/>
                <a:ea typeface="等线" panose="02010600030101010101" pitchFamily="2" charset="-122"/>
                <a:cs typeface="宋体" panose="02010600030101010101" pitchFamily="2" charset="-122"/>
              </a:rPr>
              <a:t>LinearRegression</a:t>
            </a:r>
            <a:r>
              <a:rPr lang="en-US" sz="1800" kern="100" dirty="0">
                <a:effectLst/>
                <a:latin typeface="宋体" panose="02010600030101010101" pitchFamily="2" charset="-122"/>
                <a:ea typeface="等线" panose="02010600030101010101" pitchFamily="2" charset="-122"/>
                <a:cs typeface="宋体" panose="02010600030101010101" pitchFamily="2" charset="-122"/>
              </a:rPr>
              <a:t>(</a:t>
            </a:r>
            <a:r>
              <a:rPr lang="en-US" sz="1800" kern="100" dirty="0" err="1">
                <a:effectLst/>
                <a:latin typeface="宋体" panose="02010600030101010101" pitchFamily="2" charset="-122"/>
                <a:ea typeface="等线" panose="02010600030101010101" pitchFamily="2" charset="-122"/>
                <a:cs typeface="宋体" panose="02010600030101010101" pitchFamily="2" charset="-122"/>
              </a:rPr>
              <a:t>fit_intercept</a:t>
            </a:r>
            <a:r>
              <a:rPr lang="en-US" sz="1800" kern="100" dirty="0">
                <a:effectLst/>
                <a:latin typeface="宋体" panose="02010600030101010101" pitchFamily="2" charset="-122"/>
                <a:ea typeface="等线" panose="02010600030101010101" pitchFamily="2" charset="-122"/>
                <a:cs typeface="宋体" panose="02010600030101010101" pitchFamily="2" charset="-122"/>
              </a:rPr>
              <a:t>=False)</a:t>
            </a:r>
            <a:endParaRPr lang="en-US" sz="1800" kern="100" dirty="0">
              <a:effectLst/>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53506317"/>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AE315DF-4552-339A-3E7C-840113D538D6}"/>
              </a:ext>
            </a:extLst>
          </p:cNvPr>
          <p:cNvSpPr>
            <a:spLocks noGrp="1"/>
          </p:cNvSpPr>
          <p:nvPr>
            <p:ph type="ctrTitle"/>
          </p:nvPr>
        </p:nvSpPr>
        <p:spPr>
          <a:xfrm>
            <a:off x="316221" y="316017"/>
            <a:ext cx="8405360" cy="813331"/>
          </a:xfrm>
        </p:spPr>
        <p:txBody>
          <a:bodyPr>
            <a:normAutofit/>
          </a:bodyPr>
          <a:lstStyle/>
          <a:p>
            <a:r>
              <a:rPr lang="en-US" sz="3200" dirty="0"/>
              <a:t>GBDT</a:t>
            </a:r>
          </a:p>
        </p:txBody>
      </p:sp>
      <p:sp>
        <p:nvSpPr>
          <p:cNvPr id="6" name="副标题 5">
            <a:extLst>
              <a:ext uri="{FF2B5EF4-FFF2-40B4-BE49-F238E27FC236}">
                <a16:creationId xmlns:a16="http://schemas.microsoft.com/office/drawing/2014/main" id="{7E30EADF-00CA-7D6F-09DF-5858EBFCBD7E}"/>
              </a:ext>
            </a:extLst>
          </p:cNvPr>
          <p:cNvSpPr>
            <a:spLocks noGrp="1"/>
          </p:cNvSpPr>
          <p:nvPr>
            <p:ph type="subTitle" idx="1"/>
          </p:nvPr>
        </p:nvSpPr>
        <p:spPr>
          <a:xfrm>
            <a:off x="316221" y="939777"/>
            <a:ext cx="11559558" cy="5791776"/>
          </a:xfrm>
        </p:spPr>
        <p:txBody>
          <a:bodyPr numCol="2">
            <a:noAutofit/>
          </a:bodyPr>
          <a:lstStyle/>
          <a:p>
            <a:r>
              <a:rPr lang="en-US" dirty="0"/>
              <a:t>class </a:t>
            </a:r>
            <a:r>
              <a:rPr lang="en-US" dirty="0" err="1"/>
              <a:t>gbdt_model</a:t>
            </a:r>
            <a:r>
              <a:rPr lang="en-US" dirty="0"/>
              <a:t>(object):</a:t>
            </a:r>
            <a:br>
              <a:rPr lang="en-US" dirty="0"/>
            </a:br>
            <a:r>
              <a:rPr lang="en-US" dirty="0"/>
              <a:t>    def __</a:t>
            </a:r>
            <a:r>
              <a:rPr lang="en-US" dirty="0" err="1"/>
              <a:t>init</a:t>
            </a:r>
            <a:r>
              <a:rPr lang="en-US" dirty="0"/>
              <a:t>__(self, </a:t>
            </a:r>
            <a:r>
              <a:rPr lang="en-US" dirty="0" err="1"/>
              <a:t>num_state_var</a:t>
            </a:r>
            <a:r>
              <a:rPr lang="en-US" dirty="0"/>
              <a:t>, </a:t>
            </a:r>
            <a:r>
              <a:rPr lang="en-US" dirty="0" err="1"/>
              <a:t>num_action</a:t>
            </a:r>
            <a:r>
              <a:rPr lang="en-US" dirty="0"/>
              <a:t>):</a:t>
            </a:r>
            <a:br>
              <a:rPr lang="en-US" dirty="0"/>
            </a:br>
            <a:r>
              <a:rPr lang="en-US" dirty="0"/>
              <a:t>        '''</a:t>
            </a:r>
            <a:br>
              <a:rPr lang="en-US" dirty="0"/>
            </a:br>
            <a:r>
              <a:rPr lang="en-US" dirty="0"/>
              <a:t>        :param </a:t>
            </a:r>
            <a:r>
              <a:rPr lang="en-US" dirty="0" err="1"/>
              <a:t>num_state_var</a:t>
            </a:r>
            <a:r>
              <a:rPr lang="en-US" dirty="0"/>
              <a:t>: int</a:t>
            </a:r>
            <a:br>
              <a:rPr lang="en-US" dirty="0"/>
            </a:br>
            <a:r>
              <a:rPr lang="en-US" dirty="0"/>
              <a:t>            Number of state variables</a:t>
            </a:r>
            <a:br>
              <a:rPr lang="en-US" dirty="0"/>
            </a:br>
            <a:r>
              <a:rPr lang="en-US" dirty="0"/>
              <a:t>        :param </a:t>
            </a:r>
            <a:r>
              <a:rPr lang="en-US" dirty="0" err="1"/>
              <a:t>num_action</a:t>
            </a:r>
            <a:r>
              <a:rPr lang="en-US" dirty="0"/>
              <a:t>: int</a:t>
            </a:r>
            <a:br>
              <a:rPr lang="en-US" dirty="0"/>
            </a:br>
            <a:r>
              <a:rPr lang="en-US" dirty="0"/>
              <a:t>            Number of action types</a:t>
            </a:r>
            <a:br>
              <a:rPr lang="en-US" dirty="0"/>
            </a:br>
            <a:r>
              <a:rPr lang="en-US" dirty="0"/>
              <a:t>        '''</a:t>
            </a:r>
            <a:br>
              <a:rPr lang="en-US" dirty="0"/>
            </a:br>
            <a:r>
              <a:rPr lang="en-US" dirty="0"/>
              <a:t>        </a:t>
            </a:r>
            <a:r>
              <a:rPr lang="en-US" dirty="0" err="1"/>
              <a:t>self.num_state_var</a:t>
            </a:r>
            <a:r>
              <a:rPr lang="en-US" dirty="0"/>
              <a:t> = </a:t>
            </a:r>
            <a:r>
              <a:rPr lang="en-US" dirty="0" err="1"/>
              <a:t>num_state_var</a:t>
            </a:r>
            <a:br>
              <a:rPr lang="en-US" dirty="0"/>
            </a:br>
            <a:r>
              <a:rPr lang="en-US" dirty="0"/>
              <a:t>        </a:t>
            </a:r>
            <a:r>
              <a:rPr lang="en-US" dirty="0" err="1"/>
              <a:t>self.num_action</a:t>
            </a:r>
            <a:r>
              <a:rPr lang="en-US" dirty="0"/>
              <a:t> = </a:t>
            </a:r>
            <a:r>
              <a:rPr lang="en-US" dirty="0" err="1"/>
              <a:t>num_action</a:t>
            </a:r>
            <a:br>
              <a:rPr lang="en-US" dirty="0"/>
            </a:br>
            <a:br>
              <a:rPr lang="en-US" dirty="0"/>
            </a:br>
            <a:r>
              <a:rPr lang="en-US" dirty="0"/>
              <a:t>    def train(self, states, action, rewards, </a:t>
            </a:r>
            <a:r>
              <a:rPr lang="en-US" dirty="0" err="1"/>
              <a:t>param_grid</a:t>
            </a:r>
            <a:r>
              <a:rPr lang="en-US" dirty="0"/>
              <a:t>, </a:t>
            </a:r>
            <a:r>
              <a:rPr lang="en-US" dirty="0" err="1"/>
              <a:t>prediction,file_name</a:t>
            </a:r>
            <a:r>
              <a:rPr lang="en-US" dirty="0"/>
              <a:t>):</a:t>
            </a:r>
            <a:br>
              <a:rPr lang="en-US" dirty="0"/>
            </a:br>
            <a:r>
              <a:rPr lang="en-US" dirty="0"/>
              <a:t>        '''</a:t>
            </a:r>
            <a:br>
              <a:rPr lang="en-US" dirty="0"/>
            </a:br>
            <a:r>
              <a:rPr lang="en-US" dirty="0"/>
              <a:t>        Data be </a:t>
            </a:r>
            <a:r>
              <a:rPr lang="en-US" dirty="0" err="1"/>
              <a:t>train+validation</a:t>
            </a:r>
            <a:r>
              <a:rPr lang="en-US" dirty="0"/>
              <a:t> dataset</a:t>
            </a:r>
            <a:br>
              <a:rPr lang="en-US" dirty="0"/>
            </a:br>
            <a:r>
              <a:rPr lang="en-US" dirty="0"/>
              <a:t>        Use </a:t>
            </a:r>
            <a:r>
              <a:rPr lang="en-US" dirty="0" err="1"/>
              <a:t>gridseachCV</a:t>
            </a:r>
            <a:r>
              <a:rPr lang="en-US" dirty="0"/>
              <a:t> to search on the best hyperparameters and return model</a:t>
            </a:r>
            <a:br>
              <a:rPr lang="en-US" dirty="0"/>
            </a:br>
            <a:br>
              <a:rPr lang="en-US" dirty="0"/>
            </a:br>
            <a:r>
              <a:rPr lang="en-US" dirty="0"/>
              <a:t>        :param states: array-like, shape (</a:t>
            </a:r>
            <a:r>
              <a:rPr lang="en-US" dirty="0" err="1"/>
              <a:t>n_samples</a:t>
            </a:r>
            <a:r>
              <a:rPr lang="en-US" dirty="0"/>
              <a:t>, </a:t>
            </a:r>
            <a:r>
              <a:rPr lang="en-US" dirty="0" err="1"/>
              <a:t>num_state_var</a:t>
            </a:r>
            <a:r>
              <a:rPr lang="en-US" dirty="0"/>
              <a:t>)</a:t>
            </a:r>
            <a:br>
              <a:rPr lang="en-US" dirty="0"/>
            </a:br>
            <a:r>
              <a:rPr lang="en-US" dirty="0"/>
              <a:t>                       states features</a:t>
            </a:r>
            <a:br>
              <a:rPr lang="en-US" dirty="0"/>
            </a:br>
            <a:r>
              <a:rPr lang="en-US" dirty="0"/>
              <a:t>        :param action: array-like, shape (</a:t>
            </a:r>
            <a:r>
              <a:rPr lang="en-US" dirty="0" err="1"/>
              <a:t>n_samples</a:t>
            </a:r>
            <a:r>
              <a:rPr lang="en-US" dirty="0"/>
              <a:t>, </a:t>
            </a:r>
            <a:r>
              <a:rPr lang="en-US" dirty="0" err="1"/>
              <a:t>num_action</a:t>
            </a:r>
            <a:r>
              <a:rPr lang="en-US" dirty="0"/>
              <a:t>)</a:t>
            </a:r>
            <a:br>
              <a:rPr lang="en-US" dirty="0"/>
            </a:br>
            <a:r>
              <a:rPr lang="en-US" dirty="0"/>
              <a:t>                       action features</a:t>
            </a:r>
            <a:br>
              <a:rPr lang="en-US" dirty="0"/>
            </a:br>
            <a:r>
              <a:rPr lang="en-US" dirty="0"/>
              <a:t>        :param rewards: array-like, shape (</a:t>
            </a:r>
            <a:r>
              <a:rPr lang="en-US" dirty="0" err="1"/>
              <a:t>n_samples</a:t>
            </a:r>
            <a:r>
              <a:rPr lang="en-US" dirty="0"/>
              <a:t>)</a:t>
            </a:r>
            <a:br>
              <a:rPr lang="en-US" dirty="0"/>
            </a:br>
            <a:r>
              <a:rPr lang="en-US" dirty="0"/>
              <a:t>                        rewards target</a:t>
            </a:r>
            <a:br>
              <a:rPr lang="en-US" dirty="0"/>
            </a:br>
            <a:r>
              <a:rPr lang="en-US" dirty="0"/>
              <a:t>        :param </a:t>
            </a:r>
            <a:r>
              <a:rPr lang="en-US" dirty="0" err="1"/>
              <a:t>param_grid</a:t>
            </a:r>
            <a:r>
              <a:rPr lang="en-US" dirty="0"/>
              <a:t>: </a:t>
            </a:r>
            <a:r>
              <a:rPr lang="en-US" dirty="0" err="1"/>
              <a:t>dict</a:t>
            </a:r>
            <a:r>
              <a:rPr lang="en-US" dirty="0"/>
              <a:t> (from </a:t>
            </a:r>
            <a:r>
              <a:rPr lang="en-US" dirty="0" err="1"/>
              <a:t>live_config</a:t>
            </a:r>
            <a:r>
              <a:rPr lang="en-US" dirty="0"/>
              <a:t>)</a:t>
            </a:r>
            <a:br>
              <a:rPr lang="en-US" dirty="0"/>
            </a:br>
            <a:r>
              <a:rPr lang="en-US" dirty="0"/>
              <a:t>                           hyperparameter for </a:t>
            </a:r>
            <a:r>
              <a:rPr lang="en-US" dirty="0" err="1"/>
              <a:t>gridseach</a:t>
            </a:r>
            <a:r>
              <a:rPr lang="en-US" dirty="0"/>
              <a:t> to search on</a:t>
            </a:r>
            <a:br>
              <a:rPr lang="en-US" dirty="0"/>
            </a:br>
            <a:r>
              <a:rPr lang="en-US" dirty="0"/>
              <a:t>        :param prediction: type of prediction to make</a:t>
            </a:r>
            <a:br>
              <a:rPr lang="en-US" dirty="0"/>
            </a:br>
            <a:br>
              <a:rPr lang="en-US" dirty="0"/>
            </a:br>
            <a:r>
              <a:rPr lang="en-US" dirty="0"/>
              <a:t>        :return: the best GBDT model and save</a:t>
            </a:r>
            <a:br>
              <a:rPr lang="en-US" dirty="0"/>
            </a:br>
            <a:r>
              <a:rPr lang="en-US" dirty="0"/>
              <a:t>        '''</a:t>
            </a:r>
            <a:br>
              <a:rPr lang="en-US" dirty="0"/>
            </a:br>
            <a:r>
              <a:rPr lang="en-US" dirty="0"/>
              <a:t>        </a:t>
            </a:r>
          </a:p>
        </p:txBody>
      </p:sp>
    </p:spTree>
    <p:extLst>
      <p:ext uri="{BB962C8B-B14F-4D97-AF65-F5344CB8AC3E}">
        <p14:creationId xmlns:p14="http://schemas.microsoft.com/office/powerpoint/2010/main" val="2230383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148C9-95AD-9891-0CAE-879864B63E7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7C7973F-9407-CE4C-F109-8CA988B3ADA0}"/>
              </a:ext>
            </a:extLst>
          </p:cNvPr>
          <p:cNvSpPr>
            <a:spLocks noGrp="1"/>
          </p:cNvSpPr>
          <p:nvPr>
            <p:ph type="ctrTitle"/>
          </p:nvPr>
        </p:nvSpPr>
        <p:spPr>
          <a:xfrm>
            <a:off x="239720" y="316016"/>
            <a:ext cx="8405360" cy="813331"/>
          </a:xfrm>
        </p:spPr>
        <p:txBody>
          <a:bodyPr>
            <a:normAutofit/>
          </a:bodyPr>
          <a:lstStyle/>
          <a:p>
            <a:r>
              <a:rPr lang="en-US" sz="3200" dirty="0"/>
              <a:t>DNN</a:t>
            </a:r>
          </a:p>
        </p:txBody>
      </p:sp>
      <p:sp>
        <p:nvSpPr>
          <p:cNvPr id="6" name="副标题 5">
            <a:extLst>
              <a:ext uri="{FF2B5EF4-FFF2-40B4-BE49-F238E27FC236}">
                <a16:creationId xmlns:a16="http://schemas.microsoft.com/office/drawing/2014/main" id="{EF05DC6A-CA2D-F8FD-6820-8431F5AFBEA0}"/>
              </a:ext>
            </a:extLst>
          </p:cNvPr>
          <p:cNvSpPr>
            <a:spLocks noGrp="1"/>
          </p:cNvSpPr>
          <p:nvPr>
            <p:ph type="subTitle" idx="1"/>
          </p:nvPr>
        </p:nvSpPr>
        <p:spPr>
          <a:xfrm>
            <a:off x="316221" y="939777"/>
            <a:ext cx="11272042" cy="5791776"/>
          </a:xfrm>
        </p:spPr>
        <p:txBody>
          <a:bodyPr numCol="2">
            <a:noAutofit/>
          </a:bodyPr>
          <a:lstStyle/>
          <a:p>
            <a:r>
              <a:rPr lang="en-US" dirty="0"/>
              <a:t>class BaselineNNInstance25Models(object):</a:t>
            </a:r>
            <a:br>
              <a:rPr lang="en-US" dirty="0"/>
            </a:br>
            <a:br>
              <a:rPr lang="en-US" dirty="0"/>
            </a:br>
            <a:r>
              <a:rPr lang="en-US" dirty="0"/>
              <a:t>    def __</a:t>
            </a:r>
            <a:r>
              <a:rPr lang="en-US" dirty="0" err="1"/>
              <a:t>init</a:t>
            </a:r>
            <a:r>
              <a:rPr lang="en-US" dirty="0"/>
              <a:t>__(self, </a:t>
            </a:r>
            <a:r>
              <a:rPr lang="en-US" dirty="0" err="1"/>
              <a:t>num_state_var</a:t>
            </a:r>
            <a:r>
              <a:rPr lang="en-US" dirty="0"/>
              <a:t>, </a:t>
            </a:r>
            <a:r>
              <a:rPr lang="en-US" dirty="0" err="1"/>
              <a:t>num_action</a:t>
            </a:r>
            <a:r>
              <a:rPr lang="en-US" dirty="0"/>
              <a:t>, </a:t>
            </a:r>
            <a:r>
              <a:rPr lang="en-US" dirty="0" err="1"/>
              <a:t>dropout_rate</a:t>
            </a:r>
            <a:r>
              <a:rPr lang="en-US" dirty="0"/>
              <a:t>=0.2):</a:t>
            </a:r>
            <a:br>
              <a:rPr lang="en-US" dirty="0"/>
            </a:br>
            <a:r>
              <a:rPr lang="en-US" dirty="0"/>
              <a:t>        '''</a:t>
            </a:r>
            <a:br>
              <a:rPr lang="en-US" dirty="0"/>
            </a:br>
            <a:r>
              <a:rPr lang="en-US" dirty="0"/>
              <a:t>        Parameters</a:t>
            </a:r>
            <a:br>
              <a:rPr lang="en-US" dirty="0"/>
            </a:br>
            <a:r>
              <a:rPr lang="en-US" dirty="0"/>
              <a:t>        ----------</a:t>
            </a:r>
            <a:br>
              <a:rPr lang="en-US" dirty="0"/>
            </a:br>
            <a:r>
              <a:rPr lang="en-US" dirty="0"/>
              <a:t>        </a:t>
            </a:r>
            <a:r>
              <a:rPr lang="en-US" dirty="0" err="1"/>
              <a:t>num_state_var</a:t>
            </a:r>
            <a:r>
              <a:rPr lang="en-US" dirty="0"/>
              <a:t>: int</a:t>
            </a:r>
            <a:br>
              <a:rPr lang="en-US" dirty="0"/>
            </a:br>
            <a:r>
              <a:rPr lang="en-US" dirty="0"/>
              <a:t>            Number of state variables</a:t>
            </a:r>
            <a:br>
              <a:rPr lang="en-US" dirty="0"/>
            </a:br>
            <a:r>
              <a:rPr lang="en-US" dirty="0"/>
              <a:t>        </a:t>
            </a:r>
            <a:r>
              <a:rPr lang="en-US" dirty="0" err="1"/>
              <a:t>num_action</a:t>
            </a:r>
            <a:r>
              <a:rPr lang="en-US" dirty="0"/>
              <a:t>: int</a:t>
            </a:r>
            <a:br>
              <a:rPr lang="en-US" dirty="0"/>
            </a:br>
            <a:r>
              <a:rPr lang="en-US" dirty="0"/>
              <a:t>            Number of action types</a:t>
            </a:r>
            <a:br>
              <a:rPr lang="en-US" dirty="0"/>
            </a:br>
            <a:r>
              <a:rPr lang="en-US" dirty="0"/>
              <a:t>        </a:t>
            </a:r>
            <a:r>
              <a:rPr lang="en-US" dirty="0" err="1"/>
              <a:t>dropout_rate</a:t>
            </a:r>
            <a:r>
              <a:rPr lang="en-US" dirty="0"/>
              <a:t>: float, default 0.2</a:t>
            </a:r>
            <a:br>
              <a:rPr lang="en-US" dirty="0"/>
            </a:br>
            <a:r>
              <a:rPr lang="en-US" dirty="0"/>
              <a:t>            Dropout rate used in FC layers</a:t>
            </a:r>
            <a:br>
              <a:rPr lang="en-US" dirty="0"/>
            </a:br>
            <a:br>
              <a:rPr lang="en-US" dirty="0"/>
            </a:br>
            <a:r>
              <a:rPr lang="en-US" dirty="0"/>
              <a:t>        '''</a:t>
            </a:r>
            <a:br>
              <a:rPr lang="en-US" dirty="0"/>
            </a:br>
            <a:r>
              <a:rPr lang="en-US" dirty="0"/>
              <a:t>        # </a:t>
            </a:r>
            <a:r>
              <a:rPr lang="en-US" dirty="0" err="1"/>
              <a:t>input_dim</a:t>
            </a:r>
            <a:r>
              <a:rPr lang="en-US" dirty="0"/>
              <a:t> = </a:t>
            </a:r>
            <a:r>
              <a:rPr lang="en-US" dirty="0" err="1"/>
              <a:t>num_state_var</a:t>
            </a:r>
            <a:r>
              <a:rPr lang="en-US" dirty="0"/>
              <a:t> + </a:t>
            </a:r>
            <a:r>
              <a:rPr lang="en-US" dirty="0" err="1"/>
              <a:t>num_action</a:t>
            </a:r>
            <a:br>
              <a:rPr lang="en-US" dirty="0"/>
            </a:br>
            <a:r>
              <a:rPr lang="en-US" dirty="0"/>
              <a:t>        </a:t>
            </a:r>
            <a:r>
              <a:rPr lang="en-US" dirty="0" err="1"/>
              <a:t>self.model_list</a:t>
            </a:r>
            <a:r>
              <a:rPr lang="en-US" dirty="0"/>
              <a:t> = [</a:t>
            </a:r>
            <a:r>
              <a:rPr lang="en-US" dirty="0" err="1"/>
              <a:t>BaselineFCStates</a:t>
            </a:r>
            <a:r>
              <a:rPr lang="en-US" dirty="0"/>
              <a:t>(</a:t>
            </a:r>
            <a:r>
              <a:rPr lang="en-US" dirty="0" err="1"/>
              <a:t>num_state_var</a:t>
            </a:r>
            <a:r>
              <a:rPr lang="en-US" dirty="0"/>
              <a:t>, </a:t>
            </a:r>
            <a:r>
              <a:rPr lang="en-US" dirty="0" err="1"/>
              <a:t>dropout_rate</a:t>
            </a:r>
            <a:r>
              <a:rPr lang="en-US" dirty="0"/>
              <a:t>) for _ in range(</a:t>
            </a:r>
            <a:r>
              <a:rPr lang="en-US" dirty="0" err="1"/>
              <a:t>num_action</a:t>
            </a:r>
            <a:r>
              <a:rPr lang="en-US" dirty="0"/>
              <a:t>)]</a:t>
            </a:r>
            <a:br>
              <a:rPr lang="en-US" dirty="0"/>
            </a:br>
            <a:r>
              <a:rPr lang="en-US" dirty="0"/>
              <a:t>        </a:t>
            </a:r>
            <a:r>
              <a:rPr lang="en-US" dirty="0" err="1"/>
              <a:t>self.device</a:t>
            </a:r>
            <a:r>
              <a:rPr lang="en-US" dirty="0"/>
              <a:t> = 'cuda:0' if </a:t>
            </a:r>
            <a:r>
              <a:rPr lang="en-US" dirty="0" err="1"/>
              <a:t>torch.cuda.is_available</a:t>
            </a:r>
            <a:r>
              <a:rPr lang="en-US" dirty="0"/>
              <a:t>() else '</a:t>
            </a:r>
            <a:r>
              <a:rPr lang="en-US" dirty="0" err="1"/>
              <a:t>cpu</a:t>
            </a:r>
            <a:r>
              <a:rPr lang="en-US" dirty="0"/>
              <a:t>'</a:t>
            </a:r>
            <a:br>
              <a:rPr lang="en-US" dirty="0"/>
            </a:br>
            <a:r>
              <a:rPr lang="en-US" dirty="0"/>
              <a:t>        # self.model.to(</a:t>
            </a:r>
            <a:r>
              <a:rPr lang="en-US" dirty="0" err="1"/>
              <a:t>self.device</a:t>
            </a:r>
            <a:r>
              <a:rPr lang="en-US" dirty="0"/>
              <a:t>)</a:t>
            </a:r>
            <a:br>
              <a:rPr lang="en-US" dirty="0"/>
            </a:br>
            <a:r>
              <a:rPr lang="en-US" dirty="0"/>
              <a:t>        </a:t>
            </a:r>
            <a:r>
              <a:rPr lang="en-US" dirty="0" err="1"/>
              <a:t>self.num_state_var</a:t>
            </a:r>
            <a:r>
              <a:rPr lang="en-US" dirty="0"/>
              <a:t> = </a:t>
            </a:r>
            <a:r>
              <a:rPr lang="en-US" dirty="0" err="1"/>
              <a:t>num_state_var</a:t>
            </a:r>
            <a:br>
              <a:rPr lang="en-US" dirty="0"/>
            </a:br>
            <a:r>
              <a:rPr lang="en-US" dirty="0"/>
              <a:t>        </a:t>
            </a:r>
            <a:r>
              <a:rPr lang="en-US" dirty="0" err="1"/>
              <a:t>self.num_action</a:t>
            </a:r>
            <a:r>
              <a:rPr lang="en-US" dirty="0"/>
              <a:t> = </a:t>
            </a:r>
            <a:r>
              <a:rPr lang="en-US" dirty="0" err="1"/>
              <a:t>num_action</a:t>
            </a:r>
            <a:br>
              <a:rPr lang="en-US" dirty="0"/>
            </a:br>
            <a:br>
              <a:rPr lang="en-US" dirty="0"/>
            </a:br>
            <a:r>
              <a:rPr lang="en-US" dirty="0"/>
              <a:t>    def </a:t>
            </a:r>
            <a:r>
              <a:rPr lang="en-US" dirty="0" err="1"/>
              <a:t>loadWeights</a:t>
            </a:r>
            <a:r>
              <a:rPr lang="en-US" dirty="0"/>
              <a:t>(self, </a:t>
            </a:r>
            <a:r>
              <a:rPr lang="en-US" dirty="0" err="1"/>
              <a:t>model_path</a:t>
            </a:r>
            <a:r>
              <a:rPr lang="en-US" dirty="0"/>
              <a:t>):</a:t>
            </a:r>
            <a:br>
              <a:rPr lang="en-US" dirty="0"/>
            </a:br>
            <a:r>
              <a:rPr lang="en-US" dirty="0"/>
              <a:t>        '''</a:t>
            </a:r>
            <a:br>
              <a:rPr lang="en-US" dirty="0"/>
            </a:br>
            <a:r>
              <a:rPr lang="en-US" dirty="0"/>
              <a:t>        Load saved weights into model</a:t>
            </a:r>
            <a:br>
              <a:rPr lang="en-US" dirty="0"/>
            </a:br>
            <a:r>
              <a:rPr lang="en-US" dirty="0"/>
              <a:t>        '''</a:t>
            </a:r>
            <a:br>
              <a:rPr lang="en-US" dirty="0"/>
            </a:br>
            <a:r>
              <a:rPr lang="en-US" dirty="0"/>
              <a:t>        for </a:t>
            </a:r>
            <a:r>
              <a:rPr lang="en-US" dirty="0" err="1"/>
              <a:t>i</a:t>
            </a:r>
            <a:r>
              <a:rPr lang="en-US" dirty="0"/>
              <a:t>, m in enumerate(</a:t>
            </a:r>
            <a:r>
              <a:rPr lang="en-US" dirty="0" err="1"/>
              <a:t>self.model_list</a:t>
            </a:r>
            <a:r>
              <a:rPr lang="en-US" dirty="0"/>
              <a:t>):</a:t>
            </a:r>
            <a:br>
              <a:rPr lang="en-US" dirty="0"/>
            </a:br>
            <a:r>
              <a:rPr lang="en-US" dirty="0"/>
              <a:t>            </a:t>
            </a:r>
            <a:r>
              <a:rPr lang="en-US" dirty="0" err="1"/>
              <a:t>m.load_state_dict</a:t>
            </a:r>
            <a:r>
              <a:rPr lang="en-US" dirty="0"/>
              <a:t>(</a:t>
            </a:r>
            <a:r>
              <a:rPr lang="en-US" dirty="0" err="1"/>
              <a:t>torch.load</a:t>
            </a:r>
            <a:r>
              <a:rPr lang="en-US" dirty="0"/>
              <a:t>('{}/</a:t>
            </a:r>
            <a:r>
              <a:rPr lang="en-US" dirty="0" err="1"/>
              <a:t>nn_action</a:t>
            </a:r>
            <a:r>
              <a:rPr lang="en-US" dirty="0"/>
              <a:t>_{}.</a:t>
            </a:r>
            <a:r>
              <a:rPr lang="en-US" dirty="0" err="1"/>
              <a:t>pt'.format</a:t>
            </a:r>
            <a:r>
              <a:rPr lang="en-US" dirty="0"/>
              <a:t>(</a:t>
            </a:r>
            <a:r>
              <a:rPr lang="en-US" dirty="0" err="1"/>
              <a:t>model_path</a:t>
            </a:r>
            <a:r>
              <a:rPr lang="en-US" dirty="0"/>
              <a:t>, </a:t>
            </a:r>
            <a:r>
              <a:rPr lang="en-US" dirty="0" err="1"/>
              <a:t>i</a:t>
            </a:r>
            <a:r>
              <a:rPr lang="en-US" dirty="0"/>
              <a:t>)))</a:t>
            </a:r>
            <a:br>
              <a:rPr lang="en-US" dirty="0"/>
            </a:br>
            <a:r>
              <a:rPr lang="en-US" dirty="0"/>
              <a:t>        print('Weights loaded from {}'.format(</a:t>
            </a:r>
            <a:r>
              <a:rPr lang="en-US" dirty="0" err="1"/>
              <a:t>model_path</a:t>
            </a:r>
            <a:r>
              <a:rPr lang="en-US" dirty="0"/>
              <a:t>))</a:t>
            </a:r>
            <a:br>
              <a:rPr lang="en-US" dirty="0"/>
            </a:br>
            <a:br>
              <a:rPr lang="en-US" dirty="0"/>
            </a:br>
            <a:r>
              <a:rPr lang="en-US" dirty="0"/>
              <a:t>    def </a:t>
            </a:r>
            <a:r>
              <a:rPr lang="en-US" dirty="0" err="1"/>
              <a:t>saveWeights</a:t>
            </a:r>
            <a:r>
              <a:rPr lang="en-US" dirty="0"/>
              <a:t>(self, </a:t>
            </a:r>
            <a:r>
              <a:rPr lang="en-US" dirty="0" err="1"/>
              <a:t>model_path</a:t>
            </a:r>
            <a:r>
              <a:rPr lang="en-US" dirty="0"/>
              <a:t>):</a:t>
            </a:r>
            <a:br>
              <a:rPr lang="en-US" dirty="0"/>
            </a:br>
            <a:r>
              <a:rPr lang="en-US" dirty="0"/>
              <a:t>        '''</a:t>
            </a:r>
            <a:br>
              <a:rPr lang="en-US" dirty="0"/>
            </a:br>
            <a:r>
              <a:rPr lang="en-US" dirty="0"/>
              <a:t>        Save weights</a:t>
            </a:r>
            <a:br>
              <a:rPr lang="en-US" dirty="0"/>
            </a:br>
            <a:r>
              <a:rPr lang="en-US" dirty="0"/>
              <a:t>        '''</a:t>
            </a:r>
            <a:br>
              <a:rPr lang="en-US" dirty="0"/>
            </a:br>
            <a:r>
              <a:rPr lang="en-US" dirty="0"/>
              <a:t>        for </a:t>
            </a:r>
            <a:r>
              <a:rPr lang="en-US" dirty="0" err="1"/>
              <a:t>i</a:t>
            </a:r>
            <a:r>
              <a:rPr lang="en-US" dirty="0"/>
              <a:t>, m in enumerate(</a:t>
            </a:r>
            <a:r>
              <a:rPr lang="en-US" dirty="0" err="1"/>
              <a:t>self.model_list</a:t>
            </a:r>
            <a:r>
              <a:rPr lang="en-US" dirty="0"/>
              <a:t>):</a:t>
            </a:r>
            <a:br>
              <a:rPr lang="en-US" dirty="0"/>
            </a:br>
            <a:r>
              <a:rPr lang="en-US" dirty="0"/>
              <a:t>            </a:t>
            </a:r>
            <a:r>
              <a:rPr lang="en-US" dirty="0" err="1"/>
              <a:t>torch.save</a:t>
            </a:r>
            <a:r>
              <a:rPr lang="en-US" dirty="0"/>
              <a:t>(</a:t>
            </a:r>
            <a:r>
              <a:rPr lang="en-US" dirty="0" err="1"/>
              <a:t>m.state_dict</a:t>
            </a:r>
            <a:r>
              <a:rPr lang="en-US" dirty="0"/>
              <a:t>(), '{}/</a:t>
            </a:r>
            <a:r>
              <a:rPr lang="en-US" dirty="0" err="1"/>
              <a:t>nn_action</a:t>
            </a:r>
            <a:r>
              <a:rPr lang="en-US" dirty="0"/>
              <a:t>_{}.</a:t>
            </a:r>
            <a:r>
              <a:rPr lang="en-US" dirty="0" err="1"/>
              <a:t>pt'.format</a:t>
            </a:r>
            <a:r>
              <a:rPr lang="en-US" dirty="0"/>
              <a:t>(</a:t>
            </a:r>
            <a:r>
              <a:rPr lang="en-US" dirty="0" err="1"/>
              <a:t>model_path</a:t>
            </a:r>
            <a:r>
              <a:rPr lang="en-US" dirty="0"/>
              <a:t>, </a:t>
            </a:r>
            <a:r>
              <a:rPr lang="en-US" dirty="0" err="1"/>
              <a:t>i</a:t>
            </a:r>
            <a:r>
              <a:rPr lang="en-US" dirty="0"/>
              <a:t>))</a:t>
            </a:r>
            <a:br>
              <a:rPr lang="en-US" dirty="0"/>
            </a:br>
            <a:r>
              <a:rPr lang="en-US" dirty="0"/>
              <a:t>        print('Weights saved to {}'.format(</a:t>
            </a:r>
            <a:r>
              <a:rPr lang="en-US" dirty="0" err="1"/>
              <a:t>model_path</a:t>
            </a:r>
            <a:r>
              <a:rPr lang="en-US" dirty="0"/>
              <a:t>))</a:t>
            </a:r>
            <a:br>
              <a:rPr lang="en-US" dirty="0"/>
            </a:br>
            <a:br>
              <a:rPr lang="en-US" dirty="0"/>
            </a:br>
            <a:endParaRPr lang="en-US" dirty="0"/>
          </a:p>
        </p:txBody>
      </p:sp>
    </p:spTree>
    <p:extLst>
      <p:ext uri="{BB962C8B-B14F-4D97-AF65-F5344CB8AC3E}">
        <p14:creationId xmlns:p14="http://schemas.microsoft.com/office/powerpoint/2010/main" val="4261736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972F-7C59-8079-3217-B9C80993FBB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A4DCFA8-8D15-CD87-C9D1-607207F7B8B1}"/>
              </a:ext>
            </a:extLst>
          </p:cNvPr>
          <p:cNvSpPr>
            <a:spLocks noGrp="1"/>
          </p:cNvSpPr>
          <p:nvPr>
            <p:ph type="ctrTitle"/>
          </p:nvPr>
        </p:nvSpPr>
        <p:spPr>
          <a:xfrm>
            <a:off x="239720" y="140673"/>
            <a:ext cx="8405360" cy="813331"/>
          </a:xfrm>
        </p:spPr>
        <p:txBody>
          <a:bodyPr>
            <a:normAutofit/>
          </a:bodyPr>
          <a:lstStyle/>
          <a:p>
            <a:r>
              <a:rPr lang="en-US" sz="3200" dirty="0"/>
              <a:t>ORF</a:t>
            </a:r>
          </a:p>
        </p:txBody>
      </p:sp>
      <p:sp>
        <p:nvSpPr>
          <p:cNvPr id="6" name="副标题 5">
            <a:extLst>
              <a:ext uri="{FF2B5EF4-FFF2-40B4-BE49-F238E27FC236}">
                <a16:creationId xmlns:a16="http://schemas.microsoft.com/office/drawing/2014/main" id="{DAD96040-6FDB-EE9D-0A05-23AF8601246A}"/>
              </a:ext>
            </a:extLst>
          </p:cNvPr>
          <p:cNvSpPr>
            <a:spLocks noGrp="1"/>
          </p:cNvSpPr>
          <p:nvPr>
            <p:ph type="subTitle" idx="1"/>
          </p:nvPr>
        </p:nvSpPr>
        <p:spPr>
          <a:xfrm>
            <a:off x="316221" y="939777"/>
            <a:ext cx="11272042" cy="5791776"/>
          </a:xfrm>
        </p:spPr>
        <p:txBody>
          <a:bodyPr numCol="2">
            <a:noAutofit/>
          </a:bodyPr>
          <a:lstStyle/>
          <a:p>
            <a:r>
              <a:rPr lang="en-US" dirty="0"/>
              <a:t>class </a:t>
            </a:r>
            <a:r>
              <a:rPr lang="en-US" dirty="0" err="1"/>
              <a:t>ORF_model</a:t>
            </a:r>
            <a:r>
              <a:rPr lang="en-US" dirty="0"/>
              <a:t>(object):</a:t>
            </a:r>
            <a:br>
              <a:rPr lang="en-US" dirty="0"/>
            </a:br>
            <a:r>
              <a:rPr lang="en-US" dirty="0"/>
              <a:t>    def __</a:t>
            </a:r>
            <a:r>
              <a:rPr lang="en-US" dirty="0" err="1"/>
              <a:t>init</a:t>
            </a:r>
            <a:r>
              <a:rPr lang="en-US" dirty="0"/>
              <a:t>__(self, </a:t>
            </a:r>
            <a:r>
              <a:rPr lang="en-US" dirty="0" err="1"/>
              <a:t>input_data</a:t>
            </a:r>
            <a:r>
              <a:rPr lang="en-US" dirty="0"/>
              <a:t>):</a:t>
            </a:r>
            <a:br>
              <a:rPr lang="en-US" dirty="0"/>
            </a:br>
            <a:r>
              <a:rPr lang="en-US" dirty="0"/>
              <a:t>        '''</a:t>
            </a:r>
            <a:br>
              <a:rPr lang="en-US" dirty="0"/>
            </a:br>
            <a:r>
              <a:rPr lang="en-US" dirty="0"/>
              <a:t>        :param </a:t>
            </a:r>
            <a:r>
              <a:rPr lang="en-US" dirty="0" err="1"/>
              <a:t>input_data</a:t>
            </a:r>
            <a:r>
              <a:rPr lang="en-US" dirty="0"/>
              <a:t>:</a:t>
            </a:r>
            <a:br>
              <a:rPr lang="en-US" dirty="0"/>
            </a:br>
            <a:r>
              <a:rPr lang="en-US" dirty="0"/>
              <a:t>            Data of the format in each row &lt; USERID, TIMEID, State, Action, </a:t>
            </a:r>
            <a:r>
              <a:rPr lang="en-US" dirty="0" err="1"/>
              <a:t>NextState</a:t>
            </a:r>
            <a:r>
              <a:rPr lang="en-US" dirty="0"/>
              <a:t>, Reward &gt;</a:t>
            </a:r>
            <a:br>
              <a:rPr lang="en-US" dirty="0"/>
            </a:br>
            <a:r>
              <a:rPr lang="en-US" dirty="0"/>
              <a:t>        '''</a:t>
            </a:r>
            <a:br>
              <a:rPr lang="en-US" dirty="0"/>
            </a:br>
            <a:r>
              <a:rPr lang="en-US" dirty="0"/>
              <a:t>        </a:t>
            </a:r>
            <a:r>
              <a:rPr lang="en-US" dirty="0" err="1"/>
              <a:t>self.input_data</a:t>
            </a:r>
            <a:r>
              <a:rPr lang="en-US" dirty="0"/>
              <a:t> = </a:t>
            </a:r>
            <a:r>
              <a:rPr lang="en-US" dirty="0" err="1"/>
              <a:t>input_data</a:t>
            </a:r>
            <a:br>
              <a:rPr lang="en-US" dirty="0"/>
            </a:br>
            <a:br>
              <a:rPr lang="en-US" dirty="0"/>
            </a:br>
            <a:br>
              <a:rPr lang="en-US" dirty="0"/>
            </a:br>
            <a:r>
              <a:rPr lang="en-US" dirty="0"/>
              <a:t>    def train(self):</a:t>
            </a:r>
            <a:br>
              <a:rPr lang="en-US" dirty="0"/>
            </a:br>
            <a:r>
              <a:rPr lang="en-US" dirty="0"/>
              <a:t>        '''</a:t>
            </a:r>
            <a:br>
              <a:rPr lang="en-US" dirty="0"/>
            </a:br>
            <a:r>
              <a:rPr lang="en-US" dirty="0"/>
              <a:t>        Return: </a:t>
            </a:r>
            <a:br>
              <a:rPr lang="en-US" dirty="0"/>
            </a:br>
            <a:r>
              <a:rPr lang="en-US" dirty="0"/>
              <a:t>        trained ORF model</a:t>
            </a:r>
            <a:br>
              <a:rPr lang="en-US" dirty="0"/>
            </a:br>
            <a:r>
              <a:rPr lang="en-US" dirty="0"/>
              <a:t>        '''</a:t>
            </a:r>
            <a:br>
              <a:rPr lang="en-US" dirty="0"/>
            </a:br>
            <a:br>
              <a:rPr lang="en-US" dirty="0"/>
            </a:br>
            <a:r>
              <a:rPr lang="en-US" dirty="0"/>
              <a:t>        # Make model inputs</a:t>
            </a:r>
            <a:br>
              <a:rPr lang="en-US" dirty="0"/>
            </a:br>
            <a:r>
              <a:rPr lang="en-US" dirty="0"/>
              <a:t>        X = </a:t>
            </a:r>
            <a:r>
              <a:rPr lang="en-US" dirty="0" err="1"/>
              <a:t>self.input_data</a:t>
            </a:r>
            <a:r>
              <a:rPr lang="en-US" dirty="0"/>
              <a:t>[:, 2:live_config.num_state_var+2]</a:t>
            </a:r>
            <a:br>
              <a:rPr lang="en-US" dirty="0"/>
            </a:br>
            <a:r>
              <a:rPr lang="en-US" dirty="0"/>
              <a:t>        #X = </a:t>
            </a:r>
            <a:r>
              <a:rPr lang="en-US" dirty="0" err="1"/>
              <a:t>self.input_data</a:t>
            </a:r>
            <a:r>
              <a:rPr lang="en-US" dirty="0"/>
              <a:t>[:, 2].reshape(-1, 1)</a:t>
            </a:r>
            <a:br>
              <a:rPr lang="en-US" dirty="0"/>
            </a:br>
            <a:r>
              <a:rPr lang="en-US" dirty="0"/>
              <a:t>        Y = </a:t>
            </a:r>
            <a:r>
              <a:rPr lang="en-US" dirty="0" err="1"/>
              <a:t>np.ravel</a:t>
            </a:r>
            <a:r>
              <a:rPr lang="en-US" dirty="0"/>
              <a:t>(</a:t>
            </a:r>
            <a:r>
              <a:rPr lang="en-US" dirty="0" err="1"/>
              <a:t>self.input_data</a:t>
            </a:r>
            <a:r>
              <a:rPr lang="en-US" dirty="0"/>
              <a:t>[:, -1])</a:t>
            </a:r>
            <a:br>
              <a:rPr lang="en-US" dirty="0"/>
            </a:br>
            <a:r>
              <a:rPr lang="en-US" dirty="0"/>
              <a:t>        T = </a:t>
            </a:r>
            <a:r>
              <a:rPr lang="en-US" dirty="0" err="1"/>
              <a:t>self.input_data</a:t>
            </a:r>
            <a:r>
              <a:rPr lang="en-US" dirty="0"/>
              <a:t>[:, live_config.num_state_var+2:live_config.num_state_var+live_config.num_action+2]</a:t>
            </a:r>
            <a:br>
              <a:rPr lang="en-US" dirty="0"/>
            </a:br>
            <a:r>
              <a:rPr lang="en-US" dirty="0"/>
              <a:t>        T = </a:t>
            </a:r>
            <a:r>
              <a:rPr lang="en-US" dirty="0" err="1"/>
              <a:t>np.where</a:t>
            </a:r>
            <a:r>
              <a:rPr lang="en-US" dirty="0"/>
              <a:t>(T==1)[1].reshape(-1, 1)</a:t>
            </a:r>
            <a:br>
              <a:rPr lang="en-US" dirty="0"/>
            </a:br>
            <a:br>
              <a:rPr lang="en-US" dirty="0"/>
            </a:br>
            <a:r>
              <a:rPr lang="en-US" dirty="0"/>
              <a:t>        for a in [X,Y,T]:</a:t>
            </a:r>
            <a:br>
              <a:rPr lang="en-US" dirty="0"/>
            </a:br>
            <a:r>
              <a:rPr lang="en-US" dirty="0"/>
              <a:t>            print(</a:t>
            </a:r>
            <a:r>
              <a:rPr lang="en-US" dirty="0" err="1"/>
              <a:t>a.shape</a:t>
            </a:r>
            <a:r>
              <a:rPr lang="en-US" dirty="0"/>
              <a:t>)</a:t>
            </a:r>
            <a:br>
              <a:rPr lang="en-US" dirty="0"/>
            </a:br>
            <a:r>
              <a:rPr lang="en-US" dirty="0"/>
              <a:t>            print(type(a))</a:t>
            </a:r>
            <a:br>
              <a:rPr lang="en-US" dirty="0"/>
            </a:br>
            <a:br>
              <a:rPr lang="en-US" dirty="0"/>
            </a:br>
            <a:r>
              <a:rPr lang="en-US" dirty="0"/>
              <a:t>        est = </a:t>
            </a:r>
            <a:r>
              <a:rPr lang="en-US" dirty="0" err="1"/>
              <a:t>DMLOrthoForest</a:t>
            </a:r>
            <a:r>
              <a:rPr lang="en-US" dirty="0"/>
              <a:t>(</a:t>
            </a:r>
            <a:br>
              <a:rPr lang="en-US" dirty="0"/>
            </a:br>
            <a:r>
              <a:rPr lang="en-US" dirty="0"/>
              <a:t>            </a:t>
            </a:r>
            <a:r>
              <a:rPr lang="en-US" dirty="0" err="1"/>
              <a:t>n_trees</a:t>
            </a:r>
            <a:r>
              <a:rPr lang="en-US" dirty="0"/>
              <a:t>=</a:t>
            </a:r>
            <a:r>
              <a:rPr lang="en-US" dirty="0" err="1"/>
              <a:t>live_config.num_trees</a:t>
            </a:r>
            <a:r>
              <a:rPr lang="en-US" dirty="0"/>
              <a:t>,</a:t>
            </a:r>
            <a:br>
              <a:rPr lang="en-US" dirty="0"/>
            </a:br>
            <a:r>
              <a:rPr lang="en-US" dirty="0"/>
              <a:t>            </a:t>
            </a:r>
            <a:r>
              <a:rPr lang="en-US" dirty="0" err="1"/>
              <a:t>max_depth</a:t>
            </a:r>
            <a:r>
              <a:rPr lang="en-US" dirty="0"/>
              <a:t>=</a:t>
            </a:r>
            <a:r>
              <a:rPr lang="en-US" dirty="0" err="1"/>
              <a:t>live_config.max_depth</a:t>
            </a:r>
            <a:r>
              <a:rPr lang="en-US" dirty="0"/>
              <a:t>,</a:t>
            </a:r>
            <a:br>
              <a:rPr lang="en-US" dirty="0"/>
            </a:br>
            <a:r>
              <a:rPr lang="en-US" dirty="0"/>
              <a:t>            </a:t>
            </a:r>
            <a:r>
              <a:rPr lang="en-US" dirty="0" err="1"/>
              <a:t>min_leaf_size</a:t>
            </a:r>
            <a:r>
              <a:rPr lang="en-US" dirty="0"/>
              <a:t>=</a:t>
            </a:r>
            <a:r>
              <a:rPr lang="en-US" dirty="0" err="1"/>
              <a:t>live_config.min_leaf_size</a:t>
            </a:r>
            <a:r>
              <a:rPr lang="en-US" dirty="0"/>
              <a:t>,</a:t>
            </a:r>
            <a:br>
              <a:rPr lang="en-US" dirty="0"/>
            </a:br>
            <a:r>
              <a:rPr lang="en-US" dirty="0"/>
              <a:t>            </a:t>
            </a:r>
          </a:p>
        </p:txBody>
      </p:sp>
    </p:spTree>
    <p:extLst>
      <p:ext uri="{BB962C8B-B14F-4D97-AF65-F5344CB8AC3E}">
        <p14:creationId xmlns:p14="http://schemas.microsoft.com/office/powerpoint/2010/main" val="142871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685C-B323-B475-B047-AB155237861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001B6911-A0D8-E0BA-42BA-D2E8E3EB8F5D}"/>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B68D8549-7AF5-C8FD-2FB1-4B21D26A5413}"/>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A4DDDBB-13C8-93A2-AD37-18934D6F8486}"/>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ED57A0C5-F49D-6FC8-D2D9-9FFDFE5CC960}"/>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Benchmark Policies</a:t>
            </a:r>
          </a:p>
          <a:p>
            <a:endParaRPr lang="en-US" sz="3200" dirty="0"/>
          </a:p>
        </p:txBody>
      </p:sp>
      <p:sp>
        <p:nvSpPr>
          <p:cNvPr id="3" name="文本框 2">
            <a:extLst>
              <a:ext uri="{FF2B5EF4-FFF2-40B4-BE49-F238E27FC236}">
                <a16:creationId xmlns:a16="http://schemas.microsoft.com/office/drawing/2014/main" id="{E7795F15-56F1-68B6-4BE8-8A423F95EBAD}"/>
              </a:ext>
            </a:extLst>
          </p:cNvPr>
          <p:cNvSpPr txBox="1"/>
          <p:nvPr/>
        </p:nvSpPr>
        <p:spPr>
          <a:xfrm>
            <a:off x="189931" y="1048435"/>
            <a:ext cx="11812137" cy="923330"/>
          </a:xfrm>
          <a:prstGeom prst="rect">
            <a:avLst/>
          </a:prstGeom>
          <a:noFill/>
        </p:spPr>
        <p:txBody>
          <a:bodyPr wrap="square">
            <a:spAutoFit/>
          </a:bodyPr>
          <a:lstStyle/>
          <a:p>
            <a:pPr algn="l"/>
            <a:r>
              <a:rPr lang="en-US" sz="1800" b="1" i="0" u="none" strike="noStrike" baseline="0" dirty="0"/>
              <a:t>Dynamic Policy with Heterogeneous Treatments: Structural Model</a:t>
            </a:r>
          </a:p>
          <a:p>
            <a:pPr algn="l"/>
            <a:endParaRPr lang="en-US" dirty="0"/>
          </a:p>
          <a:p>
            <a:pPr algn="l"/>
            <a:endParaRPr lang="en-US" dirty="0"/>
          </a:p>
        </p:txBody>
      </p:sp>
      <p:pic>
        <p:nvPicPr>
          <p:cNvPr id="11" name="图片 10">
            <a:extLst>
              <a:ext uri="{FF2B5EF4-FFF2-40B4-BE49-F238E27FC236}">
                <a16:creationId xmlns:a16="http://schemas.microsoft.com/office/drawing/2014/main" id="{48A57293-F430-1F76-0E97-9A31652254E0}"/>
              </a:ext>
            </a:extLst>
          </p:cNvPr>
          <p:cNvPicPr>
            <a:picLocks noChangeAspect="1"/>
          </p:cNvPicPr>
          <p:nvPr/>
        </p:nvPicPr>
        <p:blipFill>
          <a:blip r:embed="rId4"/>
          <a:stretch>
            <a:fillRect/>
          </a:stretch>
        </p:blipFill>
        <p:spPr>
          <a:xfrm>
            <a:off x="1053749" y="1976865"/>
            <a:ext cx="4339249" cy="2929684"/>
          </a:xfrm>
          <a:prstGeom prst="rect">
            <a:avLst/>
          </a:prstGeom>
        </p:spPr>
      </p:pic>
      <p:grpSp>
        <p:nvGrpSpPr>
          <p:cNvPr id="18" name="组合 17">
            <a:extLst>
              <a:ext uri="{FF2B5EF4-FFF2-40B4-BE49-F238E27FC236}">
                <a16:creationId xmlns:a16="http://schemas.microsoft.com/office/drawing/2014/main" id="{FD525281-9D95-A813-D4F8-11F074F5F9EC}"/>
              </a:ext>
            </a:extLst>
          </p:cNvPr>
          <p:cNvGrpSpPr/>
          <p:nvPr/>
        </p:nvGrpSpPr>
        <p:grpSpPr>
          <a:xfrm>
            <a:off x="4860365" y="1971765"/>
            <a:ext cx="5704764" cy="369332"/>
            <a:chOff x="5404513" y="1754080"/>
            <a:chExt cx="5704764" cy="369332"/>
          </a:xfrm>
        </p:grpSpPr>
        <p:sp>
          <p:nvSpPr>
            <p:cNvPr id="14" name="文本框 13">
              <a:extLst>
                <a:ext uri="{FF2B5EF4-FFF2-40B4-BE49-F238E27FC236}">
                  <a16:creationId xmlns:a16="http://schemas.microsoft.com/office/drawing/2014/main" id="{4E7A9571-2185-F201-44A7-A06E8DF278D7}"/>
                </a:ext>
              </a:extLst>
            </p:cNvPr>
            <p:cNvSpPr txBox="1"/>
            <p:nvPr/>
          </p:nvSpPr>
          <p:spPr>
            <a:xfrm>
              <a:off x="8274724" y="1754080"/>
              <a:ext cx="2834553"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sz="1800" b="0" i="0" u="none" strike="noStrike" baseline="0" dirty="0">
                  <a:latin typeface="AdvOT3258b86f"/>
                </a:rPr>
                <a:t>function </a:t>
              </a:r>
              <a:r>
                <a:rPr lang="en-US" sz="1800" b="0" i="0" u="none" strike="noStrike" baseline="0" dirty="0">
                  <a:latin typeface="AdvOTd8ef4e6f.I"/>
                </a:rPr>
                <a:t>f </a:t>
              </a:r>
              <a:r>
                <a:rPr lang="en-US" sz="1800" b="0" i="0" u="none" strike="noStrike" baseline="0" dirty="0">
                  <a:latin typeface="AdvOT3258b86f"/>
                </a:rPr>
                <a:t>for the reward</a:t>
              </a:r>
              <a:endParaRPr lang="en-US" dirty="0"/>
            </a:p>
          </p:txBody>
        </p:sp>
        <p:cxnSp>
          <p:nvCxnSpPr>
            <p:cNvPr id="17" name="直接箭头连接符 16">
              <a:extLst>
                <a:ext uri="{FF2B5EF4-FFF2-40B4-BE49-F238E27FC236}">
                  <a16:creationId xmlns:a16="http://schemas.microsoft.com/office/drawing/2014/main" id="{92158C83-3AE6-A1D8-75BC-87FC0F81CDA5}"/>
                </a:ext>
              </a:extLst>
            </p:cNvPr>
            <p:cNvCxnSpPr/>
            <p:nvPr/>
          </p:nvCxnSpPr>
          <p:spPr>
            <a:xfrm flipH="1">
              <a:off x="5404513" y="1971765"/>
              <a:ext cx="26749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4C109079-5096-62ED-31C6-AA0E769AFC8A}"/>
              </a:ext>
            </a:extLst>
          </p:cNvPr>
          <p:cNvGrpSpPr/>
          <p:nvPr/>
        </p:nvGrpSpPr>
        <p:grpSpPr>
          <a:xfrm>
            <a:off x="4878194" y="2743448"/>
            <a:ext cx="6579726" cy="646331"/>
            <a:chOff x="5404513" y="1754080"/>
            <a:chExt cx="6579726" cy="646331"/>
          </a:xfrm>
        </p:grpSpPr>
        <p:sp>
          <p:nvSpPr>
            <p:cNvPr id="20" name="文本框 19">
              <a:extLst>
                <a:ext uri="{FF2B5EF4-FFF2-40B4-BE49-F238E27FC236}">
                  <a16:creationId xmlns:a16="http://schemas.microsoft.com/office/drawing/2014/main" id="{0DFD45AE-2268-2846-F1DA-C4908D5B18F1}"/>
                </a:ext>
              </a:extLst>
            </p:cNvPr>
            <p:cNvSpPr txBox="1"/>
            <p:nvPr/>
          </p:nvSpPr>
          <p:spPr>
            <a:xfrm>
              <a:off x="8274724" y="1754080"/>
              <a:ext cx="3709515"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sz="1800" b="0" i="0" u="none" strike="noStrike" baseline="0" dirty="0">
                  <a:latin typeface="AdvOT3258b86f"/>
                </a:rPr>
                <a:t>function g for the state transition process</a:t>
              </a:r>
              <a:endParaRPr lang="en-US" dirty="0"/>
            </a:p>
          </p:txBody>
        </p:sp>
        <p:cxnSp>
          <p:nvCxnSpPr>
            <p:cNvPr id="21" name="直接箭头连接符 20">
              <a:extLst>
                <a:ext uri="{FF2B5EF4-FFF2-40B4-BE49-F238E27FC236}">
                  <a16:creationId xmlns:a16="http://schemas.microsoft.com/office/drawing/2014/main" id="{110F8E45-EF28-8320-C3F6-5940C0B7EAAE}"/>
                </a:ext>
              </a:extLst>
            </p:cNvPr>
            <p:cNvCxnSpPr/>
            <p:nvPr/>
          </p:nvCxnSpPr>
          <p:spPr>
            <a:xfrm flipH="1">
              <a:off x="5404513" y="1971765"/>
              <a:ext cx="26749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450D582A-7D8F-A0C4-2FD6-3EA2EB9F0EF4}"/>
              </a:ext>
            </a:extLst>
          </p:cNvPr>
          <p:cNvGrpSpPr/>
          <p:nvPr/>
        </p:nvGrpSpPr>
        <p:grpSpPr>
          <a:xfrm>
            <a:off x="5201558" y="3518542"/>
            <a:ext cx="6283657" cy="369332"/>
            <a:chOff x="5404513" y="1754080"/>
            <a:chExt cx="6579726" cy="369332"/>
          </a:xfrm>
        </p:grpSpPr>
        <p:sp>
          <p:nvSpPr>
            <p:cNvPr id="24" name="文本框 23">
              <a:extLst>
                <a:ext uri="{FF2B5EF4-FFF2-40B4-BE49-F238E27FC236}">
                  <a16:creationId xmlns:a16="http://schemas.microsoft.com/office/drawing/2014/main" id="{0E1B3E46-DE6E-9D98-9DF3-7D7B1316A8DD}"/>
                </a:ext>
              </a:extLst>
            </p:cNvPr>
            <p:cNvSpPr txBox="1"/>
            <p:nvPr/>
          </p:nvSpPr>
          <p:spPr>
            <a:xfrm>
              <a:off x="8274724" y="1754080"/>
              <a:ext cx="3709515"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sz="1800" b="0" i="0" u="none" strike="noStrike" baseline="0" dirty="0">
                  <a:latin typeface="AdvOT3258b86f"/>
                </a:rPr>
                <a:t>policy-specific value function</a:t>
              </a:r>
              <a:endParaRPr lang="en-US" dirty="0"/>
            </a:p>
          </p:txBody>
        </p:sp>
        <p:cxnSp>
          <p:nvCxnSpPr>
            <p:cNvPr id="25" name="直接箭头连接符 24">
              <a:extLst>
                <a:ext uri="{FF2B5EF4-FFF2-40B4-BE49-F238E27FC236}">
                  <a16:creationId xmlns:a16="http://schemas.microsoft.com/office/drawing/2014/main" id="{536A8C8E-387D-9C28-1E3D-1E43D9E9D997}"/>
                </a:ext>
              </a:extLst>
            </p:cNvPr>
            <p:cNvCxnSpPr/>
            <p:nvPr/>
          </p:nvCxnSpPr>
          <p:spPr>
            <a:xfrm flipH="1">
              <a:off x="5404513" y="1971765"/>
              <a:ext cx="26749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a:extLst>
              <a:ext uri="{FF2B5EF4-FFF2-40B4-BE49-F238E27FC236}">
                <a16:creationId xmlns:a16="http://schemas.microsoft.com/office/drawing/2014/main" id="{27E8D154-D58A-E8EE-D74B-C545F213610D}"/>
              </a:ext>
            </a:extLst>
          </p:cNvPr>
          <p:cNvGrpSpPr/>
          <p:nvPr/>
        </p:nvGrpSpPr>
        <p:grpSpPr>
          <a:xfrm>
            <a:off x="5158473" y="4100524"/>
            <a:ext cx="6283657" cy="646331"/>
            <a:chOff x="5404513" y="1754080"/>
            <a:chExt cx="6579726" cy="646331"/>
          </a:xfrm>
        </p:grpSpPr>
        <p:sp>
          <p:nvSpPr>
            <p:cNvPr id="27" name="文本框 26">
              <a:extLst>
                <a:ext uri="{FF2B5EF4-FFF2-40B4-BE49-F238E27FC236}">
                  <a16:creationId xmlns:a16="http://schemas.microsoft.com/office/drawing/2014/main" id="{4F095E66-4CF9-B3F4-9E55-F1C44E06C9E9}"/>
                </a:ext>
              </a:extLst>
            </p:cNvPr>
            <p:cNvSpPr txBox="1"/>
            <p:nvPr/>
          </p:nvSpPr>
          <p:spPr>
            <a:xfrm>
              <a:off x="8274724" y="1754080"/>
              <a:ext cx="3709515"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Optimal policy is the one that maximizes the Q function</a:t>
              </a:r>
            </a:p>
          </p:txBody>
        </p:sp>
        <p:cxnSp>
          <p:nvCxnSpPr>
            <p:cNvPr id="28" name="直接箭头连接符 27">
              <a:extLst>
                <a:ext uri="{FF2B5EF4-FFF2-40B4-BE49-F238E27FC236}">
                  <a16:creationId xmlns:a16="http://schemas.microsoft.com/office/drawing/2014/main" id="{2271133D-476B-3908-975C-17D88E6EE999}"/>
                </a:ext>
              </a:extLst>
            </p:cNvPr>
            <p:cNvCxnSpPr/>
            <p:nvPr/>
          </p:nvCxnSpPr>
          <p:spPr>
            <a:xfrm flipH="1">
              <a:off x="5404513" y="1971765"/>
              <a:ext cx="26749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82580934"/>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5AEBF-C6B8-32EC-35AB-A2FD0A7D0093}"/>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65AA7B3-4E0E-9D71-2EA4-C83ACD812169}"/>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F11BBCBC-066A-6E37-FAB5-266922B24135}"/>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8B25658-0AD9-94CF-8CBD-5E104F6407AD}"/>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90B359C6-3846-412F-AFB2-D4D21FEEBC14}"/>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Benchmark Policies</a:t>
            </a:r>
          </a:p>
          <a:p>
            <a:endParaRPr lang="en-US" sz="3200" dirty="0"/>
          </a:p>
        </p:txBody>
      </p:sp>
      <p:pic>
        <p:nvPicPr>
          <p:cNvPr id="4" name="图片 3">
            <a:extLst>
              <a:ext uri="{FF2B5EF4-FFF2-40B4-BE49-F238E27FC236}">
                <a16:creationId xmlns:a16="http://schemas.microsoft.com/office/drawing/2014/main" id="{C16B7D6D-D806-6CCA-BA59-3B43DA215EE3}"/>
              </a:ext>
            </a:extLst>
          </p:cNvPr>
          <p:cNvPicPr>
            <a:picLocks noChangeAspect="1"/>
          </p:cNvPicPr>
          <p:nvPr/>
        </p:nvPicPr>
        <p:blipFill>
          <a:blip r:embed="rId4"/>
          <a:stretch>
            <a:fillRect/>
          </a:stretch>
        </p:blipFill>
        <p:spPr>
          <a:xfrm>
            <a:off x="0" y="1190905"/>
            <a:ext cx="12114286" cy="4476190"/>
          </a:xfrm>
          <a:prstGeom prst="rect">
            <a:avLst/>
          </a:prstGeom>
        </p:spPr>
      </p:pic>
      <p:sp>
        <p:nvSpPr>
          <p:cNvPr id="5" name="文本框 4">
            <a:extLst>
              <a:ext uri="{FF2B5EF4-FFF2-40B4-BE49-F238E27FC236}">
                <a16:creationId xmlns:a16="http://schemas.microsoft.com/office/drawing/2014/main" id="{945E41B9-FDCD-F535-D4AD-30120D95C22F}"/>
              </a:ext>
            </a:extLst>
          </p:cNvPr>
          <p:cNvSpPr txBox="1"/>
          <p:nvPr/>
        </p:nvSpPr>
        <p:spPr>
          <a:xfrm>
            <a:off x="10203366" y="3334215"/>
            <a:ext cx="981307" cy="747637"/>
          </a:xfrm>
          <a:prstGeom prst="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l"/>
            <a:endParaRPr lang="en-US" dirty="0"/>
          </a:p>
        </p:txBody>
      </p:sp>
    </p:spTree>
    <p:extLst>
      <p:ext uri="{BB962C8B-B14F-4D97-AF65-F5344CB8AC3E}">
        <p14:creationId xmlns:p14="http://schemas.microsoft.com/office/powerpoint/2010/main" val="3573938904"/>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607AB-00BE-A8B5-3EC9-58E1BED7381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0FAB4764-6B60-2EF7-B4B3-C6E2945834D0}"/>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3AD21D3D-2BB6-9C41-FE6F-2EEBA7372C36}"/>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74F4F81-5BA6-4CBA-0E63-BBC20078C5AC}"/>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DD11A756-0656-698E-AAB3-C88BD3E72E3C}"/>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Evaluation</a:t>
            </a:r>
          </a:p>
        </p:txBody>
      </p:sp>
      <p:sp>
        <p:nvSpPr>
          <p:cNvPr id="10" name="TextBox 9">
            <a:extLst>
              <a:ext uri="{FF2B5EF4-FFF2-40B4-BE49-F238E27FC236}">
                <a16:creationId xmlns:a16="http://schemas.microsoft.com/office/drawing/2014/main" id="{915B696C-06E8-B06F-3C96-1A3F428A875B}"/>
              </a:ext>
            </a:extLst>
          </p:cNvPr>
          <p:cNvSpPr txBox="1"/>
          <p:nvPr/>
        </p:nvSpPr>
        <p:spPr>
          <a:xfrm>
            <a:off x="661034" y="1133717"/>
            <a:ext cx="10388462" cy="3693319"/>
          </a:xfrm>
          <a:prstGeom prst="rect">
            <a:avLst/>
          </a:prstGeom>
          <a:noFill/>
        </p:spPr>
        <p:txBody>
          <a:bodyPr wrap="square">
            <a:spAutoFit/>
          </a:bodyPr>
          <a:lstStyle/>
          <a:p>
            <a:r>
              <a:rPr lang="en-US" b="1" dirty="0"/>
              <a:t>In-Sample Policy Evaluation</a:t>
            </a:r>
          </a:p>
          <a:p>
            <a:endParaRPr lang="en-US" dirty="0"/>
          </a:p>
          <a:p>
            <a:r>
              <a:rPr lang="en-US" dirty="0"/>
              <a:t>Given a new policy (π</a:t>
            </a:r>
            <a:r>
              <a:rPr lang="en-US" baseline="30000" dirty="0"/>
              <a:t>e</a:t>
            </a:r>
            <a:r>
              <a:rPr lang="en-US" dirty="0"/>
              <a:t>), we want to calculate the value function associated with this policy: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We estimate the value of the new policy using the doubly robust estimator: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pic>
        <p:nvPicPr>
          <p:cNvPr id="3" name="图片 2">
            <a:extLst>
              <a:ext uri="{FF2B5EF4-FFF2-40B4-BE49-F238E27FC236}">
                <a16:creationId xmlns:a16="http://schemas.microsoft.com/office/drawing/2014/main" id="{E09687BC-2FAD-9A8E-9C38-6520DF484BF0}"/>
              </a:ext>
            </a:extLst>
          </p:cNvPr>
          <p:cNvPicPr>
            <a:picLocks noChangeAspect="1"/>
          </p:cNvPicPr>
          <p:nvPr/>
        </p:nvPicPr>
        <p:blipFill>
          <a:blip r:embed="rId4"/>
          <a:stretch>
            <a:fillRect/>
          </a:stretch>
        </p:blipFill>
        <p:spPr>
          <a:xfrm>
            <a:off x="3681730" y="2314350"/>
            <a:ext cx="4243070" cy="1327984"/>
          </a:xfrm>
          <a:prstGeom prst="rect">
            <a:avLst/>
          </a:prstGeom>
        </p:spPr>
      </p:pic>
      <p:pic>
        <p:nvPicPr>
          <p:cNvPr id="5" name="图片 4">
            <a:extLst>
              <a:ext uri="{FF2B5EF4-FFF2-40B4-BE49-F238E27FC236}">
                <a16:creationId xmlns:a16="http://schemas.microsoft.com/office/drawing/2014/main" id="{4597BEC5-B4A4-8F73-6150-386C88AE8819}"/>
              </a:ext>
            </a:extLst>
          </p:cNvPr>
          <p:cNvPicPr>
            <a:picLocks noChangeAspect="1"/>
          </p:cNvPicPr>
          <p:nvPr/>
        </p:nvPicPr>
        <p:blipFill>
          <a:blip r:embed="rId5"/>
          <a:stretch>
            <a:fillRect/>
          </a:stretch>
        </p:blipFill>
        <p:spPr>
          <a:xfrm>
            <a:off x="1955958" y="4246674"/>
            <a:ext cx="5489258" cy="2115308"/>
          </a:xfrm>
          <a:prstGeom prst="rect">
            <a:avLst/>
          </a:prstGeom>
        </p:spPr>
      </p:pic>
      <p:sp>
        <p:nvSpPr>
          <p:cNvPr id="12" name="文本框 11">
            <a:extLst>
              <a:ext uri="{FF2B5EF4-FFF2-40B4-BE49-F238E27FC236}">
                <a16:creationId xmlns:a16="http://schemas.microsoft.com/office/drawing/2014/main" id="{BC3DE460-9FD1-06B6-F4DD-BA68FB4D8F7E}"/>
              </a:ext>
            </a:extLst>
          </p:cNvPr>
          <p:cNvSpPr txBox="1"/>
          <p:nvPr/>
        </p:nvSpPr>
        <p:spPr>
          <a:xfrm>
            <a:off x="8681720" y="4209514"/>
            <a:ext cx="345186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The reward actually observed - the reward predicted by the model</a:t>
            </a:r>
          </a:p>
        </p:txBody>
      </p:sp>
      <p:cxnSp>
        <p:nvCxnSpPr>
          <p:cNvPr id="15" name="直接箭头连接符 14">
            <a:extLst>
              <a:ext uri="{FF2B5EF4-FFF2-40B4-BE49-F238E27FC236}">
                <a16:creationId xmlns:a16="http://schemas.microsoft.com/office/drawing/2014/main" id="{69042A39-6F39-8391-25BE-A71354272F61}"/>
              </a:ext>
            </a:extLst>
          </p:cNvPr>
          <p:cNvCxnSpPr/>
          <p:nvPr/>
        </p:nvCxnSpPr>
        <p:spPr>
          <a:xfrm flipH="1">
            <a:off x="6725920" y="4693920"/>
            <a:ext cx="1955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173E51F0-5BD8-5CDB-A06D-61E8273AAE65}"/>
              </a:ext>
            </a:extLst>
          </p:cNvPr>
          <p:cNvSpPr txBox="1"/>
          <p:nvPr/>
        </p:nvSpPr>
        <p:spPr>
          <a:xfrm>
            <a:off x="8755380" y="5532103"/>
            <a:ext cx="330454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If the new strategy reaches this state, how much reward will it receive?</a:t>
            </a:r>
          </a:p>
        </p:txBody>
      </p:sp>
      <p:cxnSp>
        <p:nvCxnSpPr>
          <p:cNvPr id="20" name="直接箭头连接符 19">
            <a:extLst>
              <a:ext uri="{FF2B5EF4-FFF2-40B4-BE49-F238E27FC236}">
                <a16:creationId xmlns:a16="http://schemas.microsoft.com/office/drawing/2014/main" id="{FD9704B3-367E-0EB9-C462-83FAB1A6074E}"/>
              </a:ext>
            </a:extLst>
          </p:cNvPr>
          <p:cNvCxnSpPr>
            <a:cxnSpLocks/>
            <a:stCxn id="19" idx="1"/>
          </p:cNvCxnSpPr>
          <p:nvPr/>
        </p:nvCxnSpPr>
        <p:spPr>
          <a:xfrm flipH="1" flipV="1">
            <a:off x="7284720" y="5872480"/>
            <a:ext cx="1470660" cy="121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411861"/>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0AC1-2B33-151C-623E-5C28840A208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7342FF9-AE9C-7C5A-FD01-4DCF46688E52}"/>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F2488A8B-76C2-0D95-8C59-F502A8FBE3FC}"/>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239FE4B-10E5-8F7B-19C5-22E41EEB3850}"/>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E438CB7D-22B1-D64F-3B5C-C1953AD60D0E}"/>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Evaluation</a:t>
            </a:r>
          </a:p>
        </p:txBody>
      </p:sp>
      <p:pic>
        <p:nvPicPr>
          <p:cNvPr id="4" name="图片 3">
            <a:extLst>
              <a:ext uri="{FF2B5EF4-FFF2-40B4-BE49-F238E27FC236}">
                <a16:creationId xmlns:a16="http://schemas.microsoft.com/office/drawing/2014/main" id="{08775E8F-E951-DD9A-3179-2B52B50D2204}"/>
              </a:ext>
            </a:extLst>
          </p:cNvPr>
          <p:cNvPicPr>
            <a:picLocks noChangeAspect="1"/>
          </p:cNvPicPr>
          <p:nvPr/>
        </p:nvPicPr>
        <p:blipFill>
          <a:blip r:embed="rId4"/>
          <a:stretch>
            <a:fillRect/>
          </a:stretch>
        </p:blipFill>
        <p:spPr>
          <a:xfrm>
            <a:off x="650607" y="1195787"/>
            <a:ext cx="4931143" cy="4915081"/>
          </a:xfrm>
          <a:prstGeom prst="rect">
            <a:avLst/>
          </a:prstGeom>
        </p:spPr>
      </p:pic>
      <p:sp>
        <p:nvSpPr>
          <p:cNvPr id="11" name="文本框 10">
            <a:extLst>
              <a:ext uri="{FF2B5EF4-FFF2-40B4-BE49-F238E27FC236}">
                <a16:creationId xmlns:a16="http://schemas.microsoft.com/office/drawing/2014/main" id="{BD6F7E69-77FC-BD32-A4FC-59E699CEB268}"/>
              </a:ext>
            </a:extLst>
          </p:cNvPr>
          <p:cNvSpPr txBox="1"/>
          <p:nvPr/>
        </p:nvSpPr>
        <p:spPr>
          <a:xfrm>
            <a:off x="1996069" y="6282240"/>
            <a:ext cx="1236236" cy="369332"/>
          </a:xfrm>
          <a:prstGeom prst="rect">
            <a:avLst/>
          </a:prstGeom>
        </p:spPr>
        <p:txBody>
          <a:bodyPr wrap="none" rtlCol="0">
            <a:spAutoFit/>
          </a:bodyPr>
          <a:lstStyle/>
          <a:p>
            <a:pPr algn="l"/>
            <a:r>
              <a:rPr lang="en-US" dirty="0"/>
              <a:t>replication</a:t>
            </a:r>
          </a:p>
        </p:txBody>
      </p:sp>
      <p:pic>
        <p:nvPicPr>
          <p:cNvPr id="14" name="图片 13">
            <a:extLst>
              <a:ext uri="{FF2B5EF4-FFF2-40B4-BE49-F238E27FC236}">
                <a16:creationId xmlns:a16="http://schemas.microsoft.com/office/drawing/2014/main" id="{01F6C054-7AE1-D760-E1C4-3D56437F9A31}"/>
              </a:ext>
            </a:extLst>
          </p:cNvPr>
          <p:cNvPicPr>
            <a:picLocks noChangeAspect="1"/>
          </p:cNvPicPr>
          <p:nvPr/>
        </p:nvPicPr>
        <p:blipFill>
          <a:blip r:embed="rId5"/>
          <a:stretch>
            <a:fillRect/>
          </a:stretch>
        </p:blipFill>
        <p:spPr>
          <a:xfrm>
            <a:off x="5788885" y="1342288"/>
            <a:ext cx="4967500" cy="4622078"/>
          </a:xfrm>
          <a:prstGeom prst="rect">
            <a:avLst/>
          </a:prstGeom>
        </p:spPr>
      </p:pic>
      <p:sp>
        <p:nvSpPr>
          <p:cNvPr id="16" name="文本框 15">
            <a:extLst>
              <a:ext uri="{FF2B5EF4-FFF2-40B4-BE49-F238E27FC236}">
                <a16:creationId xmlns:a16="http://schemas.microsoft.com/office/drawing/2014/main" id="{019292F9-E82E-0B74-8B6B-B0CF7C1D93CF}"/>
              </a:ext>
            </a:extLst>
          </p:cNvPr>
          <p:cNvSpPr txBox="1"/>
          <p:nvPr/>
        </p:nvSpPr>
        <p:spPr>
          <a:xfrm>
            <a:off x="7991708" y="6280897"/>
            <a:ext cx="928459" cy="369332"/>
          </a:xfrm>
          <a:prstGeom prst="rect">
            <a:avLst/>
          </a:prstGeom>
        </p:spPr>
        <p:txBody>
          <a:bodyPr wrap="none" rtlCol="0">
            <a:spAutoFit/>
          </a:bodyPr>
          <a:lstStyle/>
          <a:p>
            <a:pPr algn="l"/>
            <a:r>
              <a:rPr lang="en-US" dirty="0"/>
              <a:t>original</a:t>
            </a:r>
          </a:p>
        </p:txBody>
      </p:sp>
    </p:spTree>
    <p:extLst>
      <p:ext uri="{BB962C8B-B14F-4D97-AF65-F5344CB8AC3E}">
        <p14:creationId xmlns:p14="http://schemas.microsoft.com/office/powerpoint/2010/main" val="3736907706"/>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CEDB-318F-1DAE-FF0B-BE2D4EE7EBA3}"/>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E117ED-C67B-FFDD-7A7B-CDD8950F4B67}"/>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70A5EC99-6A33-B442-F511-65D7756A78ED}"/>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370AE2B-4B85-8969-E8D5-7A9C424553AD}"/>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54E52387-C4D0-B57C-2460-7F2476587A10}"/>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Evaluation</a:t>
            </a:r>
          </a:p>
        </p:txBody>
      </p:sp>
      <p:sp>
        <p:nvSpPr>
          <p:cNvPr id="10" name="TextBox 9">
            <a:extLst>
              <a:ext uri="{FF2B5EF4-FFF2-40B4-BE49-F238E27FC236}">
                <a16:creationId xmlns:a16="http://schemas.microsoft.com/office/drawing/2014/main" id="{63BCCAC0-C1CB-DAF1-D8CB-1932AC4FE796}"/>
              </a:ext>
            </a:extLst>
          </p:cNvPr>
          <p:cNvSpPr txBox="1"/>
          <p:nvPr/>
        </p:nvSpPr>
        <p:spPr>
          <a:xfrm>
            <a:off x="567559" y="1291388"/>
            <a:ext cx="10388462" cy="923330"/>
          </a:xfrm>
          <a:prstGeom prst="rect">
            <a:avLst/>
          </a:prstGeom>
          <a:noFill/>
        </p:spPr>
        <p:txBody>
          <a:bodyPr wrap="square">
            <a:spAutoFit/>
          </a:bodyPr>
          <a:lstStyle/>
          <a:p>
            <a:r>
              <a:rPr lang="en-US" b="1" dirty="0"/>
              <a:t>Out-of-sample evaluation</a:t>
            </a:r>
          </a:p>
          <a:p>
            <a:endParaRPr lang="en-US" b="1" dirty="0"/>
          </a:p>
          <a:p>
            <a:r>
              <a:rPr lang="en-US" dirty="0"/>
              <a:t>Field Experiment: </a:t>
            </a:r>
          </a:p>
        </p:txBody>
      </p:sp>
      <p:pic>
        <p:nvPicPr>
          <p:cNvPr id="13" name="图片 12">
            <a:extLst>
              <a:ext uri="{FF2B5EF4-FFF2-40B4-BE49-F238E27FC236}">
                <a16:creationId xmlns:a16="http://schemas.microsoft.com/office/drawing/2014/main" id="{966E2362-80AB-F724-A84A-60765CF72F25}"/>
              </a:ext>
            </a:extLst>
          </p:cNvPr>
          <p:cNvPicPr>
            <a:picLocks noChangeAspect="1"/>
          </p:cNvPicPr>
          <p:nvPr/>
        </p:nvPicPr>
        <p:blipFill>
          <a:blip r:embed="rId4"/>
          <a:stretch>
            <a:fillRect/>
          </a:stretch>
        </p:blipFill>
        <p:spPr>
          <a:xfrm>
            <a:off x="343072" y="2571637"/>
            <a:ext cx="10896747" cy="3305276"/>
          </a:xfrm>
          <a:prstGeom prst="rect">
            <a:avLst/>
          </a:prstGeom>
        </p:spPr>
      </p:pic>
      <p:sp>
        <p:nvSpPr>
          <p:cNvPr id="14" name="文本框 13">
            <a:extLst>
              <a:ext uri="{FF2B5EF4-FFF2-40B4-BE49-F238E27FC236}">
                <a16:creationId xmlns:a16="http://schemas.microsoft.com/office/drawing/2014/main" id="{860BE261-5AEF-EABC-44A0-325629F6734A}"/>
              </a:ext>
            </a:extLst>
          </p:cNvPr>
          <p:cNvSpPr txBox="1"/>
          <p:nvPr/>
        </p:nvSpPr>
        <p:spPr>
          <a:xfrm>
            <a:off x="8809463" y="4101856"/>
            <a:ext cx="981307" cy="747637"/>
          </a:xfrm>
          <a:prstGeom prst="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l"/>
            <a:endParaRPr lang="en-US" dirty="0"/>
          </a:p>
        </p:txBody>
      </p:sp>
    </p:spTree>
    <p:extLst>
      <p:ext uri="{BB962C8B-B14F-4D97-AF65-F5344CB8AC3E}">
        <p14:creationId xmlns:p14="http://schemas.microsoft.com/office/powerpoint/2010/main" val="2612132295"/>
      </p:ext>
    </p:extLst>
  </p:cSld>
  <p:clrMapOvr>
    <a:masterClrMapping/>
  </p:clrMapOvr>
  <mc:AlternateContent xmlns:mc="http://schemas.openxmlformats.org/markup-compatibility/2006" xmlns:p14="http://schemas.microsoft.com/office/powerpoint/2010/main">
    <mc:Choice Requires="p14">
      <p:transition spd="slow" p14:dur="2000" advTm="44617"/>
    </mc:Choice>
    <mc:Fallback xmlns="">
      <p:transition spd="slow" advTm="4461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BB07A-4953-AB12-7A4A-16F4BECD65EA}"/>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34D36D2-B734-0663-9363-12C5513DB896}"/>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08FD9068-594B-C7F5-E9F1-124869EC84B2}"/>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4BA9606-4454-8EB2-E9E1-548C19592A2B}"/>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EF6C98CD-D183-BAB1-69CF-65D9D0E3D28F}"/>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Evaluation</a:t>
            </a:r>
          </a:p>
        </p:txBody>
      </p:sp>
      <p:pic>
        <p:nvPicPr>
          <p:cNvPr id="2" name="图片 1">
            <a:extLst>
              <a:ext uri="{FF2B5EF4-FFF2-40B4-BE49-F238E27FC236}">
                <a16:creationId xmlns:a16="http://schemas.microsoft.com/office/drawing/2014/main" id="{2DED802D-EE8C-22D4-4D00-0DF038609D44}"/>
              </a:ext>
            </a:extLst>
          </p:cNvPr>
          <p:cNvPicPr>
            <a:picLocks noChangeAspect="1"/>
          </p:cNvPicPr>
          <p:nvPr/>
        </p:nvPicPr>
        <p:blipFill>
          <a:blip r:embed="rId4"/>
          <a:stretch>
            <a:fillRect/>
          </a:stretch>
        </p:blipFill>
        <p:spPr>
          <a:xfrm>
            <a:off x="430924" y="1293871"/>
            <a:ext cx="5746852" cy="4373263"/>
          </a:xfrm>
          <a:prstGeom prst="rect">
            <a:avLst/>
          </a:prstGeom>
        </p:spPr>
      </p:pic>
      <p:sp>
        <p:nvSpPr>
          <p:cNvPr id="3" name="文本框 2">
            <a:extLst>
              <a:ext uri="{FF2B5EF4-FFF2-40B4-BE49-F238E27FC236}">
                <a16:creationId xmlns:a16="http://schemas.microsoft.com/office/drawing/2014/main" id="{CC52DC29-52C6-BD53-4F3C-523C21519710}"/>
              </a:ext>
            </a:extLst>
          </p:cNvPr>
          <p:cNvSpPr txBox="1"/>
          <p:nvPr/>
        </p:nvSpPr>
        <p:spPr>
          <a:xfrm>
            <a:off x="2877015" y="6263365"/>
            <a:ext cx="1236236" cy="369332"/>
          </a:xfrm>
          <a:prstGeom prst="rect">
            <a:avLst/>
          </a:prstGeom>
        </p:spPr>
        <p:txBody>
          <a:bodyPr wrap="none" rtlCol="0">
            <a:spAutoFit/>
          </a:bodyPr>
          <a:lstStyle/>
          <a:p>
            <a:pPr algn="l"/>
            <a:r>
              <a:rPr lang="en-US" dirty="0"/>
              <a:t>replication</a:t>
            </a:r>
          </a:p>
        </p:txBody>
      </p:sp>
      <p:sp>
        <p:nvSpPr>
          <p:cNvPr id="4" name="文本框 3">
            <a:extLst>
              <a:ext uri="{FF2B5EF4-FFF2-40B4-BE49-F238E27FC236}">
                <a16:creationId xmlns:a16="http://schemas.microsoft.com/office/drawing/2014/main" id="{044E5732-DE94-F1CE-4E4D-4F5B31644DFE}"/>
              </a:ext>
            </a:extLst>
          </p:cNvPr>
          <p:cNvSpPr txBox="1"/>
          <p:nvPr/>
        </p:nvSpPr>
        <p:spPr>
          <a:xfrm>
            <a:off x="8872654" y="6262022"/>
            <a:ext cx="928459" cy="369332"/>
          </a:xfrm>
          <a:prstGeom prst="rect">
            <a:avLst/>
          </a:prstGeom>
        </p:spPr>
        <p:txBody>
          <a:bodyPr wrap="none" rtlCol="0">
            <a:spAutoFit/>
          </a:bodyPr>
          <a:lstStyle/>
          <a:p>
            <a:pPr algn="l"/>
            <a:r>
              <a:rPr lang="en-US" dirty="0"/>
              <a:t>original</a:t>
            </a:r>
          </a:p>
        </p:txBody>
      </p:sp>
      <p:pic>
        <p:nvPicPr>
          <p:cNvPr id="11" name="图片 10">
            <a:extLst>
              <a:ext uri="{FF2B5EF4-FFF2-40B4-BE49-F238E27FC236}">
                <a16:creationId xmlns:a16="http://schemas.microsoft.com/office/drawing/2014/main" id="{4B4D4E82-7A83-D9B5-98FF-2C8D3C50FC5B}"/>
              </a:ext>
            </a:extLst>
          </p:cNvPr>
          <p:cNvPicPr>
            <a:picLocks noChangeAspect="1"/>
          </p:cNvPicPr>
          <p:nvPr/>
        </p:nvPicPr>
        <p:blipFill>
          <a:blip r:embed="rId5"/>
          <a:stretch>
            <a:fillRect/>
          </a:stretch>
        </p:blipFill>
        <p:spPr>
          <a:xfrm>
            <a:off x="6356608" y="1293871"/>
            <a:ext cx="5404468" cy="4170839"/>
          </a:xfrm>
          <a:prstGeom prst="rect">
            <a:avLst/>
          </a:prstGeom>
        </p:spPr>
      </p:pic>
    </p:spTree>
    <p:extLst>
      <p:ext uri="{BB962C8B-B14F-4D97-AF65-F5344CB8AC3E}">
        <p14:creationId xmlns:p14="http://schemas.microsoft.com/office/powerpoint/2010/main" val="3103366295"/>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90D61-48EF-FF05-239C-C499E91ABB5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AD25C949-8F22-36B4-A848-07E52DB586B5}"/>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8A879EA8-A18C-5CE2-D229-04FE0DA2A753}"/>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28FC201-1261-CAAC-E5EB-6D2789105214}"/>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48C15955-7F9E-B7F6-E372-FCAE1C7E8856}"/>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Targeting Rules</a:t>
            </a:r>
          </a:p>
        </p:txBody>
      </p:sp>
      <p:sp>
        <p:nvSpPr>
          <p:cNvPr id="10" name="文本框 9">
            <a:extLst>
              <a:ext uri="{FF2B5EF4-FFF2-40B4-BE49-F238E27FC236}">
                <a16:creationId xmlns:a16="http://schemas.microsoft.com/office/drawing/2014/main" id="{B0CEEAC4-1416-5638-A3F7-6CFB13D22085}"/>
              </a:ext>
            </a:extLst>
          </p:cNvPr>
          <p:cNvSpPr txBox="1"/>
          <p:nvPr/>
        </p:nvSpPr>
        <p:spPr>
          <a:xfrm>
            <a:off x="601825" y="975608"/>
            <a:ext cx="9773816" cy="1200329"/>
          </a:xfrm>
          <a:prstGeom prst="rect">
            <a:avLst/>
          </a:prstGeom>
          <a:noFill/>
        </p:spPr>
        <p:txBody>
          <a:bodyPr wrap="square">
            <a:spAutoFit/>
          </a:bodyPr>
          <a:lstStyle/>
          <a:p>
            <a:pPr marL="285750" indent="-285750">
              <a:buFont typeface="Arial" panose="020B0604020202020204" pitchFamily="34" charset="0"/>
              <a:buChar char="•"/>
            </a:pPr>
            <a:r>
              <a:rPr lang="en-US" b="1" dirty="0"/>
              <a:t>Whom to Target</a:t>
            </a:r>
          </a:p>
          <a:p>
            <a:pPr marL="285750" indent="-285750">
              <a:buFont typeface="Arial" panose="020B0604020202020204" pitchFamily="34" charset="0"/>
              <a:buChar char="•"/>
            </a:pPr>
            <a:r>
              <a:rPr lang="en-US" dirty="0"/>
              <a:t>For </a:t>
            </a:r>
            <a:r>
              <a:rPr lang="en-US" altLang="zh-CN" dirty="0"/>
              <a:t>sellers</a:t>
            </a:r>
            <a:r>
              <a:rPr lang="en-US" dirty="0"/>
              <a:t> with low attractiveness, issue high discount coupons;</a:t>
            </a:r>
          </a:p>
          <a:p>
            <a:pPr marL="285750" indent="-285750">
              <a:buFont typeface="Arial" panose="020B0604020202020204" pitchFamily="34" charset="0"/>
              <a:buChar char="•"/>
            </a:pPr>
            <a:r>
              <a:rPr lang="en-US" dirty="0"/>
              <a:t>For </a:t>
            </a:r>
            <a:r>
              <a:rPr lang="en-US" altLang="zh-CN" dirty="0"/>
              <a:t>sellers</a:t>
            </a:r>
            <a:r>
              <a:rPr lang="en-US" dirty="0"/>
              <a:t> with high attractiveness, issue low discount coupons.</a:t>
            </a:r>
          </a:p>
          <a:p>
            <a:pPr marL="285750" indent="-285750">
              <a:buFont typeface="Arial" panose="020B0604020202020204" pitchFamily="34" charset="0"/>
              <a:buChar char="•"/>
            </a:pPr>
            <a:r>
              <a:rPr lang="en-US" dirty="0"/>
              <a:t>compensatory effect</a:t>
            </a:r>
          </a:p>
        </p:txBody>
      </p:sp>
      <p:pic>
        <p:nvPicPr>
          <p:cNvPr id="13" name="图片 12">
            <a:extLst>
              <a:ext uri="{FF2B5EF4-FFF2-40B4-BE49-F238E27FC236}">
                <a16:creationId xmlns:a16="http://schemas.microsoft.com/office/drawing/2014/main" id="{31264FF7-EB32-0819-C7F4-FA1F2CD32A71}"/>
              </a:ext>
            </a:extLst>
          </p:cNvPr>
          <p:cNvPicPr>
            <a:picLocks noChangeAspect="1"/>
          </p:cNvPicPr>
          <p:nvPr/>
        </p:nvPicPr>
        <p:blipFill>
          <a:blip r:embed="rId4"/>
          <a:stretch>
            <a:fillRect/>
          </a:stretch>
        </p:blipFill>
        <p:spPr>
          <a:xfrm>
            <a:off x="1751199" y="2581613"/>
            <a:ext cx="7661102" cy="3884502"/>
          </a:xfrm>
          <a:prstGeom prst="rect">
            <a:avLst/>
          </a:prstGeom>
        </p:spPr>
      </p:pic>
    </p:spTree>
    <p:extLst>
      <p:ext uri="{BB962C8B-B14F-4D97-AF65-F5344CB8AC3E}">
        <p14:creationId xmlns:p14="http://schemas.microsoft.com/office/powerpoint/2010/main" val="1741032828"/>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86919-2D9E-FDCE-BAF9-A52B051F5322}"/>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FAF26D0-831B-505F-ACE0-24DF85A1333D}"/>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6744CBA4-AD67-843E-A063-54A8BEAC46AC}"/>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06BD5B5-2BD9-DA2F-948D-BFCA2463ADEB}"/>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D3E73106-AA1A-BFB8-9DB4-20EB829E7370}"/>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Targeting Rules</a:t>
            </a:r>
          </a:p>
        </p:txBody>
      </p:sp>
      <p:sp>
        <p:nvSpPr>
          <p:cNvPr id="10" name="文本框 9">
            <a:extLst>
              <a:ext uri="{FF2B5EF4-FFF2-40B4-BE49-F238E27FC236}">
                <a16:creationId xmlns:a16="http://schemas.microsoft.com/office/drawing/2014/main" id="{2451FE62-E445-7443-1632-009E9256AF8C}"/>
              </a:ext>
            </a:extLst>
          </p:cNvPr>
          <p:cNvSpPr txBox="1"/>
          <p:nvPr/>
        </p:nvSpPr>
        <p:spPr>
          <a:xfrm>
            <a:off x="601825" y="975608"/>
            <a:ext cx="9773816" cy="1477328"/>
          </a:xfrm>
          <a:prstGeom prst="rect">
            <a:avLst/>
          </a:prstGeom>
          <a:noFill/>
        </p:spPr>
        <p:txBody>
          <a:bodyPr wrap="square">
            <a:spAutoFit/>
          </a:bodyPr>
          <a:lstStyle/>
          <a:p>
            <a:pPr marL="285750" indent="-285750">
              <a:buFont typeface="Arial" panose="020B0604020202020204" pitchFamily="34" charset="0"/>
              <a:buChar char="•"/>
            </a:pPr>
            <a:r>
              <a:rPr lang="en-US" b="1" dirty="0"/>
              <a:t>When to Target</a:t>
            </a:r>
          </a:p>
          <a:p>
            <a:pPr marL="285750" indent="-285750">
              <a:buFont typeface="Arial" panose="020B0604020202020204" pitchFamily="34" charset="0"/>
              <a:buChar char="•"/>
            </a:pPr>
            <a:r>
              <a:rPr lang="en-US" dirty="0"/>
              <a:t>For new users, GBDT more often recommends high discounts</a:t>
            </a:r>
          </a:p>
          <a:p>
            <a:pPr marL="285750" indent="-285750">
              <a:buFont typeface="Arial" panose="020B0604020202020204" pitchFamily="34" charset="0"/>
              <a:buChar char="•"/>
            </a:pPr>
            <a:r>
              <a:rPr lang="en-US" dirty="0"/>
              <a:t>BDRL is more likely to recommend lower discounts for new users</a:t>
            </a:r>
          </a:p>
          <a:p>
            <a:pPr marL="285750" indent="-285750">
              <a:buFont typeface="Arial" panose="020B0604020202020204" pitchFamily="34" charset="0"/>
              <a:buChar char="•"/>
            </a:pPr>
            <a:r>
              <a:rPr lang="en-US" dirty="0"/>
              <a:t>BDRL recommends that discounts increase gradually with user experience.</a:t>
            </a:r>
          </a:p>
          <a:p>
            <a:pPr marL="285750" indent="-285750">
              <a:buFont typeface="Arial" panose="020B0604020202020204" pitchFamily="34" charset="0"/>
              <a:buChar char="•"/>
            </a:pPr>
            <a:r>
              <a:rPr lang="en-US" dirty="0"/>
              <a:t>Reference price effect</a:t>
            </a:r>
          </a:p>
        </p:txBody>
      </p:sp>
      <p:pic>
        <p:nvPicPr>
          <p:cNvPr id="3" name="图片 2">
            <a:extLst>
              <a:ext uri="{FF2B5EF4-FFF2-40B4-BE49-F238E27FC236}">
                <a16:creationId xmlns:a16="http://schemas.microsoft.com/office/drawing/2014/main" id="{EFEB4E0F-1800-06E5-2B0D-FED639E19787}"/>
              </a:ext>
            </a:extLst>
          </p:cNvPr>
          <p:cNvPicPr>
            <a:picLocks noChangeAspect="1"/>
          </p:cNvPicPr>
          <p:nvPr/>
        </p:nvPicPr>
        <p:blipFill>
          <a:blip r:embed="rId4"/>
          <a:stretch>
            <a:fillRect/>
          </a:stretch>
        </p:blipFill>
        <p:spPr>
          <a:xfrm>
            <a:off x="0" y="2515143"/>
            <a:ext cx="11923809" cy="4342857"/>
          </a:xfrm>
          <a:prstGeom prst="rect">
            <a:avLst/>
          </a:prstGeom>
        </p:spPr>
      </p:pic>
    </p:spTree>
    <p:extLst>
      <p:ext uri="{BB962C8B-B14F-4D97-AF65-F5344CB8AC3E}">
        <p14:creationId xmlns:p14="http://schemas.microsoft.com/office/powerpoint/2010/main" val="2337944650"/>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A2AA-E8DF-D45B-E05E-EC836360F6B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4374698-AEB8-4D37-6116-23A9FA96115A}"/>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8E2BAAA4-7854-EBF1-1C0A-B73351508356}"/>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DF83DDD-EB00-5DC6-C4D8-2898257FF2A7}"/>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D48F70FE-2124-A990-86AC-D6C196886FC4}"/>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Targeting Rules</a:t>
            </a:r>
          </a:p>
        </p:txBody>
      </p:sp>
      <p:sp>
        <p:nvSpPr>
          <p:cNvPr id="10" name="文本框 9">
            <a:extLst>
              <a:ext uri="{FF2B5EF4-FFF2-40B4-BE49-F238E27FC236}">
                <a16:creationId xmlns:a16="http://schemas.microsoft.com/office/drawing/2014/main" id="{F294CE80-8C5C-EEFD-0D54-A9FD8388EF21}"/>
              </a:ext>
            </a:extLst>
          </p:cNvPr>
          <p:cNvSpPr txBox="1"/>
          <p:nvPr/>
        </p:nvSpPr>
        <p:spPr>
          <a:xfrm>
            <a:off x="601825" y="975608"/>
            <a:ext cx="9773816" cy="1200329"/>
          </a:xfrm>
          <a:prstGeom prst="rect">
            <a:avLst/>
          </a:prstGeom>
          <a:noFill/>
        </p:spPr>
        <p:txBody>
          <a:bodyPr wrap="square">
            <a:spAutoFit/>
          </a:bodyPr>
          <a:lstStyle/>
          <a:p>
            <a:pPr marL="285750" indent="-285750">
              <a:buFont typeface="Arial" panose="020B0604020202020204" pitchFamily="34" charset="0"/>
              <a:buChar char="•"/>
            </a:pPr>
            <a:r>
              <a:rPr lang="en-US" b="1" dirty="0"/>
              <a:t>When to Target Who</a:t>
            </a:r>
            <a:r>
              <a:rPr lang="en-US" altLang="zh-CN" b="1" dirty="0"/>
              <a:t>m</a:t>
            </a:r>
            <a:endParaRPr lang="en-US" b="1" dirty="0"/>
          </a:p>
          <a:p>
            <a:pPr marL="285750" indent="-285750">
              <a:buFont typeface="Arial" panose="020B0604020202020204" pitchFamily="34" charset="0"/>
              <a:buChar char="•"/>
            </a:pPr>
            <a:r>
              <a:rPr lang="en-US" dirty="0"/>
              <a:t>Low-spending users get slightly higher discounts to begin with;</a:t>
            </a:r>
          </a:p>
          <a:p>
            <a:pPr marL="285750" indent="-285750">
              <a:buFont typeface="Arial" panose="020B0604020202020204" pitchFamily="34" charset="0"/>
              <a:buChar char="•"/>
            </a:pPr>
            <a:r>
              <a:rPr lang="en-US" dirty="0"/>
              <a:t>Discounts rise faster for low-spending users as they gain experience;</a:t>
            </a:r>
          </a:p>
          <a:p>
            <a:pPr marL="285750" indent="-285750">
              <a:buFont typeface="Arial" panose="020B0604020202020204" pitchFamily="34" charset="0"/>
              <a:buChar char="•"/>
            </a:pPr>
            <a:r>
              <a:rPr lang="en-US" dirty="0"/>
              <a:t>Higher spending users have a flatter discount path.</a:t>
            </a:r>
          </a:p>
        </p:txBody>
      </p:sp>
      <p:pic>
        <p:nvPicPr>
          <p:cNvPr id="4" name="图片 3">
            <a:extLst>
              <a:ext uri="{FF2B5EF4-FFF2-40B4-BE49-F238E27FC236}">
                <a16:creationId xmlns:a16="http://schemas.microsoft.com/office/drawing/2014/main" id="{9FEE6CE0-7048-493E-8F0A-231526FDD3CC}"/>
              </a:ext>
            </a:extLst>
          </p:cNvPr>
          <p:cNvPicPr>
            <a:picLocks noChangeAspect="1"/>
          </p:cNvPicPr>
          <p:nvPr/>
        </p:nvPicPr>
        <p:blipFill>
          <a:blip r:embed="rId4"/>
          <a:stretch>
            <a:fillRect/>
          </a:stretch>
        </p:blipFill>
        <p:spPr>
          <a:xfrm>
            <a:off x="1333421" y="2495120"/>
            <a:ext cx="9523809" cy="3790476"/>
          </a:xfrm>
          <a:prstGeom prst="rect">
            <a:avLst/>
          </a:prstGeom>
        </p:spPr>
      </p:pic>
    </p:spTree>
    <p:extLst>
      <p:ext uri="{BB962C8B-B14F-4D97-AF65-F5344CB8AC3E}">
        <p14:creationId xmlns:p14="http://schemas.microsoft.com/office/powerpoint/2010/main" val="3012147268"/>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2743-7307-A488-ADB6-DAD9C0E4DE7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12B03B9-98E0-AC45-6A00-E638C12E0BD4}"/>
              </a:ext>
            </a:extLst>
          </p:cNvPr>
          <p:cNvGrpSpPr/>
          <p:nvPr/>
        </p:nvGrpSpPr>
        <p:grpSpPr>
          <a:xfrm>
            <a:off x="10857230" y="66675"/>
            <a:ext cx="1295400" cy="747637"/>
            <a:chOff x="9020175" y="1372630"/>
            <a:chExt cx="1295400" cy="747637"/>
          </a:xfrm>
        </p:grpSpPr>
        <p:sp>
          <p:nvSpPr>
            <p:cNvPr id="7" name="Rectangle 6">
              <a:extLst>
                <a:ext uri="{FF2B5EF4-FFF2-40B4-BE49-F238E27FC236}">
                  <a16:creationId xmlns:a16="http://schemas.microsoft.com/office/drawing/2014/main" id="{D9917352-7ACE-33F1-6B41-6358A092C520}"/>
                </a:ext>
              </a:extLst>
            </p:cNvPr>
            <p:cNvSpPr/>
            <p:nvPr/>
          </p:nvSpPr>
          <p:spPr>
            <a:xfrm>
              <a:off x="9039225" y="1398785"/>
              <a:ext cx="1276350" cy="695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AB832E6-9C24-21BA-E7E8-3978FC6F97EB}"/>
                </a:ext>
              </a:extLst>
            </p:cNvPr>
            <p:cNvPicPr>
              <a:picLocks noChangeAspect="1"/>
            </p:cNvPicPr>
            <p:nvPr/>
          </p:nvPicPr>
          <p:blipFill>
            <a:blip r:embed="rId3"/>
            <a:srcRect l="-32076" r="-36479"/>
            <a:stretch>
              <a:fillRect/>
            </a:stretch>
          </p:blipFill>
          <p:spPr>
            <a:xfrm>
              <a:off x="9020175" y="1372630"/>
              <a:ext cx="1276350" cy="747637"/>
            </a:xfrm>
            <a:prstGeom prst="rect">
              <a:avLst/>
            </a:prstGeom>
          </p:spPr>
        </p:pic>
      </p:grpSp>
      <p:sp>
        <p:nvSpPr>
          <p:cNvPr id="9" name="Title 2">
            <a:extLst>
              <a:ext uri="{FF2B5EF4-FFF2-40B4-BE49-F238E27FC236}">
                <a16:creationId xmlns:a16="http://schemas.microsoft.com/office/drawing/2014/main" id="{23765D6C-5AE1-9AA8-E576-05BDF186E2F5}"/>
              </a:ext>
            </a:extLst>
          </p:cNvPr>
          <p:cNvSpPr txBox="1">
            <a:spLocks/>
          </p:cNvSpPr>
          <p:nvPr/>
        </p:nvSpPr>
        <p:spPr>
          <a:xfrm>
            <a:off x="207480" y="205509"/>
            <a:ext cx="10748541" cy="450916"/>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800" b="0" i="0" kern="1200">
                <a:solidFill>
                  <a:schemeClr val="accent1"/>
                </a:solidFill>
                <a:latin typeface="+mj-lt"/>
                <a:ea typeface="+mj-ea"/>
                <a:cs typeface="Arial" panose="020B0604020202020204" pitchFamily="34" charset="0"/>
              </a:defRPr>
            </a:lvl1pPr>
          </a:lstStyle>
          <a:p>
            <a:r>
              <a:rPr lang="en-US" sz="3200" dirty="0"/>
              <a:t>Conclusion and Future Directions</a:t>
            </a:r>
          </a:p>
        </p:txBody>
      </p:sp>
      <p:sp>
        <p:nvSpPr>
          <p:cNvPr id="10" name="文本框 9">
            <a:extLst>
              <a:ext uri="{FF2B5EF4-FFF2-40B4-BE49-F238E27FC236}">
                <a16:creationId xmlns:a16="http://schemas.microsoft.com/office/drawing/2014/main" id="{82B1909A-DB7A-16FF-1453-09DB753B1ABE}"/>
              </a:ext>
            </a:extLst>
          </p:cNvPr>
          <p:cNvSpPr txBox="1"/>
          <p:nvPr/>
        </p:nvSpPr>
        <p:spPr>
          <a:xfrm>
            <a:off x="498736" y="1231773"/>
            <a:ext cx="11194528" cy="5078313"/>
          </a:xfrm>
          <a:prstGeom prst="rect">
            <a:avLst/>
          </a:prstGeom>
          <a:noFill/>
        </p:spPr>
        <p:txBody>
          <a:bodyPr wrap="square">
            <a:spAutoFit/>
          </a:bodyPr>
          <a:lstStyle/>
          <a:p>
            <a:r>
              <a:rPr lang="en-US" b="1" dirty="0"/>
              <a:t>Conclusion</a:t>
            </a:r>
            <a:r>
              <a:rPr lang="en-US" dirty="0"/>
              <a:t>:</a:t>
            </a:r>
          </a:p>
          <a:p>
            <a:pPr marL="285750" indent="-285750">
              <a:buFont typeface="Arial" panose="020B0604020202020204" pitchFamily="34" charset="0"/>
              <a:buChar char="•"/>
            </a:pPr>
            <a:r>
              <a:rPr lang="en-US" dirty="0"/>
              <a:t>Compared with the benchmarks, BDRL can increase the GMV of the platform by more than 60%, indicating that this method is particularly suitable for high-frequency and high-dimensional e-commerce pricing problems</a:t>
            </a:r>
          </a:p>
          <a:p>
            <a:pPr marL="285750" indent="-285750">
              <a:buFont typeface="Arial" panose="020B0604020202020204" pitchFamily="34" charset="0"/>
              <a:buChar char="•"/>
            </a:pPr>
            <a:r>
              <a:rPr lang="en-US" dirty="0"/>
              <a:t>Dynamic coupons should not only look at current conversion, but also consider consumer heterogeneity and time dynamics.</a:t>
            </a:r>
          </a:p>
          <a:p>
            <a:pPr marL="285750" indent="-285750">
              <a:buFont typeface="Arial" panose="020B0604020202020204" pitchFamily="34" charset="0"/>
              <a:buChar char="•"/>
            </a:pPr>
            <a:r>
              <a:rPr lang="en-US" dirty="0"/>
              <a:t>The advantage of BDRL is that it can automatically identify “whom to target,</a:t>
            </a:r>
            <a:r>
              <a:rPr lang="zh-CN" altLang="en-US" dirty="0"/>
              <a:t> </a:t>
            </a:r>
            <a:r>
              <a:rPr lang="en-US" dirty="0"/>
              <a:t>when to target, when to target whom" </a:t>
            </a:r>
          </a:p>
          <a:p>
            <a:pPr marL="285750" indent="-285750">
              <a:buFont typeface="Arial" panose="020B0604020202020204" pitchFamily="34" charset="0"/>
              <a:buChar char="•"/>
            </a:pPr>
            <a:endParaRPr lang="en-US" dirty="0"/>
          </a:p>
          <a:p>
            <a:r>
              <a:rPr lang="en-US" b="1" dirty="0"/>
              <a:t>Limitation</a:t>
            </a:r>
            <a:r>
              <a:rPr lang="en-US" dirty="0"/>
              <a:t>:</a:t>
            </a:r>
          </a:p>
          <a:p>
            <a:pPr marL="285750" indent="-285750">
              <a:buFont typeface="Arial" panose="020B0604020202020204" pitchFamily="34" charset="0"/>
              <a:buChar char="•"/>
            </a:pPr>
            <a:r>
              <a:rPr lang="en-US" dirty="0"/>
              <a:t>Assumes that consumers are not forward-looking because there is no relevant evidence observed in historical data; </a:t>
            </a:r>
          </a:p>
          <a:p>
            <a:pPr marL="285750" indent="-285750">
              <a:buFont typeface="Arial" panose="020B0604020202020204" pitchFamily="34" charset="0"/>
              <a:buChar char="•"/>
            </a:pPr>
            <a:r>
              <a:rPr lang="en-US" dirty="0"/>
              <a:t>Mainly relies on observable characteristics and only studies "active users"; </a:t>
            </a:r>
          </a:p>
          <a:p>
            <a:pPr marL="285750" indent="-285750">
              <a:buFont typeface="Arial" panose="020B0604020202020204" pitchFamily="34" charset="0"/>
              <a:buChar char="•"/>
            </a:pPr>
            <a:endParaRPr lang="en-US" dirty="0"/>
          </a:p>
          <a:p>
            <a:r>
              <a:rPr lang="en-US" b="1" dirty="0"/>
              <a:t>Future research:</a:t>
            </a:r>
          </a:p>
          <a:p>
            <a:pPr marL="285750" indent="-285750">
              <a:buFont typeface="Arial" panose="020B0604020202020204" pitchFamily="34" charset="0"/>
              <a:buChar char="•"/>
            </a:pPr>
            <a:r>
              <a:rPr lang="en-US" dirty="0"/>
              <a:t>examine whether the optimal pricing path changes when consumers wait for a greater discount.</a:t>
            </a:r>
          </a:p>
          <a:p>
            <a:pPr marL="285750" indent="-285750">
              <a:buFont typeface="Arial" panose="020B0604020202020204" pitchFamily="34" charset="0"/>
              <a:buChar char="•"/>
            </a:pPr>
            <a:r>
              <a:rPr lang="en-US" dirty="0"/>
              <a:t>partially observable MDP or multiagent RL can be considered to deal with unobserved heterogeneity and test whether the conclusions are applicable to low or inactive users.</a:t>
            </a:r>
          </a:p>
        </p:txBody>
      </p:sp>
    </p:spTree>
    <p:extLst>
      <p:ext uri="{BB962C8B-B14F-4D97-AF65-F5344CB8AC3E}">
        <p14:creationId xmlns:p14="http://schemas.microsoft.com/office/powerpoint/2010/main" val="3617505959"/>
      </p:ext>
    </p:extLst>
  </p:cSld>
  <p:clrMapOvr>
    <a:masterClrMapping/>
  </p:clrMapOvr>
  <mc:AlternateContent xmlns:mc="http://schemas.openxmlformats.org/markup-compatibility/2006">
    <mc:Choice xmlns:p14="http://schemas.microsoft.com/office/powerpoint/2010/main" Requires="p14">
      <p:transition spd="slow" p14:dur="2000" advTm="44617"/>
    </mc:Choice>
    <mc:Fallback>
      <p:transition spd="slow" advTm="4461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A3FDB20-9CED-5DFE-2135-16E7C095CDF3}"/>
              </a:ext>
            </a:extLst>
          </p:cNvPr>
          <p:cNvSpPr>
            <a:spLocks noGrp="1"/>
          </p:cNvSpPr>
          <p:nvPr>
            <p:ph type="ctrTitle"/>
          </p:nvPr>
        </p:nvSpPr>
        <p:spPr>
          <a:xfrm>
            <a:off x="1893320" y="2822896"/>
            <a:ext cx="8405360" cy="813331"/>
          </a:xfrm>
        </p:spPr>
        <p:txBody>
          <a:bodyPr/>
          <a:lstStyle/>
          <a:p>
            <a:pPr algn="ctr"/>
            <a:r>
              <a:rPr lang="en-US" dirty="0"/>
              <a:t>Thanks!</a:t>
            </a:r>
          </a:p>
        </p:txBody>
      </p:sp>
      <p:sp>
        <p:nvSpPr>
          <p:cNvPr id="4" name="副标题 3">
            <a:extLst>
              <a:ext uri="{FF2B5EF4-FFF2-40B4-BE49-F238E27FC236}">
                <a16:creationId xmlns:a16="http://schemas.microsoft.com/office/drawing/2014/main" id="{B56AD518-6115-8E06-3253-0FAFF26AFFC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552678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UxODE0NjQwNTgzZTYyZTcyMGY1YmU5OTg4NWIxYzIifQ=="/>
</p:tagLst>
</file>

<file path=ppt/theme/theme1.xml><?xml version="1.0" encoding="utf-8"?>
<a:theme xmlns:a="http://schemas.openxmlformats.org/drawingml/2006/main" name="Office Theme">
  <a:themeElements>
    <a:clrScheme name="CUHK Colours 1">
      <a:dk1>
        <a:srgbClr val="000000"/>
      </a:dk1>
      <a:lt1>
        <a:srgbClr val="FFFFFF"/>
      </a:lt1>
      <a:dk2>
        <a:srgbClr val="505046"/>
      </a:dk2>
      <a:lt2>
        <a:srgbClr val="EAEAEA"/>
      </a:lt2>
      <a:accent1>
        <a:srgbClr val="7D2781"/>
      </a:accent1>
      <a:accent2>
        <a:srgbClr val="9D5DA1"/>
      </a:accent2>
      <a:accent3>
        <a:srgbClr val="BD92C1"/>
      </a:accent3>
      <a:accent4>
        <a:srgbClr val="EFA922"/>
      </a:accent4>
      <a:accent5>
        <a:srgbClr val="F4BE59"/>
      </a:accent5>
      <a:accent6>
        <a:srgbClr val="F6D490"/>
      </a:accent6>
      <a:hlink>
        <a:srgbClr val="A9A9A9"/>
      </a:hlink>
      <a:folHlink>
        <a:srgbClr val="000000"/>
      </a:folHlink>
    </a:clrScheme>
    <a:fontScheme name="Custom 2">
      <a:majorFont>
        <a:latin typeface="Arial"/>
        <a:ea typeface="Microsoft JhengHei"/>
        <a:cs typeface=""/>
      </a:majorFont>
      <a:minorFont>
        <a:latin typeface="Arial"/>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5427</TotalTime>
  <Words>4826</Words>
  <Application>Microsoft Office PowerPoint</Application>
  <PresentationFormat>宽屏</PresentationFormat>
  <Paragraphs>350</Paragraphs>
  <Slides>28</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AdvOT3258b86f</vt:lpstr>
      <vt:lpstr>AdvOTd8ef4e6f.I</vt:lpstr>
      <vt:lpstr>Segoe</vt:lpstr>
      <vt:lpstr>宋体</vt:lpstr>
      <vt:lpstr>Arial</vt:lpstr>
      <vt:lpstr>Calibri</vt:lpstr>
      <vt:lpstr>Consolas</vt:lpstr>
      <vt:lpstr>Office Theme</vt:lpstr>
      <vt:lpstr>Dynamic Coupon Targeting Using Batch Deep Reinforcement: An Application to Livestream Shopping</vt:lpstr>
      <vt:lpstr>Dynamic coupon in the e-commerce era</vt:lpstr>
      <vt:lpstr>Research questions</vt:lpstr>
      <vt:lpstr>Previous ideas</vt:lpstr>
      <vt:lpstr>Data patterns</vt:lpstr>
      <vt:lpstr>Data patterns</vt:lpstr>
      <vt:lpstr>Data patterns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GBDT</vt:lpstr>
      <vt:lpstr>DNN</vt:lpstr>
      <vt:lpstr>ORF</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Emily Kwok</dc:creator>
  <cp:lastModifiedBy>ZHOU, Zhongyuan</cp:lastModifiedBy>
  <cp:revision>1923</cp:revision>
  <dcterms:created xsi:type="dcterms:W3CDTF">2021-06-09T10:06:00Z</dcterms:created>
  <dcterms:modified xsi:type="dcterms:W3CDTF">2026-03-10T03:14:38Z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2058492F23A4443D8DF496A608FD52EB_12</vt:lpwstr>
  </property>
  <property fmtid="{D5CDD505-2E9C-101B-9397-08002B2CF9AE}" pid="3" name="KSOProductBuildVer">
    <vt:lpwstr>2052-12.1.0.18608</vt:lpwstr>
  </property>
</Properties>
</file>